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1" r:id="rId5"/>
    <p:sldId id="903" r:id="rId6"/>
    <p:sldId id="904" r:id="rId7"/>
    <p:sldId id="901" r:id="rId8"/>
    <p:sldId id="905" r:id="rId9"/>
    <p:sldId id="906" r:id="rId10"/>
    <p:sldId id="300" r:id="rId11"/>
    <p:sldId id="302" r:id="rId12"/>
    <p:sldId id="304" r:id="rId13"/>
    <p:sldId id="305" r:id="rId14"/>
    <p:sldId id="303" r:id="rId15"/>
  </p:sldIdLst>
  <p:sldSz cx="12192000" cy="6858000"/>
  <p:notesSz cx="6797675" cy="9926638"/>
  <p:custDataLst>
    <p:tags r:id="rId18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07" userDrawn="1">
          <p15:clr>
            <a:srgbClr val="A4A3A4"/>
          </p15:clr>
        </p15:guide>
        <p15:guide id="3" orient="horz" pos="3758" userDrawn="1">
          <p15:clr>
            <a:srgbClr val="A4A3A4"/>
          </p15:clr>
        </p15:guide>
        <p15:guide id="4" orient="horz" pos="4227" userDrawn="1">
          <p15:clr>
            <a:srgbClr val="A4A3A4"/>
          </p15:clr>
        </p15:guide>
        <p15:guide id="5" orient="horz" pos="289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93" userDrawn="1">
          <p15:clr>
            <a:srgbClr val="A4A3A4"/>
          </p15:clr>
        </p15:guide>
        <p15:guide id="8" pos="387" userDrawn="1">
          <p15:clr>
            <a:srgbClr val="A4A3A4"/>
          </p15:clr>
        </p15:guide>
        <p15:guide id="9" pos="7315" userDrawn="1">
          <p15:clr>
            <a:srgbClr val="A4A3A4"/>
          </p15:clr>
        </p15:guide>
        <p15:guide id="10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3EE"/>
    <a:srgbClr val="B4B3B1"/>
    <a:srgbClr val="D9D9D9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3688" autoAdjust="0"/>
  </p:normalViewPr>
  <p:slideViewPr>
    <p:cSldViewPr>
      <p:cViewPr varScale="1">
        <p:scale>
          <a:sx n="62" d="100"/>
          <a:sy n="62" d="100"/>
        </p:scale>
        <p:origin x="756" y="36"/>
      </p:cViewPr>
      <p:guideLst>
        <p:guide orient="horz" pos="2160"/>
        <p:guide orient="horz" pos="907"/>
        <p:guide orient="horz" pos="3758"/>
        <p:guide orient="horz" pos="4227"/>
        <p:guide orient="horz" pos="289"/>
        <p:guide pos="3840"/>
        <p:guide pos="393"/>
        <p:guide pos="387"/>
        <p:guide pos="7315"/>
        <p:guide orient="horz" pos="36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786" y="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840</c:v>
                </c:pt>
                <c:pt idx="1">
                  <c:v>858</c:v>
                </c:pt>
                <c:pt idx="2">
                  <c:v>874</c:v>
                </c:pt>
                <c:pt idx="3">
                  <c:v>885</c:v>
                </c:pt>
                <c:pt idx="4">
                  <c:v>888</c:v>
                </c:pt>
                <c:pt idx="5">
                  <c:v>889</c:v>
                </c:pt>
                <c:pt idx="6">
                  <c:v>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AA-4F5F-80C4-77543EE65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Totalt</c:v>
                </c:pt>
              </c:strCache>
            </c:strRef>
          </c:tx>
          <c:spPr>
            <a:solidFill>
              <a:srgbClr val="A85AD1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FFFFFF"/>
                        </a:solidFill>
                        <a:latin typeface="Arial Narrow"/>
                      </a:rPr>
                      <a:t>858 mnkr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2AA-4F5F-80C4-77543EE65E1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FFFFFF"/>
                        </a:solidFill>
                        <a:latin typeface="Arial Narrow"/>
                      </a:rPr>
                      <a:t>912 mnkr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2AA-4F5F-80C4-77543EE65E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</c:v>
                </c:pt>
                <c:pt idx="6">
                  <c:v>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2AA-4F5F-80C4-77543EE65E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Förändring</c:v>
                </c:pt>
              </c:strCache>
            </c:strRef>
          </c:tx>
          <c:spPr>
            <a:solidFill>
              <a:srgbClr val="E3C8F2"/>
            </a:solidFill>
          </c:spPr>
          <c:invertIfNegative val="1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2AA-4F5F-80C4-77543EE65E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2AA-4F5F-80C4-77543EE65E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2AA-4F5F-80C4-77543EE65E1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2AA-4F5F-80C4-77543EE65E1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300" b="1" i="0">
                        <a:solidFill>
                          <a:srgbClr val="000000"/>
                        </a:solidFill>
                        <a:latin typeface="Arial Narrow"/>
                      </a:rPr>
                      <a:t>+23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2AA-4F5F-80C4-77543EE65E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Prislista 2026</c:v>
                </c:pt>
                <c:pt idx="1">
                  <c:v>Nya säkerhetslicenser, arbetsplats</c:v>
                </c:pt>
                <c:pt idx="2">
                  <c:v>Nya molntjänster (leveransmodell)</c:v>
                </c:pt>
                <c:pt idx="3">
                  <c:v>Kapacitetsutökning, kärnnät</c:v>
                </c:pt>
                <c:pt idx="4">
                  <c:v>Nya moduler i ILS</c:v>
                </c:pt>
                <c:pt idx="5">
                  <c:v>Övriga kostnadsförändringar</c:v>
                </c:pt>
                <c:pt idx="6">
                  <c:v>Prislista 2027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1">
                  <c:v>16</c:v>
                </c:pt>
                <c:pt idx="2">
                  <c:v>11</c:v>
                </c:pt>
                <c:pt idx="3">
                  <c:v>3</c:v>
                </c:pt>
                <c:pt idx="4">
                  <c:v>1</c:v>
                </c:pt>
                <c:pt idx="5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52AA-4F5F-80C4-77543EE65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 Narrow"/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0"/>
          <c:min val="84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Arial Narrow"/>
        </a:defRPr>
      </a:pPr>
      <a:endParaRPr lang="sv-SE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73C6-E6BF-46CF-B34D-7A5C8688DBEE}" type="datetimeFigureOut">
              <a:rPr lang="sv-SE" smtClean="0"/>
              <a:t>2026-10-22</a:t>
            </a:fld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8F730-40FB-45F5-B014-CB7ED569AE30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037122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A4C71-A269-4800-8AF1-44182FA23438}" type="datetimeFigureOut">
              <a:rPr lang="sv-SE" smtClean="0"/>
              <a:t>2026-10-22</a:t>
            </a:fld>
            <a:endParaRPr lang="sv-SE" dirty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 dirty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13758-4B63-40D7-B26B-F67CE25F1C5D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97715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-vit logo för mörka bil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00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609600" y="1440000"/>
            <a:ext cx="7296811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sp>
        <p:nvSpPr>
          <p:cNvPr id="9" name="textruta 8"/>
          <p:cNvSpPr txBox="1"/>
          <p:nvPr userDrawn="1"/>
        </p:nvSpPr>
        <p:spPr>
          <a:xfrm>
            <a:off x="12288688" y="39970"/>
            <a:ext cx="158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För att byta bakgrundsbild klicka på STHLM bilder på fliken Start. </a:t>
            </a:r>
          </a:p>
          <a:p>
            <a:endParaRPr lang="sv-SE" sz="1400" dirty="0">
              <a:solidFill>
                <a:schemeClr val="tx2"/>
              </a:solidFill>
            </a:endParaRPr>
          </a:p>
          <a:p>
            <a:r>
              <a:rPr lang="sv-SE" sz="1400" dirty="0">
                <a:solidFill>
                  <a:schemeClr val="tx2"/>
                </a:solidFill>
              </a:rPr>
              <a:t>Har du en egen bild högerklickar du på bakgrundsbilden och väljer Formatera bakgrund och sen Infoga från: Fil. </a:t>
            </a:r>
          </a:p>
          <a:p>
            <a:r>
              <a:rPr lang="sv-SE" sz="1400" dirty="0">
                <a:solidFill>
                  <a:schemeClr val="tx2"/>
                </a:solidFill>
              </a:rPr>
              <a:t> </a:t>
            </a:r>
          </a:p>
          <a:p>
            <a:r>
              <a:rPr lang="sv-SE" sz="1400" dirty="0">
                <a:solidFill>
                  <a:schemeClr val="tx2"/>
                </a:solidFill>
              </a:rPr>
              <a:t>Tänk på att logotypen alltid ska vara tydlig. Vit logotyp mot mörk bakgrund och svart logotyp mot ljus.</a:t>
            </a:r>
          </a:p>
          <a:p>
            <a:r>
              <a:rPr lang="sv-SE" sz="1400" dirty="0">
                <a:solidFill>
                  <a:schemeClr val="tx2"/>
                </a:solidFill>
              </a:rPr>
              <a:t>Byt mellan de olika under Layout. </a:t>
            </a:r>
          </a:p>
        </p:txBody>
      </p:sp>
    </p:spTree>
    <p:extLst>
      <p:ext uri="{BB962C8B-B14F-4D97-AF65-F5344CB8AC3E}">
        <p14:creationId xmlns:p14="http://schemas.microsoft.com/office/powerpoint/2010/main" val="143176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-svart logo för ljusa bil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000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609600" y="1440000"/>
            <a:ext cx="7296811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sp>
        <p:nvSpPr>
          <p:cNvPr id="7" name="textruta 6"/>
          <p:cNvSpPr txBox="1"/>
          <p:nvPr userDrawn="1"/>
        </p:nvSpPr>
        <p:spPr>
          <a:xfrm>
            <a:off x="12288688" y="39970"/>
            <a:ext cx="158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För att byta bakgrundsbild klicka på STHLM bilder på fliken Start. </a:t>
            </a:r>
          </a:p>
          <a:p>
            <a:endParaRPr lang="sv-SE" sz="1400" dirty="0">
              <a:solidFill>
                <a:schemeClr val="tx2"/>
              </a:solidFill>
            </a:endParaRPr>
          </a:p>
          <a:p>
            <a:r>
              <a:rPr lang="sv-SE" sz="1400" dirty="0">
                <a:solidFill>
                  <a:schemeClr val="tx2"/>
                </a:solidFill>
              </a:rPr>
              <a:t>Har du en egen bild högerklickar du på bakgrundsbilden och väljer Formatera bakgrund och sen Infoga från: Fil. </a:t>
            </a:r>
          </a:p>
          <a:p>
            <a:r>
              <a:rPr lang="sv-SE" sz="1400" dirty="0">
                <a:solidFill>
                  <a:schemeClr val="tx2"/>
                </a:solidFill>
              </a:rPr>
              <a:t> </a:t>
            </a:r>
          </a:p>
          <a:p>
            <a:r>
              <a:rPr lang="sv-SE" sz="1400" dirty="0">
                <a:solidFill>
                  <a:schemeClr val="tx2"/>
                </a:solidFill>
              </a:rPr>
              <a:t>Tänk på att logotypen alltid ska vara tydlig. Vit logotyp mot mörk bakgrund och svart logotyp mot ljus.</a:t>
            </a:r>
          </a:p>
          <a:p>
            <a:r>
              <a:rPr lang="sv-SE" sz="1400" dirty="0">
                <a:solidFill>
                  <a:schemeClr val="tx2"/>
                </a:solidFill>
              </a:rPr>
              <a:t>Byt mellan de olika under Layout. </a:t>
            </a:r>
          </a:p>
        </p:txBody>
      </p:sp>
    </p:spTree>
    <p:extLst>
      <p:ext uri="{BB962C8B-B14F-4D97-AF65-F5344CB8AC3E}">
        <p14:creationId xmlns:p14="http://schemas.microsoft.com/office/powerpoint/2010/main" val="96334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 svart logo grå bakgrund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320000" cy="968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40000"/>
            <a:ext cx="7305600" cy="1753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underrubrik här</a:t>
            </a:r>
          </a:p>
        </p:txBody>
      </p:sp>
      <p:pic>
        <p:nvPicPr>
          <p:cNvPr id="11" name="Bildobjekt 10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1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2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400" y="467862"/>
            <a:ext cx="1368000" cy="468276"/>
          </a:xfrm>
          <a:prstGeom prst="rect">
            <a:avLst/>
          </a:prstGeom>
        </p:spPr>
      </p:pic>
      <p:sp>
        <p:nvSpPr>
          <p:cNvPr id="11" name="textruta 10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2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1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85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3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4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56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- Färgrutor alt 4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16"/>
          <p:cNvSpPr txBox="1">
            <a:spLocks/>
          </p:cNvSpPr>
          <p:nvPr userDrawn="1"/>
        </p:nvSpPr>
        <p:spPr>
          <a:xfrm>
            <a:off x="609600" y="457201"/>
            <a:ext cx="7344000" cy="3960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34000" rIns="234000"/>
          <a:lstStyle>
            <a:lvl1pPr>
              <a:buNone/>
              <a:defRPr/>
            </a:lvl1pPr>
          </a:lstStyle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sv-SE" sz="20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</a:t>
            </a: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 bwMode="white">
          <a:xfrm>
            <a:off x="911424" y="628016"/>
            <a:ext cx="6816757" cy="114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4"/>
          </p:nvPr>
        </p:nvSpPr>
        <p:spPr bwMode="white">
          <a:xfrm>
            <a:off x="911424" y="1844675"/>
            <a:ext cx="6816757" cy="23764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7"/>
          <p:cNvSpPr>
            <a:spLocks noGrp="1"/>
          </p:cNvSpPr>
          <p:nvPr>
            <p:ph type="pic" sz="quarter" idx="13"/>
          </p:nvPr>
        </p:nvSpPr>
        <p:spPr>
          <a:xfrm>
            <a:off x="7929600" y="4418012"/>
            <a:ext cx="3652800" cy="1980000"/>
          </a:xfrm>
          <a:solidFill>
            <a:schemeClr val="accent5"/>
          </a:solidFill>
        </p:spPr>
        <p:txBody>
          <a:bodyPr anchor="t" anchorCtr="1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pic>
        <p:nvPicPr>
          <p:cNvPr id="9" name="Bildobjekt 8" descr="Logo Stockholms Stad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99" y="467862"/>
            <a:ext cx="1368000" cy="468276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2288688" y="4483354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6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5733256"/>
            <a:ext cx="97104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2772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09600" y="1440001"/>
            <a:ext cx="5184000" cy="39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406913" y="1440000"/>
            <a:ext cx="5184000" cy="396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2" y="5445224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4" hasCustomPrompt="1"/>
          </p:nvPr>
        </p:nvSpPr>
        <p:spPr>
          <a:xfrm>
            <a:off x="6406913" y="5445224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990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bild hög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609600" y="1440000"/>
            <a:ext cx="5184000" cy="39600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684" y="1440000"/>
            <a:ext cx="5472000" cy="39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684" y="5446800"/>
            <a:ext cx="5472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3" name="Platshållare för datum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4" name="Platshållare för sidfot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5" name="Platshållare för bildnumm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28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bild vänst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8"/>
            <a:ext cx="5472000" cy="396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6398400" y="1439863"/>
            <a:ext cx="5184000" cy="39600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13832" y="5446800"/>
            <a:ext cx="5472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4" name="textruta 13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87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 bred och text höger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9"/>
            <a:ext cx="7680000" cy="42940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8"/>
          </p:nvPr>
        </p:nvSpPr>
        <p:spPr>
          <a:xfrm>
            <a:off x="8496000" y="1440000"/>
            <a:ext cx="3086400" cy="4294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733256"/>
            <a:ext cx="7680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datum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2" name="Platshållare för sidfo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3" name="Platshållare för bild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5" name="textruta 14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45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 B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bild 8"/>
          <p:cNvSpPr>
            <a:spLocks noGrp="1"/>
          </p:cNvSpPr>
          <p:nvPr>
            <p:ph type="pic" sz="quarter" idx="13"/>
          </p:nvPr>
        </p:nvSpPr>
        <p:spPr>
          <a:xfrm>
            <a:off x="609600" y="1439999"/>
            <a:ext cx="10959008" cy="42940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8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13833" y="5733256"/>
            <a:ext cx="109584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ruta 10"/>
          <p:cNvSpPr txBox="1"/>
          <p:nvPr userDrawn="1"/>
        </p:nvSpPr>
        <p:spPr>
          <a:xfrm>
            <a:off x="12288688" y="2348880"/>
            <a:ext cx="1584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>
                <a:solidFill>
                  <a:schemeClr val="tx2"/>
                </a:solidFill>
              </a:rPr>
              <a:t>Klicka på </a:t>
            </a:r>
            <a:r>
              <a:rPr lang="sv-SE" sz="1400" b="1" dirty="0">
                <a:solidFill>
                  <a:schemeClr val="tx2"/>
                </a:solidFill>
              </a:rPr>
              <a:t>STHLM</a:t>
            </a:r>
            <a:r>
              <a:rPr lang="sv-SE" sz="1400" baseline="0" dirty="0">
                <a:solidFill>
                  <a:schemeClr val="tx2"/>
                </a:solidFill>
              </a:rPr>
              <a:t> </a:t>
            </a:r>
            <a:r>
              <a:rPr lang="sv-SE" sz="1400" b="1" baseline="0" dirty="0">
                <a:solidFill>
                  <a:schemeClr val="tx2"/>
                </a:solidFill>
              </a:rPr>
              <a:t>bilder</a:t>
            </a:r>
            <a:r>
              <a:rPr lang="sv-SE" sz="1400" baseline="0" dirty="0">
                <a:solidFill>
                  <a:schemeClr val="tx2"/>
                </a:solidFill>
              </a:rPr>
              <a:t> för att lägga till en bild. Om du har en egen bild, klicka direkt på ikonen som visas i rutan här till vänster på sidan.</a:t>
            </a:r>
            <a:endParaRPr lang="sv-S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82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484784"/>
            <a:ext cx="5184000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09600" y="2174874"/>
            <a:ext cx="5184000" cy="345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398400" y="1484784"/>
            <a:ext cx="5184000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398400" y="2174874"/>
            <a:ext cx="5184000" cy="345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0" name="Platshållare för text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670192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1" name="Platshållare för text 4"/>
          <p:cNvSpPr>
            <a:spLocks noGrp="1"/>
          </p:cNvSpPr>
          <p:nvPr>
            <p:ph type="body" sz="quarter" idx="18" hasCustomPrompt="1"/>
          </p:nvPr>
        </p:nvSpPr>
        <p:spPr>
          <a:xfrm>
            <a:off x="6398400" y="5670192"/>
            <a:ext cx="5184000" cy="180000"/>
          </a:xfrm>
        </p:spPr>
        <p:txBody>
          <a:bodyPr/>
          <a:lstStyle>
            <a:lvl1pPr marL="0" indent="0">
              <a:buNone/>
              <a:defRPr sz="1000" baseline="0"/>
            </a:lvl1pPr>
          </a:lstStyle>
          <a:p>
            <a:pPr lvl="0"/>
            <a:r>
              <a:rPr lang="sv-SE" dirty="0"/>
              <a:t>Skriv </a:t>
            </a:r>
            <a:r>
              <a:rPr lang="sv-SE" dirty="0" err="1"/>
              <a:t>ev</a:t>
            </a:r>
            <a:r>
              <a:rPr lang="sv-SE" dirty="0"/>
              <a:t> källa</a:t>
            </a:r>
          </a:p>
        </p:txBody>
      </p:sp>
      <p:sp>
        <p:nvSpPr>
          <p:cNvPr id="13" name="Platshållare fö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4" name="Platshållare för sidfo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5" name="Platshållare för bild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53460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2" name="Platshållare fö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13" name="Platshållare för sidfo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4" name="Platshållare för bild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3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17948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Lil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7" name="Bildobjekt 6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716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99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Grö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59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Ros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83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Blå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310400" cy="936000"/>
          </a:xfrm>
        </p:spPr>
        <p:txBody>
          <a:bodyPr anchor="t"/>
          <a:lstStyle>
            <a:lvl1pPr algn="l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/>
          </p:nvPr>
        </p:nvSpPr>
        <p:spPr>
          <a:xfrm>
            <a:off x="624417" y="1439864"/>
            <a:ext cx="7310400" cy="119704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Bildobjekt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3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 - Ro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048" y="1524198"/>
            <a:ext cx="4565904" cy="4565904"/>
          </a:xfrm>
          <a:prstGeom prst="rect">
            <a:avLst/>
          </a:prstGeom>
        </p:spPr>
      </p:pic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485654" y="328498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021310" y="340877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3990914" y="310496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485654" y="222457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4865745" y="258461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5234737" y="295178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14757" y="170043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5518300" y="220843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710105" y="271167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6384032" y="17008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6312024" y="220486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3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6132004" y="270892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6592438" y="29635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5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6960904" y="258461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6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329365" y="222457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6816080" y="3422561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329365" y="328498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31" hasCustomPrompt="1"/>
          </p:nvPr>
        </p:nvSpPr>
        <p:spPr>
          <a:xfrm>
            <a:off x="7825760" y="31435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32" hasCustomPrompt="1"/>
          </p:nvPr>
        </p:nvSpPr>
        <p:spPr>
          <a:xfrm>
            <a:off x="6816080" y="383411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341521" y="397731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49948" y="407707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577047" y="429734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6952478" y="465738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334461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6132004" y="452684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7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6312024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8" name="Text Placeholder 23"/>
          <p:cNvSpPr>
            <a:spLocks noGrp="1"/>
          </p:cNvSpPr>
          <p:nvPr>
            <p:ph type="body" sz="quarter" idx="40" hasCustomPrompt="1"/>
          </p:nvPr>
        </p:nvSpPr>
        <p:spPr>
          <a:xfrm>
            <a:off x="6456040" y="551723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9" name="Text Placeholder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21344" y="384308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0" name="Text Placeholder 23"/>
          <p:cNvSpPr>
            <a:spLocks noGrp="1"/>
          </p:cNvSpPr>
          <p:nvPr>
            <p:ph type="body" sz="quarter" idx="42" hasCustomPrompt="1"/>
          </p:nvPr>
        </p:nvSpPr>
        <p:spPr>
          <a:xfrm>
            <a:off x="4505705" y="401413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1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3989259" y="412435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2" name="Text Placeholder 23"/>
          <p:cNvSpPr>
            <a:spLocks noGrp="1"/>
          </p:cNvSpPr>
          <p:nvPr>
            <p:ph type="body" sz="quarter" idx="44" hasCustomPrompt="1"/>
          </p:nvPr>
        </p:nvSpPr>
        <p:spPr>
          <a:xfrm>
            <a:off x="5258440" y="429062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3" name="Text Placeholder 23"/>
          <p:cNvSpPr>
            <a:spLocks noGrp="1"/>
          </p:cNvSpPr>
          <p:nvPr>
            <p:ph type="body" sz="quarter" idx="45" hasCustomPrompt="1"/>
          </p:nvPr>
        </p:nvSpPr>
        <p:spPr>
          <a:xfrm>
            <a:off x="4874697" y="465738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4" name="Text Placeholder 23"/>
          <p:cNvSpPr>
            <a:spLocks noGrp="1"/>
          </p:cNvSpPr>
          <p:nvPr>
            <p:ph type="body" sz="quarter" idx="46" hasCustomPrompt="1"/>
          </p:nvPr>
        </p:nvSpPr>
        <p:spPr>
          <a:xfrm>
            <a:off x="4515771" y="502420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5" name="Text Placeholder 23"/>
          <p:cNvSpPr>
            <a:spLocks noGrp="1"/>
          </p:cNvSpPr>
          <p:nvPr>
            <p:ph type="body" sz="quarter" idx="47" hasCustomPrompt="1"/>
          </p:nvPr>
        </p:nvSpPr>
        <p:spPr>
          <a:xfrm>
            <a:off x="5689264" y="45543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6" name="Text Placeholder 23"/>
          <p:cNvSpPr>
            <a:spLocks noGrp="1"/>
          </p:cNvSpPr>
          <p:nvPr>
            <p:ph type="body" sz="quarter" idx="48" hasCustomPrompt="1"/>
          </p:nvPr>
        </p:nvSpPr>
        <p:spPr>
          <a:xfrm>
            <a:off x="5584938" y="503276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7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5437033" y="559296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170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 -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854" y="1523198"/>
            <a:ext cx="4570098" cy="45700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dirty="0"/>
              <a:t>20XX-XX-XX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Skriv eventuell sidfot här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485654" y="32874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021310" y="341129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3990914" y="31074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485654" y="222708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4865745" y="258712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5234737" y="295429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14757" y="170294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5518300" y="221094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710105" y="271419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6384032" y="17033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6312024" y="220737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6132004" y="271143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6592438" y="296609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6960904" y="258712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329365" y="222708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6816080" y="3425075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329365" y="3287498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31" hasCustomPrompt="1"/>
          </p:nvPr>
        </p:nvSpPr>
        <p:spPr>
          <a:xfrm>
            <a:off x="7825760" y="314611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32" hasCustomPrompt="1"/>
          </p:nvPr>
        </p:nvSpPr>
        <p:spPr>
          <a:xfrm>
            <a:off x="6816080" y="3836627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341521" y="3979830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49948" y="407958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577047" y="429986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6952478" y="465990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334461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6132004" y="452935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6312024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40" hasCustomPrompt="1"/>
          </p:nvPr>
        </p:nvSpPr>
        <p:spPr>
          <a:xfrm>
            <a:off x="6456040" y="5519746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21344" y="3845603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42" hasCustomPrompt="1"/>
          </p:nvPr>
        </p:nvSpPr>
        <p:spPr>
          <a:xfrm>
            <a:off x="4505705" y="4016647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3989259" y="4126869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 Placeholder 23"/>
          <p:cNvSpPr>
            <a:spLocks noGrp="1"/>
          </p:cNvSpPr>
          <p:nvPr>
            <p:ph type="body" sz="quarter" idx="44" hasCustomPrompt="1"/>
          </p:nvPr>
        </p:nvSpPr>
        <p:spPr>
          <a:xfrm>
            <a:off x="5258440" y="429313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Text Placeholder 23"/>
          <p:cNvSpPr>
            <a:spLocks noGrp="1"/>
          </p:cNvSpPr>
          <p:nvPr>
            <p:ph type="body" sz="quarter" idx="45" hasCustomPrompt="1"/>
          </p:nvPr>
        </p:nvSpPr>
        <p:spPr>
          <a:xfrm>
            <a:off x="4874697" y="465990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46" hasCustomPrompt="1"/>
          </p:nvPr>
        </p:nvSpPr>
        <p:spPr>
          <a:xfrm>
            <a:off x="4515771" y="502672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47" hasCustomPrompt="1"/>
          </p:nvPr>
        </p:nvSpPr>
        <p:spPr>
          <a:xfrm>
            <a:off x="5689264" y="455689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48" hasCustomPrompt="1"/>
          </p:nvPr>
        </p:nvSpPr>
        <p:spPr>
          <a:xfrm>
            <a:off x="5584938" y="5035282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2" name="Text Placeholder 23"/>
          <p:cNvSpPr>
            <a:spLocks noGrp="1"/>
          </p:cNvSpPr>
          <p:nvPr>
            <p:ph type="body" sz="quarter" idx="49" hasCustomPrompt="1"/>
          </p:nvPr>
        </p:nvSpPr>
        <p:spPr>
          <a:xfrm>
            <a:off x="5437033" y="5595474"/>
            <a:ext cx="360040" cy="36004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ipsum</a:t>
            </a:r>
            <a:endParaRPr lang="en-US" sz="500" dirty="0"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en-US" sz="5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047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31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09600" y="1440001"/>
            <a:ext cx="9710869" cy="429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0526400" y="6186018"/>
            <a:ext cx="1056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20XX-XX-XX</a:t>
            </a: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904000" y="6325501"/>
            <a:ext cx="638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Skriv eventuell sidfot här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10910400" y="6325501"/>
            <a:ext cx="672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1FA3D87-4B78-4D5D-8368-DA3305501A4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 descr="Logo Stockholms Stad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6125548"/>
            <a:ext cx="136716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8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6" r:id="rId3"/>
    <p:sldLayoutId id="2147483657" r:id="rId4"/>
    <p:sldLayoutId id="2147483658" r:id="rId5"/>
    <p:sldLayoutId id="2147483659" r:id="rId6"/>
    <p:sldLayoutId id="2147483660" r:id="rId7"/>
    <p:sldLayoutId id="2147483650" r:id="rId8"/>
    <p:sldLayoutId id="2147483652" r:id="rId9"/>
    <p:sldLayoutId id="2147483664" r:id="rId10"/>
    <p:sldLayoutId id="2147483665" r:id="rId11"/>
    <p:sldLayoutId id="2147483668" r:id="rId12"/>
    <p:sldLayoutId id="2147483667" r:id="rId13"/>
    <p:sldLayoutId id="2147483653" r:id="rId14"/>
    <p:sldLayoutId id="2147483654" r:id="rId15"/>
    <p:sldLayoutId id="2147483655" r:id="rId16"/>
    <p:sldLayoutId id="2147483651" r:id="rId17"/>
    <p:sldLayoutId id="2147483661" r:id="rId18"/>
    <p:sldLayoutId id="2147483662" r:id="rId19"/>
    <p:sldLayoutId id="2147483663" r:id="rId20"/>
    <p:sldLayoutId id="2147483669" r:id="rId21"/>
    <p:sldLayoutId id="2147483670" r:id="rId2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19075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84200" indent="-195263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2800" indent="-211138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63" indent="-212725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IT-prislistan 2027</a:t>
            </a:r>
          </a:p>
        </p:txBody>
      </p:sp>
      <p:sp>
        <p:nvSpPr>
          <p:cNvPr id="5" name="Underrubrik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sv-SE" b="1" dirty="0">
              <a:latin typeface="Arial Narrow" panose="020B0606020202030204" pitchFamily="34" charset="0"/>
            </a:endParaRPr>
          </a:p>
          <a:p>
            <a:r>
              <a:rPr lang="sv-SE" b="1" dirty="0">
                <a:latin typeface="Arial Narrow" panose="020B0606020202030204" pitchFamily="34" charset="0"/>
              </a:rPr>
              <a:t>Dnr: </a:t>
            </a:r>
            <a:r>
              <a:rPr lang="sv-SE" b="1" dirty="0">
                <a:highlight>
                  <a:srgbClr val="FFFF00"/>
                </a:highlight>
                <a:latin typeface="Arial Narrow" panose="020B0606020202030204" pitchFamily="34" charset="0"/>
              </a:rPr>
              <a:t>KS 2026/[XXXX]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sv-SE" sz="2000" b="1" dirty="0">
              <a:latin typeface="Arial Narrow" panose="020B060602020203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sv-SE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0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 dokumentet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71600"/>
            <a:ext cx="3657600" cy="2201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536192"/>
            <a:ext cx="32918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Vad </a:t>
            </a:r>
            <a:r>
              <a:rPr sz="1600" b="1" i="0" dirty="0" err="1">
                <a:latin typeface="Arial Narrow"/>
              </a:rPr>
              <a:t>är</a:t>
            </a:r>
            <a:r>
              <a:rPr sz="1600" b="1" i="0" dirty="0">
                <a:latin typeface="Arial Narrow"/>
              </a:rPr>
              <a:t> IT-</a:t>
            </a:r>
            <a:r>
              <a:rPr sz="1600" b="1" i="0" dirty="0" err="1">
                <a:latin typeface="Arial Narrow"/>
              </a:rPr>
              <a:t>prislistan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sz="1300" b="0" i="0" dirty="0">
                <a:latin typeface="Arial Narrow"/>
              </a:rPr>
              <a:t>IT-</a:t>
            </a:r>
            <a:r>
              <a:rPr sz="1300" b="0" i="0" dirty="0" err="1">
                <a:latin typeface="Arial Narrow"/>
              </a:rPr>
              <a:t>prislistan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avser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centrala</a:t>
            </a:r>
            <a:r>
              <a:rPr sz="1300" b="0" i="0" dirty="0">
                <a:latin typeface="Arial Narrow"/>
              </a:rPr>
              <a:t> it-</a:t>
            </a:r>
            <a:r>
              <a:rPr sz="1300" b="0" i="0" dirty="0" err="1">
                <a:latin typeface="Arial Narrow"/>
              </a:rPr>
              <a:t>kostnader</a:t>
            </a:r>
            <a:r>
              <a:rPr sz="1300" b="0" i="0" dirty="0">
                <a:latin typeface="Arial Narrow"/>
              </a:rPr>
              <a:t> för </a:t>
            </a:r>
            <a:r>
              <a:rPr sz="1300" b="0" i="0" dirty="0" err="1">
                <a:latin typeface="Arial Narrow"/>
              </a:rPr>
              <a:t>gemensamt</a:t>
            </a:r>
            <a:r>
              <a:rPr sz="1300" b="0" i="0" dirty="0">
                <a:latin typeface="Arial Narrow"/>
              </a:rPr>
              <a:t> it-stöd till </a:t>
            </a:r>
            <a:r>
              <a:rPr lang="sv-SE" sz="1300" b="0" i="0" dirty="0">
                <a:latin typeface="Arial Narrow"/>
              </a:rPr>
              <a:t>stadens </a:t>
            </a:r>
            <a:r>
              <a:rPr lang="sv-SE" sz="1300" dirty="0">
                <a:latin typeface="Arial Narrow"/>
              </a:rPr>
              <a:t>bolag och förvaltningar. </a:t>
            </a:r>
          </a:p>
          <a:p>
            <a:endParaRPr lang="sv-SE" sz="1300" b="0" i="0" dirty="0">
              <a:latin typeface="Arial Narrow"/>
            </a:endParaRPr>
          </a:p>
          <a:p>
            <a:r>
              <a:rPr lang="sv-SE" sz="1300" b="0" i="0" dirty="0">
                <a:latin typeface="Arial Narrow"/>
              </a:rPr>
              <a:t>IT-prislistan beslutas med stadens budget.</a:t>
            </a:r>
            <a:endParaRPr sz="1300" b="0" i="0" dirty="0">
              <a:latin typeface="Arial Narrow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657600" cy="2201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36008" y="1536192"/>
            <a:ext cx="329184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Vem </a:t>
            </a:r>
            <a:r>
              <a:rPr sz="1600" b="1" i="0" dirty="0" err="1">
                <a:latin typeface="Arial Narrow"/>
              </a:rPr>
              <a:t>är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dokumentet</a:t>
            </a:r>
            <a:r>
              <a:rPr sz="1600" b="1" i="0" dirty="0">
                <a:latin typeface="Arial Narrow"/>
              </a:rPr>
              <a:t> till för?</a:t>
            </a:r>
          </a:p>
          <a:p>
            <a:r>
              <a:rPr sz="1300" b="0" i="0" dirty="0" err="1">
                <a:latin typeface="Arial Narrow"/>
              </a:rPr>
              <a:t>Ekonomer</a:t>
            </a:r>
            <a:r>
              <a:rPr sz="1300" b="0" i="0" dirty="0">
                <a:latin typeface="Arial Narrow"/>
              </a:rPr>
              <a:t>, it-</a:t>
            </a:r>
            <a:r>
              <a:rPr sz="1300" b="0" i="0" dirty="0" err="1">
                <a:latin typeface="Arial Narrow"/>
              </a:rPr>
              <a:t>ansvariga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andra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som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följer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upp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analyserar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centrala</a:t>
            </a:r>
            <a:r>
              <a:rPr sz="1300" b="0" i="0" dirty="0">
                <a:latin typeface="Arial Narrow"/>
              </a:rPr>
              <a:t> it-</a:t>
            </a:r>
            <a:r>
              <a:rPr sz="1300" b="0" i="0" dirty="0" err="1">
                <a:latin typeface="Arial Narrow"/>
              </a:rPr>
              <a:t>kostnader</a:t>
            </a:r>
            <a:r>
              <a:rPr sz="1300" b="0" i="0" dirty="0">
                <a:latin typeface="Arial Narrow"/>
              </a:rPr>
              <a:t>. 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sz="1300" b="0" i="0" dirty="0" err="1">
                <a:latin typeface="Arial Narrow"/>
              </a:rPr>
              <a:t>Dokumentet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förklarar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kostnadsbilden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objekten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förändringar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föregående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år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" y="3867911"/>
            <a:ext cx="32918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Hur </a:t>
            </a:r>
            <a:r>
              <a:rPr sz="1600" b="1" i="0" dirty="0" err="1">
                <a:latin typeface="Arial Narrow"/>
              </a:rPr>
              <a:t>fördelas</a:t>
            </a:r>
            <a:r>
              <a:rPr sz="1600" b="1" i="0" dirty="0">
                <a:latin typeface="Arial Narrow"/>
              </a:rPr>
              <a:t> och </a:t>
            </a:r>
            <a:r>
              <a:rPr sz="1600" b="1" i="0" dirty="0" err="1">
                <a:latin typeface="Arial Narrow"/>
              </a:rPr>
              <a:t>faktureras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kostnaderna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lang="sv-SE" sz="1300" dirty="0">
                <a:latin typeface="Arial Narrow"/>
              </a:rPr>
              <a:t>Kostnaderna för v</a:t>
            </a:r>
            <a:r>
              <a:rPr sz="1300" b="0" i="0" dirty="0" err="1">
                <a:latin typeface="Arial Narrow"/>
              </a:rPr>
              <a:t>arje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objekt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utifrån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eg</a:t>
            </a:r>
            <a:r>
              <a:rPr lang="sv-SE" sz="1300" b="0" i="0" dirty="0" err="1">
                <a:latin typeface="Arial Narrow"/>
              </a:rPr>
              <a:t>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fördelningsnyck</a:t>
            </a:r>
            <a:r>
              <a:rPr lang="sv-SE" sz="1300" b="0" i="0" dirty="0">
                <a:latin typeface="Arial Narrow"/>
              </a:rPr>
              <a:t>lar</a:t>
            </a:r>
            <a:r>
              <a:rPr sz="1300" b="0" i="0" dirty="0">
                <a:latin typeface="Arial Narrow"/>
              </a:rPr>
              <a:t>. </a:t>
            </a:r>
            <a:r>
              <a:rPr lang="sv-SE" sz="1300" b="0" i="0" dirty="0" err="1">
                <a:latin typeface="Arial Narrow"/>
              </a:rPr>
              <a:t>Datan</a:t>
            </a:r>
            <a:r>
              <a:rPr lang="sv-SE" sz="1300" b="0" i="0" dirty="0">
                <a:latin typeface="Arial Narrow"/>
              </a:rPr>
              <a:t> till fördelningsnycklarna läses i de flesta fall</a:t>
            </a:r>
            <a:r>
              <a:rPr sz="1300" b="0" i="0" dirty="0">
                <a:latin typeface="Arial Narrow"/>
              </a:rPr>
              <a:t> av per </a:t>
            </a:r>
            <a:r>
              <a:rPr lang="sv-SE" sz="1300" dirty="0">
                <a:latin typeface="Arial Narrow"/>
              </a:rPr>
              <a:t>2026-08-30.</a:t>
            </a:r>
            <a:r>
              <a:rPr sz="1300" b="0" i="0" dirty="0">
                <a:latin typeface="Arial Narrow"/>
              </a:rPr>
              <a:t> 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sz="1300" b="0" i="0" dirty="0" err="1">
                <a:latin typeface="Arial Narrow"/>
              </a:rPr>
              <a:t>Kostnaderna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faktureras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sedan </a:t>
            </a:r>
            <a:r>
              <a:rPr sz="1300" b="0" i="0" dirty="0" err="1">
                <a:latin typeface="Arial Narrow"/>
              </a:rPr>
              <a:t>samlat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från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stadsledningskontoret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januari</a:t>
            </a:r>
            <a:r>
              <a:rPr sz="1300" b="0" i="0" dirty="0">
                <a:latin typeface="Arial Narrow"/>
              </a:rPr>
              <a:t> 2027</a:t>
            </a:r>
            <a:r>
              <a:rPr lang="sv-SE" sz="1300" b="0" i="0" dirty="0">
                <a:latin typeface="Arial Narrow"/>
              </a:rPr>
              <a:t> (en faktura per förvaltning/bolag)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37033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5444" y="3867911"/>
            <a:ext cx="32918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Var </a:t>
            </a:r>
            <a:r>
              <a:rPr sz="1600" b="1" i="0" dirty="0" err="1">
                <a:latin typeface="Arial Narrow"/>
              </a:rPr>
              <a:t>finns</a:t>
            </a:r>
            <a:r>
              <a:rPr sz="1600" b="1" i="0" dirty="0">
                <a:latin typeface="Arial Narrow"/>
              </a:rPr>
              <a:t> </a:t>
            </a:r>
            <a:r>
              <a:rPr lang="sv-SE" sz="1600" b="1" dirty="0">
                <a:latin typeface="Arial Narrow"/>
              </a:rPr>
              <a:t>dokumenten</a:t>
            </a:r>
            <a:r>
              <a:rPr sz="1600" b="1" i="0" dirty="0">
                <a:latin typeface="Arial Narrow"/>
              </a:rPr>
              <a:t>?</a:t>
            </a:r>
          </a:p>
          <a:p>
            <a:r>
              <a:rPr sz="1300" b="0" i="0" dirty="0" err="1">
                <a:latin typeface="Arial Narrow"/>
              </a:rPr>
              <a:t>Dokumenten</a:t>
            </a:r>
            <a:r>
              <a:rPr lang="sv-SE" sz="1300" b="0" i="0" dirty="0">
                <a:latin typeface="Arial Narrow"/>
              </a:rPr>
              <a:t> för IT-prislistan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publiceras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samlat </a:t>
            </a:r>
            <a:r>
              <a:rPr sz="1300" b="0" i="0" dirty="0" err="1">
                <a:latin typeface="Arial Narrow"/>
              </a:rPr>
              <a:t>på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intranätet</a:t>
            </a:r>
            <a:r>
              <a:rPr sz="1300" b="0" i="0" dirty="0">
                <a:latin typeface="Arial Narrow"/>
              </a:rPr>
              <a:t> under Ekonomi &gt; It-</a:t>
            </a:r>
            <a:r>
              <a:rPr sz="1300" b="0" i="0" dirty="0" err="1">
                <a:latin typeface="Arial Narrow"/>
              </a:rPr>
              <a:t>ekonomi</a:t>
            </a:r>
            <a:r>
              <a:rPr sz="1300" b="0" i="0" dirty="0">
                <a:latin typeface="Arial Narrow"/>
              </a:rPr>
              <a:t> och it-</a:t>
            </a:r>
            <a:r>
              <a:rPr sz="1300" b="0" i="0" dirty="0" err="1">
                <a:latin typeface="Arial Narrow"/>
              </a:rPr>
              <a:t>prislista</a:t>
            </a:r>
            <a:r>
              <a:rPr sz="1300" b="0" i="0" dirty="0">
                <a:latin typeface="Arial Narrow"/>
              </a:rPr>
              <a:t>.</a:t>
            </a:r>
            <a:endParaRPr lang="sv-SE" sz="1300" b="0" i="0" dirty="0">
              <a:latin typeface="Arial Narrow"/>
            </a:endParaRPr>
          </a:p>
          <a:p>
            <a:endParaRPr lang="sv-SE" sz="1300" dirty="0">
              <a:latin typeface="Arial Narrow"/>
            </a:endParaRPr>
          </a:p>
          <a:p>
            <a:r>
              <a:rPr lang="sv-SE" sz="1300" b="0" i="0" dirty="0">
                <a:latin typeface="Arial Narrow"/>
              </a:rPr>
              <a:t>Siffrorna </a:t>
            </a:r>
            <a:r>
              <a:rPr lang="sv-SE" sz="1300" dirty="0">
                <a:latin typeface="Arial Narrow"/>
              </a:rPr>
              <a:t>per objekt och data för fördelningsnycklarna presenteras också mer ingående i Beräkningsmallen för IT-prislistan. </a:t>
            </a:r>
          </a:p>
          <a:p>
            <a:endParaRPr sz="1300" b="0" i="0" dirty="0"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12480" y="1371599"/>
            <a:ext cx="3154680" cy="4617721"/>
          </a:xfrm>
          <a:prstGeom prst="rect">
            <a:avLst/>
          </a:prstGeom>
          <a:solidFill>
            <a:srgbClr val="E2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536192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latin typeface="Arial Narrow"/>
              </a:rPr>
              <a:t>Innehåll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1  </a:t>
            </a:r>
            <a:r>
              <a:rPr sz="1400" b="0" i="0">
                <a:latin typeface="Arial Narrow"/>
              </a:rPr>
              <a:t>IT-prislistan 2027 i korthet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2  </a:t>
            </a:r>
            <a:r>
              <a:rPr sz="1400" b="0" i="0">
                <a:latin typeface="Arial Narrow"/>
              </a:rPr>
              <a:t>Förändringar jämfört med 2026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3  </a:t>
            </a:r>
            <a:r>
              <a:rPr sz="1400" b="0" i="0">
                <a:latin typeface="Arial Narrow"/>
              </a:rPr>
              <a:t>Så fördelas kostnaderna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4  </a:t>
            </a:r>
            <a:r>
              <a:rPr sz="1400" b="0" i="0">
                <a:latin typeface="Arial Narrow"/>
              </a:rPr>
              <a:t>Så påverkar ni er kostnad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5  </a:t>
            </a:r>
            <a:r>
              <a:rPr sz="1400" b="0" i="0">
                <a:latin typeface="Arial Narrow"/>
              </a:rPr>
              <a:t>Objekten i IT-prislistan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A85AD1"/>
                </a:solidFill>
                <a:latin typeface="Arial Narrow"/>
              </a:rPr>
              <a:t>6  </a:t>
            </a:r>
            <a:r>
              <a:rPr sz="1400" b="0" i="0">
                <a:latin typeface="Arial Narrow"/>
              </a:rPr>
              <a:t>Kostnad per objekt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1332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95959"/>
                </a:solidFill>
                <a:latin typeface="Arial Narrow"/>
              </a:rPr>
              <a:t>Intranätet: https://intranat.stockholm.se/stod-i-arbetet/ekonomi/it-ekonomi-och-it-prislista/?f_id=110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IT-prislistan 2027 i korthet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912 mnkr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IT-prislistan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858 mnkr 2026 (+6,3 %)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596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8848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19 232 kr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Kostnad per anställd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19 798 kr 2026 (−2,9 %)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9288" y="1371600"/>
            <a:ext cx="35204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02167" y="1481328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A85AD1"/>
                </a:solidFill>
                <a:latin typeface="Arial Narrow"/>
              </a:rPr>
              <a:t>47 413</a:t>
            </a:r>
          </a:p>
          <a:p>
            <a:pPr>
              <a:spcAft>
                <a:spcPts val="200"/>
              </a:spcAft>
            </a:pPr>
            <a:r>
              <a:rPr sz="1500" b="1" i="0">
                <a:latin typeface="Arial Narrow"/>
              </a:rPr>
              <a:t>Anställda 2027</a:t>
            </a:r>
          </a:p>
          <a:p>
            <a:r>
              <a:rPr sz="1300" b="0" i="0">
                <a:solidFill>
                  <a:srgbClr val="595959"/>
                </a:solidFill>
                <a:latin typeface="Arial Narrow"/>
              </a:rPr>
              <a:t>43 335 2026 (+9,4 %)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469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latin typeface="Arial Narrow"/>
              </a:rPr>
              <a:t>Tabell: IT-prislistan och kostnad per anställd 2025–2027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320691"/>
              </p:ext>
            </p:extLst>
          </p:nvPr>
        </p:nvGraphicFramePr>
        <p:xfrm>
          <a:off x="612648" y="3749039"/>
          <a:ext cx="10972800" cy="14990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År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IT-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prislistan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br>
                        <a:rPr lang="sv-SE"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</a:b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totalt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(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kr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Totalt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exkl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.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jämförelsestörande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br>
                        <a:rPr lang="sv-SE"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</a:b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poster (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 Narrow"/>
                        </a:rPr>
                        <a:t>kr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 Narrow"/>
                        </a:rPr>
                        <a:t>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Anställda (antal)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Kostnad per anställd (kr)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000000"/>
                          </a:solidFill>
                          <a:latin typeface="Arial Narrow"/>
                        </a:rPr>
                        <a:t>Kostnad per anställd exkl. jämförelsestörande poster (kr)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A85AD1"/>
                      </a:solidFill>
                    </a:lnB>
                    <a:solidFill>
                      <a:srgbClr val="E2C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2027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911 834 578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881 001 578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47 413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19 232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18 581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2026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857 955 738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826 135 079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43 335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19 798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19 064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Arial Narrow"/>
                        </a:rPr>
                        <a:t>2025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800 597 811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800 597 811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44 042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000000"/>
                          </a:solidFill>
                          <a:latin typeface="Arial Narrow"/>
                        </a:rPr>
                        <a:t>18 178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dirty="0">
                          <a:solidFill>
                            <a:srgbClr val="000000"/>
                          </a:solidFill>
                          <a:latin typeface="Arial Narrow"/>
                        </a:rPr>
                        <a:t>18 178</a:t>
                      </a:r>
                    </a:p>
                  </a:txBody>
                  <a:tcPr marL="36000" marR="36000" marT="18000" marB="1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4153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 err="1">
                <a:latin typeface="Arial Narrow"/>
              </a:rPr>
              <a:t>Kostnad</a:t>
            </a:r>
            <a:r>
              <a:rPr sz="1100" b="0" i="1" dirty="0">
                <a:latin typeface="Arial Narrow"/>
              </a:rPr>
              <a:t> per </a:t>
            </a:r>
            <a:r>
              <a:rPr sz="1100" b="0" i="1" dirty="0" err="1">
                <a:latin typeface="Arial Narrow"/>
              </a:rPr>
              <a:t>anställd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är</a:t>
            </a:r>
            <a:r>
              <a:rPr sz="1100" b="0" i="1" dirty="0">
                <a:latin typeface="Arial Narrow"/>
              </a:rPr>
              <a:t> IT-</a:t>
            </a:r>
            <a:r>
              <a:rPr sz="1100" b="0" i="1" dirty="0" err="1">
                <a:latin typeface="Arial Narrow"/>
              </a:rPr>
              <a:t>prislistans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totala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kostnad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delad</a:t>
            </a:r>
            <a:r>
              <a:rPr sz="1100" b="0" i="1" dirty="0">
                <a:latin typeface="Arial Narrow"/>
              </a:rPr>
              <a:t> med </a:t>
            </a:r>
            <a:r>
              <a:rPr sz="1100" b="0" i="1" dirty="0" err="1">
                <a:latin typeface="Arial Narrow"/>
              </a:rPr>
              <a:t>antalet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anställda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i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stadens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förvaltningar</a:t>
            </a:r>
            <a:r>
              <a:rPr sz="1100" b="0" i="1" dirty="0">
                <a:latin typeface="Arial Narrow"/>
              </a:rPr>
              <a:t> och </a:t>
            </a:r>
            <a:r>
              <a:rPr sz="1100" b="0" i="1" dirty="0" err="1">
                <a:latin typeface="Arial Narrow"/>
              </a:rPr>
              <a:t>bolag</a:t>
            </a:r>
            <a:r>
              <a:rPr sz="1100" b="0" i="1" dirty="0">
                <a:latin typeface="Arial Narrow"/>
              </a:rPr>
              <a:t>. </a:t>
            </a:r>
            <a:r>
              <a:rPr sz="1100" b="0" i="1" dirty="0" err="1">
                <a:latin typeface="Arial Narrow"/>
              </a:rPr>
              <a:t>Jämförelsestörande</a:t>
            </a:r>
            <a:r>
              <a:rPr sz="1100" b="0" i="1" dirty="0">
                <a:latin typeface="Arial Narrow"/>
              </a:rPr>
              <a:t> poster </a:t>
            </a:r>
            <a:r>
              <a:rPr sz="1100" b="0" i="1" dirty="0" err="1">
                <a:latin typeface="Arial Narrow"/>
              </a:rPr>
              <a:t>är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kostnader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som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har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tillkommit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eller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flyttats</a:t>
            </a:r>
            <a:r>
              <a:rPr sz="1100" b="0" i="1" dirty="0">
                <a:latin typeface="Arial Narrow"/>
              </a:rPr>
              <a:t> in </a:t>
            </a:r>
            <a:r>
              <a:rPr sz="1100" b="0" i="1" dirty="0" err="1">
                <a:latin typeface="Arial Narrow"/>
              </a:rPr>
              <a:t>i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prislistan</a:t>
            </a:r>
            <a:r>
              <a:rPr sz="1100" b="0" i="1" dirty="0">
                <a:latin typeface="Arial Narrow"/>
              </a:rPr>
              <a:t> och </a:t>
            </a:r>
            <a:r>
              <a:rPr sz="1100" b="0" i="1" dirty="0" err="1">
                <a:latin typeface="Arial Narrow"/>
              </a:rPr>
              <a:t>som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gör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åren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svåra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att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jämföra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direkt</a:t>
            </a:r>
            <a:r>
              <a:rPr sz="1100" b="0" i="1" dirty="0">
                <a:latin typeface="Arial Narrow"/>
              </a:rPr>
              <a:t> (se </a:t>
            </a:r>
            <a:r>
              <a:rPr sz="1100" b="0" i="1" dirty="0" err="1">
                <a:latin typeface="Arial Narrow"/>
              </a:rPr>
              <a:t>nästa</a:t>
            </a:r>
            <a:r>
              <a:rPr sz="1100" b="0" i="1" dirty="0">
                <a:latin typeface="Arial Narrow"/>
              </a:rPr>
              <a:t> </a:t>
            </a:r>
            <a:r>
              <a:rPr sz="1100" b="0" i="1" dirty="0" err="1">
                <a:latin typeface="Arial Narrow"/>
              </a:rPr>
              <a:t>bild</a:t>
            </a:r>
            <a:r>
              <a:rPr sz="1100" b="0" i="1" dirty="0">
                <a:latin typeface="Arial Narrow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1CB256E-FC72-451D-A3C1-AF97C414C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Förändringar jämfört med 2026</a:t>
            </a:r>
          </a:p>
        </p:txBody>
      </p:sp>
      <p:sp>
        <p:nvSpPr>
          <p:cNvPr id="3" name="Kort ökning"/>
          <p:cNvSpPr/>
          <p:nvPr/>
        </p:nvSpPr>
        <p:spPr>
          <a:xfrm>
            <a:off x="612648" y="1371600"/>
            <a:ext cx="35204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 ökning"/>
          <p:cNvSpPr txBox="1"/>
          <p:nvPr/>
        </p:nvSpPr>
        <p:spPr>
          <a:xfrm>
            <a:off x="795528" y="1481328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>
                <a:solidFill>
                  <a:srgbClr val="A85AD1"/>
                </a:solidFill>
                <a:latin typeface="Arial Narrow"/>
              </a:rPr>
              <a:t>+54 mnkr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000000"/>
                </a:solidFill>
                <a:latin typeface="Arial Narrow"/>
              </a:rPr>
              <a:t>Ökning jämfört med 2026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Arial Narrow"/>
              </a:rPr>
              <a:t>858 → 912 mnkr (+6,3 %)</a:t>
            </a:r>
          </a:p>
        </p:txBody>
      </p:sp>
      <p:sp>
        <p:nvSpPr>
          <p:cNvPr id="5" name="Kort jämförelsestörande"/>
          <p:cNvSpPr/>
          <p:nvPr/>
        </p:nvSpPr>
        <p:spPr>
          <a:xfrm>
            <a:off x="612648" y="2834640"/>
            <a:ext cx="35204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 jämförelsestörande"/>
          <p:cNvSpPr txBox="1"/>
          <p:nvPr/>
        </p:nvSpPr>
        <p:spPr>
          <a:xfrm>
            <a:off x="795528" y="2944368"/>
            <a:ext cx="3154680" cy="948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 i="0" dirty="0">
                <a:solidFill>
                  <a:srgbClr val="A85AD1"/>
                </a:solidFill>
                <a:latin typeface="Arial Narrow"/>
              </a:rPr>
              <a:t>+2,7 %</a:t>
            </a:r>
          </a:p>
          <a:p>
            <a:pPr>
              <a:spcAft>
                <a:spcPts val="200"/>
              </a:spcAft>
            </a:pP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Exkl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. </a:t>
            </a: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jämförelsestörande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 poster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595959"/>
                </a:solidFill>
                <a:latin typeface="Arial Narrow"/>
              </a:rPr>
              <a:t>31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mnkr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av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ökningen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är</a:t>
            </a:r>
            <a:r>
              <a:rPr sz="13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lang="sv-SE" sz="1300" b="0" i="0" dirty="0">
                <a:solidFill>
                  <a:srgbClr val="595959"/>
                </a:solidFill>
                <a:latin typeface="Arial Narrow"/>
              </a:rPr>
              <a:t>"</a:t>
            </a:r>
            <a:r>
              <a:rPr sz="1300" b="0" i="0" dirty="0" err="1">
                <a:solidFill>
                  <a:srgbClr val="595959"/>
                </a:solidFill>
                <a:latin typeface="Arial Narrow"/>
              </a:rPr>
              <a:t>jämförelsestörande</a:t>
            </a:r>
            <a:r>
              <a:rPr lang="sv-SE" sz="1300" b="0" i="0" dirty="0">
                <a:solidFill>
                  <a:srgbClr val="595959"/>
                </a:solidFill>
                <a:latin typeface="Arial Narrow"/>
              </a:rPr>
              <a:t>"</a:t>
            </a:r>
            <a:endParaRPr sz="1300" b="0" i="0" dirty="0">
              <a:solidFill>
                <a:srgbClr val="595959"/>
              </a:solidFill>
              <a:latin typeface="Arial Narrow"/>
            </a:endParaRPr>
          </a:p>
        </p:txBody>
      </p:sp>
      <p:sp>
        <p:nvSpPr>
          <p:cNvPr id="7" name="Kort förklaring"/>
          <p:cNvSpPr/>
          <p:nvPr/>
        </p:nvSpPr>
        <p:spPr>
          <a:xfrm>
            <a:off x="612648" y="4297680"/>
            <a:ext cx="35204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 förklaring"/>
          <p:cNvSpPr txBox="1"/>
          <p:nvPr/>
        </p:nvSpPr>
        <p:spPr>
          <a:xfrm>
            <a:off x="795528" y="4407408"/>
            <a:ext cx="315468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>
                <a:solidFill>
                  <a:srgbClr val="000000"/>
                </a:solidFill>
                <a:latin typeface="Arial Narrow"/>
              </a:rPr>
              <a:t>Vad driver </a:t>
            </a:r>
            <a:r>
              <a:rPr sz="1500" b="1" i="0" dirty="0" err="1">
                <a:solidFill>
                  <a:srgbClr val="000000"/>
                </a:solidFill>
                <a:latin typeface="Arial Narrow"/>
              </a:rPr>
              <a:t>ökningen</a:t>
            </a:r>
            <a:r>
              <a:rPr sz="1500" b="1" i="0" dirty="0">
                <a:solidFill>
                  <a:srgbClr val="000000"/>
                </a:solidFill>
                <a:latin typeface="Arial Narrow"/>
              </a:rPr>
              <a:t>?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sv-SE" sz="1300" b="0" i="0" dirty="0">
                <a:solidFill>
                  <a:srgbClr val="000000"/>
                </a:solidFill>
                <a:latin typeface="Arial Narrow"/>
              </a:rPr>
              <a:t>Ökning antal anställda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>
                <a:solidFill>
                  <a:srgbClr val="000000"/>
                </a:solidFill>
                <a:latin typeface="Arial Narrow"/>
              </a:rPr>
              <a:t>Licenser och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säkerhet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Molntjänster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Livscykelhantering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i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systemobjekten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  <a:p>
            <a:pPr marL="171450" indent="-171450">
              <a:spcAft>
                <a:spcPts val="0"/>
              </a:spcAft>
              <a:buFont typeface="Arial"/>
              <a:buChar char="•"/>
            </a:pP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Kapacitetsutökning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i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stadens</a:t>
            </a:r>
            <a:r>
              <a:rPr sz="1300" b="0" i="0" dirty="0">
                <a:solidFill>
                  <a:srgbClr val="000000"/>
                </a:solidFill>
                <a:latin typeface="Arial Narrow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Arial Narrow"/>
              </a:rPr>
              <a:t>kärnnät</a:t>
            </a:r>
            <a:endParaRPr sz="1300" b="0" i="0" dirty="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" name="Kort diagram"/>
          <p:cNvSpPr/>
          <p:nvPr/>
        </p:nvSpPr>
        <p:spPr>
          <a:xfrm>
            <a:off x="4315968" y="1371600"/>
            <a:ext cx="722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Diagramrubrik"/>
          <p:cNvSpPr txBox="1"/>
          <p:nvPr/>
        </p:nvSpPr>
        <p:spPr>
          <a:xfrm>
            <a:off x="4544568" y="1481328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Arial Narrow"/>
              </a:rPr>
              <a:t>Från 2026 till 2027 – större förändringar (mnkr)</a:t>
            </a:r>
          </a:p>
        </p:txBody>
      </p:sp>
      <p:graphicFrame>
        <p:nvGraphicFramePr>
          <p:cNvPr id="11" name="Diagram förändring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87988"/>
              </p:ext>
            </p:extLst>
          </p:nvPr>
        </p:nvGraphicFramePr>
        <p:xfrm>
          <a:off x="4453128" y="1874519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196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Så fördelas kostnaderna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80160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b="1" i="0" dirty="0">
                <a:latin typeface="Arial Narrow"/>
              </a:rPr>
              <a:t>Kostnaden för varje objekt fördelas med en eller flera fördelningsnycklar. Bolagets eller förvaltningens kostnad beror både på objektets totalkostnad och på fördelningsnyckeln – där möjligheten att påverka varierar. </a:t>
            </a:r>
            <a:endParaRPr sz="1800" b="1" i="0" dirty="0">
              <a:latin typeface="Arial Narr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2240280"/>
            <a:ext cx="3933748" cy="548640"/>
          </a:xfrm>
          <a:prstGeom prst="rect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Arial Narrow"/>
              </a:rPr>
              <a:t>Hög</a:t>
            </a:r>
            <a:r>
              <a:rPr lang="sv-SE" sz="1400" b="1" i="0" dirty="0">
                <a:solidFill>
                  <a:srgbClr val="FFFFFF"/>
                </a:solidFill>
                <a:latin typeface="Arial Narrow"/>
              </a:rPr>
              <a:t>re</a:t>
            </a:r>
            <a:r>
              <a:rPr sz="1400" b="1" i="0" dirty="0">
                <a:solidFill>
                  <a:srgbClr val="FFFFFF"/>
                </a:solidFill>
                <a:latin typeface="Arial Narrow"/>
              </a:rPr>
              <a:t>  36 %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6396" y="2240280"/>
            <a:ext cx="2513228" cy="548640"/>
          </a:xfrm>
          <a:prstGeom prst="rect">
            <a:avLst/>
          </a:prstGeom>
          <a:solidFill>
            <a:srgbClr val="E2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Arial Narrow"/>
              </a:rPr>
              <a:t>Medel  23 %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624" y="2240280"/>
            <a:ext cx="4480103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b="1" i="0" dirty="0">
                <a:solidFill>
                  <a:srgbClr val="000000"/>
                </a:solidFill>
                <a:latin typeface="Arial Narrow"/>
              </a:rPr>
              <a:t>Lägre</a:t>
            </a:r>
            <a:r>
              <a:rPr sz="1400" b="1" i="0" dirty="0">
                <a:solidFill>
                  <a:srgbClr val="000000"/>
                </a:solidFill>
                <a:latin typeface="Arial Narrow"/>
              </a:rPr>
              <a:t>  41 %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324612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 err="1">
                <a:latin typeface="Arial Narrow"/>
              </a:rPr>
              <a:t>Hög</a:t>
            </a:r>
            <a:r>
              <a:rPr lang="sv-SE" sz="1500" b="1" i="0" dirty="0">
                <a:latin typeface="Arial Narrow"/>
              </a:rPr>
              <a:t>re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325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Användarkonton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datorer</a:t>
            </a:r>
            <a:r>
              <a:rPr sz="1200" b="0" i="0" dirty="0">
                <a:latin typeface="Arial Narrow"/>
              </a:rPr>
              <a:t> och licenser</a:t>
            </a: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När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volymen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minskar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sjunker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både</a:t>
            </a:r>
            <a:r>
              <a:rPr sz="1200" b="0" i="0" dirty="0">
                <a:latin typeface="Arial Narrow"/>
              </a:rPr>
              <a:t> er och </a:t>
            </a:r>
            <a:r>
              <a:rPr sz="1200" b="0" i="0" dirty="0" err="1">
                <a:latin typeface="Arial Narrow"/>
              </a:rPr>
              <a:t>stadens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kostnad</a:t>
            </a:r>
            <a:r>
              <a:rPr sz="1200" b="0" i="0" dirty="0">
                <a:latin typeface="Arial Narrow"/>
              </a:rPr>
              <a:t>.</a:t>
            </a:r>
          </a:p>
          <a:p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Arbetsplatslicenser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Arbetsplatssystem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Servicedesk och portal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Centrala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leverantörskostnader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(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delvis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3108960"/>
            <a:ext cx="324612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dirty="0" err="1">
                <a:latin typeface="Arial Narrow"/>
              </a:rPr>
              <a:t>Medel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212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transaktioner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användning</a:t>
            </a:r>
            <a:endParaRPr sz="1200" b="0" i="0" dirty="0">
              <a:latin typeface="Arial Narrow"/>
            </a:endParaRP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Påverkas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ex. </a:t>
            </a:r>
            <a:r>
              <a:rPr sz="1200" b="0" i="0" dirty="0" err="1">
                <a:latin typeface="Arial Narrow"/>
              </a:rPr>
              <a:t>genom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att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rensa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hålla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nere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antalet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transaktioner</a:t>
            </a:r>
            <a:r>
              <a:rPr sz="1200" b="0" i="0" dirty="0">
                <a:latin typeface="Arial Narrow"/>
              </a:rPr>
              <a:t>.</a:t>
            </a:r>
          </a:p>
          <a:p>
            <a:r>
              <a:rPr sz="1100" b="0" i="0" dirty="0">
                <a:solidFill>
                  <a:srgbClr val="595959"/>
                </a:solidFill>
                <a:latin typeface="Arial Narrow"/>
              </a:rPr>
              <a:t>Agresso, Inköp,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Beslutsstöd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statistik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Hypergene, LOIS, SGIS,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Nationella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hälsotjänster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Digitala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för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pedagogisk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verksamhet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Löne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PA-system (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Medvind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9288" y="3017520"/>
            <a:ext cx="35204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3108960"/>
            <a:ext cx="324612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sv-SE" sz="1500" b="1" i="0" dirty="0">
                <a:latin typeface="Arial Narrow"/>
              </a:rPr>
              <a:t>Lägre</a:t>
            </a:r>
            <a:r>
              <a:rPr sz="1500" b="1" i="0" dirty="0">
                <a:latin typeface="Arial Narrow"/>
              </a:rPr>
              <a:t> </a:t>
            </a:r>
            <a:r>
              <a:rPr sz="1500" b="1" i="0" dirty="0" err="1">
                <a:latin typeface="Arial Narrow"/>
              </a:rPr>
              <a:t>påverkbarhet</a:t>
            </a:r>
            <a:r>
              <a:rPr sz="1500" b="0" i="0" dirty="0">
                <a:solidFill>
                  <a:srgbClr val="595959"/>
                </a:solidFill>
                <a:latin typeface="Arial Narrow"/>
              </a:rPr>
              <a:t>  375 mnkr</a:t>
            </a:r>
          </a:p>
          <a:p>
            <a:pPr>
              <a:spcAft>
                <a:spcPts val="400"/>
              </a:spcAft>
            </a:pPr>
            <a:r>
              <a:rPr sz="1200" b="1" i="0" dirty="0" err="1">
                <a:latin typeface="Arial Narrow"/>
              </a:rPr>
              <a:t>Fördelas</a:t>
            </a:r>
            <a:r>
              <a:rPr sz="1200" b="1" i="0" dirty="0">
                <a:latin typeface="Arial Narrow"/>
              </a:rPr>
              <a:t> </a:t>
            </a:r>
            <a:r>
              <a:rPr sz="1200" b="1" i="0" dirty="0" err="1">
                <a:latin typeface="Arial Narrow"/>
              </a:rPr>
              <a:t>på</a:t>
            </a:r>
            <a:r>
              <a:rPr sz="1200" b="1" i="0" dirty="0">
                <a:latin typeface="Arial Narrow"/>
              </a:rPr>
              <a:t>: </a:t>
            </a:r>
            <a:r>
              <a:rPr sz="1200" b="0" i="0" dirty="0" err="1">
                <a:latin typeface="Arial Narrow"/>
              </a:rPr>
              <a:t>Anställda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elever</a:t>
            </a:r>
            <a:r>
              <a:rPr sz="1200" b="0" i="0" dirty="0">
                <a:latin typeface="Arial Narrow"/>
              </a:rPr>
              <a:t>, budget, </a:t>
            </a:r>
            <a:r>
              <a:rPr sz="1200" b="0" i="0" dirty="0" err="1">
                <a:latin typeface="Arial Narrow"/>
              </a:rPr>
              <a:t>historik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eller</a:t>
            </a:r>
            <a:r>
              <a:rPr sz="1200" b="0" i="0" dirty="0">
                <a:latin typeface="Arial Narrow"/>
              </a:rPr>
              <a:t> fast </a:t>
            </a:r>
            <a:r>
              <a:rPr sz="1200" b="0" i="0" dirty="0" err="1">
                <a:latin typeface="Arial Narrow"/>
              </a:rPr>
              <a:t>belopp</a:t>
            </a:r>
            <a:endParaRPr sz="1200" b="0" i="0" dirty="0">
              <a:latin typeface="Arial Narrow"/>
            </a:endParaRPr>
          </a:p>
          <a:p>
            <a:pPr>
              <a:spcAft>
                <a:spcPts val="600"/>
              </a:spcAft>
            </a:pPr>
            <a:r>
              <a:rPr sz="1200" b="0" i="0" dirty="0" err="1">
                <a:latin typeface="Arial Narrow"/>
              </a:rPr>
              <a:t>Egna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åtgärder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flyttar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kostnad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mellan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bolag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förvaltningar</a:t>
            </a:r>
            <a:r>
              <a:rPr sz="1200" b="0" i="0" dirty="0">
                <a:latin typeface="Arial Narrow"/>
              </a:rPr>
              <a:t>. </a:t>
            </a:r>
            <a:r>
              <a:rPr sz="1200" b="0" i="0" dirty="0" err="1">
                <a:latin typeface="Arial Narrow"/>
              </a:rPr>
              <a:t>Påverkan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sker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snarare </a:t>
            </a:r>
            <a:r>
              <a:rPr sz="1200" b="0" i="0" dirty="0" err="1">
                <a:latin typeface="Arial Narrow"/>
              </a:rPr>
              <a:t>i</a:t>
            </a:r>
            <a:r>
              <a:rPr sz="1200" b="0" i="0" dirty="0">
                <a:latin typeface="Arial Narrow"/>
              </a:rPr>
              <a:t> </a:t>
            </a:r>
            <a:r>
              <a:rPr lang="sv-SE" sz="1200" b="0" i="0" dirty="0">
                <a:latin typeface="Arial Narrow"/>
              </a:rPr>
              <a:t>olika </a:t>
            </a:r>
            <a:r>
              <a:rPr lang="sv-SE" sz="1200" b="0" i="0" dirty="0" err="1">
                <a:latin typeface="Arial Narrow"/>
              </a:rPr>
              <a:t>samverkansforum</a:t>
            </a:r>
            <a:r>
              <a:rPr lang="sv-SE" sz="1200" b="0" i="0" dirty="0">
                <a:latin typeface="Arial Narrow"/>
              </a:rPr>
              <a:t>. </a:t>
            </a:r>
            <a:endParaRPr sz="1200" b="0" i="0" dirty="0">
              <a:latin typeface="Arial Narrow"/>
            </a:endParaRPr>
          </a:p>
          <a:p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Applikationsplattformar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Datakommunikation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arkivet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eDok, E-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vald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Identitets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åtkomsthantering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ILS,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Löne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- och PA-system,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Sociala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system, SSIP,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Stadsövergripande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informationssäkerhet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Stockholm Webb,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Utbildningsplattform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Verksamhetsarkitektur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och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metodstöd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Arial Narrow"/>
              </a:rPr>
              <a:t>Öppna</a:t>
            </a:r>
            <a:r>
              <a:rPr sz="1100" b="0" i="0" dirty="0">
                <a:solidFill>
                  <a:srgbClr val="595959"/>
                </a:solidFill>
                <a:latin typeface="Arial Narrow"/>
              </a:rPr>
              <a:t>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6188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latin typeface="Arial Narrow"/>
              </a:rPr>
              <a:t>Andelar beräknade på objektens kostnader i IT-prislistan 2027.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Så påverkar ni er kostnad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325880"/>
            <a:ext cx="534466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36192"/>
            <a:ext cx="4887468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1" i="0" dirty="0">
                <a:latin typeface="Arial Narrow"/>
              </a:rPr>
              <a:t>Er </a:t>
            </a:r>
            <a:r>
              <a:rPr sz="1600" b="1" i="0" dirty="0" err="1">
                <a:latin typeface="Arial Narrow"/>
              </a:rPr>
              <a:t>andel</a:t>
            </a:r>
            <a:r>
              <a:rPr sz="1600" b="1" i="0" dirty="0">
                <a:latin typeface="Arial Narrow"/>
              </a:rPr>
              <a:t> – det </a:t>
            </a:r>
            <a:r>
              <a:rPr sz="1600" b="1" i="0" dirty="0" err="1">
                <a:latin typeface="Arial Narrow"/>
              </a:rPr>
              <a:t>ni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påverkar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själva</a:t>
            </a:r>
            <a:endParaRPr sz="1600" b="1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Håll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användarkonton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datorer</a:t>
            </a:r>
            <a:r>
              <a:rPr sz="1300" b="0" i="0" dirty="0">
                <a:latin typeface="Arial Narrow"/>
              </a:rPr>
              <a:t> och licenser </a:t>
            </a:r>
            <a:r>
              <a:rPr sz="1300" b="0" i="0" dirty="0" err="1">
                <a:latin typeface="Arial Narrow"/>
              </a:rPr>
              <a:t>aktuellt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Avsluta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användare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behörigheter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system </a:t>
            </a:r>
            <a:r>
              <a:rPr sz="1300" b="0" i="0" dirty="0" err="1">
                <a:latin typeface="Arial Narrow"/>
              </a:rPr>
              <a:t>som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fördelas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på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användare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Håll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nere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antalet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transaktioner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där</a:t>
            </a:r>
            <a:r>
              <a:rPr sz="1300" b="0" i="0" dirty="0">
                <a:latin typeface="Arial Narrow"/>
              </a:rPr>
              <a:t> de </a:t>
            </a:r>
            <a:r>
              <a:rPr sz="1300" b="0" i="0" dirty="0" err="1">
                <a:latin typeface="Arial Narrow"/>
              </a:rPr>
              <a:t>styr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fördelningen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1636" y="1325880"/>
            <a:ext cx="534466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60236" y="1536192"/>
            <a:ext cx="4887468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600" b="1" i="0" dirty="0" err="1">
                <a:latin typeface="Arial Narrow"/>
              </a:rPr>
              <a:t>Objektets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totalkostnad</a:t>
            </a:r>
            <a:r>
              <a:rPr sz="1600" b="1" i="0" dirty="0">
                <a:latin typeface="Arial Narrow"/>
              </a:rPr>
              <a:t> – det </a:t>
            </a:r>
            <a:r>
              <a:rPr sz="1600" b="1" i="0" dirty="0" err="1">
                <a:latin typeface="Arial Narrow"/>
              </a:rPr>
              <a:t>som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påverkas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gemensamt</a:t>
            </a:r>
            <a:endParaRPr sz="1600" b="1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Styrs</a:t>
            </a:r>
            <a:r>
              <a:rPr sz="1300" b="0" i="0" dirty="0">
                <a:latin typeface="Arial Narrow"/>
              </a:rPr>
              <a:t> av </a:t>
            </a:r>
            <a:r>
              <a:rPr sz="1300" b="0" i="0" dirty="0" err="1">
                <a:latin typeface="Arial Narrow"/>
              </a:rPr>
              <a:t>avtal</a:t>
            </a:r>
            <a:r>
              <a:rPr sz="1300" b="0" i="0" dirty="0">
                <a:latin typeface="Arial Narrow"/>
              </a:rPr>
              <a:t>, </a:t>
            </a:r>
            <a:r>
              <a:rPr sz="1300" b="0" i="0" dirty="0" err="1">
                <a:latin typeface="Arial Narrow"/>
              </a:rPr>
              <a:t>leverantörspriser</a:t>
            </a:r>
            <a:r>
              <a:rPr sz="1300" b="0" i="0" dirty="0">
                <a:latin typeface="Arial Narrow"/>
              </a:rPr>
              <a:t> och </a:t>
            </a:r>
            <a:r>
              <a:rPr sz="1300" b="0" i="0" dirty="0" err="1">
                <a:latin typeface="Arial Narrow"/>
              </a:rPr>
              <a:t>vilka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tjänster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gemensamt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väljer</a:t>
            </a:r>
            <a:r>
              <a:rPr sz="1300" b="0" i="0" dirty="0">
                <a:latin typeface="Arial Narrow"/>
              </a:rPr>
              <a:t>.</a:t>
            </a:r>
            <a:endParaRPr lang="sv-SE" sz="1300" b="0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lang="sv-SE" sz="1300" dirty="0">
                <a:latin typeface="Arial Narrow"/>
              </a:rPr>
              <a:t>För vissa objekt påverkas totalkostnaden även av stadens totala antal användarkonton, datorer och licenser.</a:t>
            </a:r>
            <a:endParaRPr sz="1300" b="0" i="0" dirty="0">
              <a:latin typeface="Arial Narrow"/>
            </a:endParaRP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Lämna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behov</a:t>
            </a:r>
            <a:r>
              <a:rPr sz="1300" b="0" i="0" dirty="0">
                <a:latin typeface="Arial Narrow"/>
              </a:rPr>
              <a:t> och </a:t>
            </a:r>
            <a:r>
              <a:rPr lang="sv-SE" sz="1300" b="0" i="0" dirty="0">
                <a:latin typeface="Arial Narrow"/>
              </a:rPr>
              <a:t>önskemål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lang="sv-SE" sz="1300" b="0" i="0" dirty="0">
                <a:latin typeface="Arial Narrow"/>
              </a:rPr>
              <a:t>objektens olika </a:t>
            </a:r>
            <a:r>
              <a:rPr lang="sv-SE" sz="1300" b="0" i="0" dirty="0" err="1">
                <a:latin typeface="Arial Narrow"/>
              </a:rPr>
              <a:t>samverkansforum</a:t>
            </a:r>
            <a:r>
              <a:rPr sz="1300" b="0" i="0" dirty="0">
                <a:latin typeface="Arial Narrow"/>
              </a:rPr>
              <a:t>.</a:t>
            </a:r>
          </a:p>
          <a:p>
            <a:pPr marL="180975" indent="-180975">
              <a:spcAft>
                <a:spcPts val="300"/>
              </a:spcAft>
              <a:buFont typeface="Arial"/>
              <a:buChar char="•"/>
            </a:pPr>
            <a:r>
              <a:rPr sz="1300" b="0" i="0" dirty="0" err="1">
                <a:latin typeface="Arial Narrow"/>
              </a:rPr>
              <a:t>Använd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stadens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gemensamma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plattformar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i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stället</a:t>
            </a:r>
            <a:r>
              <a:rPr sz="1300" b="0" i="0" dirty="0">
                <a:latin typeface="Arial Narrow"/>
              </a:rPr>
              <a:t> för </a:t>
            </a:r>
            <a:r>
              <a:rPr sz="1300" b="0" i="0" dirty="0" err="1">
                <a:latin typeface="Arial Narrow"/>
              </a:rPr>
              <a:t>egna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parallella</a:t>
            </a:r>
            <a:r>
              <a:rPr sz="1300" b="0" i="0" dirty="0">
                <a:latin typeface="Arial Narrow"/>
              </a:rPr>
              <a:t> </a:t>
            </a:r>
            <a:r>
              <a:rPr sz="1300" b="0" i="0" dirty="0" err="1">
                <a:latin typeface="Arial Narrow"/>
              </a:rPr>
              <a:t>lösningar</a:t>
            </a:r>
            <a:r>
              <a:rPr sz="1300" b="0" i="0" dirty="0">
                <a:latin typeface="Arial Narrow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206240"/>
            <a:ext cx="10963656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 dirty="0" err="1">
                <a:latin typeface="Arial Narrow"/>
              </a:rPr>
              <a:t>Att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göra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före</a:t>
            </a:r>
            <a:r>
              <a:rPr sz="1600" b="1" i="0" dirty="0">
                <a:latin typeface="Arial Narrow"/>
              </a:rPr>
              <a:t> </a:t>
            </a:r>
            <a:r>
              <a:rPr sz="1600" b="1" i="0" dirty="0" err="1">
                <a:latin typeface="Arial Narrow"/>
              </a:rPr>
              <a:t>mätdatum</a:t>
            </a:r>
            <a:endParaRPr sz="1600" b="1" i="0" dirty="0">
              <a:highlight>
                <a:srgbClr val="FFFF00"/>
              </a:highlight>
              <a:latin typeface="Arial Narro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2648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846320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latin typeface="Arial Narrow"/>
              </a:rPr>
              <a:t>Inventera konton och datorer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394959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latin typeface="Arial Narrow"/>
              </a:rPr>
              <a:t>Avsluta konton för medarbetare som slutat och avveckla datorer som inte används.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46320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i="0">
                <a:latin typeface="Arial Narrow"/>
              </a:rPr>
              <a:t>Rensa användare i systemen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394959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 dirty="0">
                <a:latin typeface="Arial Narrow"/>
              </a:rPr>
              <a:t>Se </a:t>
            </a:r>
            <a:r>
              <a:rPr sz="1200" b="0" i="0" dirty="0" err="1">
                <a:latin typeface="Arial Narrow"/>
              </a:rPr>
              <a:t>över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användare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behörigheter</a:t>
            </a:r>
            <a:r>
              <a:rPr sz="1200" b="0" i="0" dirty="0">
                <a:latin typeface="Arial Narrow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4663440"/>
            <a:ext cx="3502152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4846320"/>
            <a:ext cx="411480" cy="411480"/>
          </a:xfrm>
          <a:prstGeom prst="ellipse">
            <a:avLst/>
          </a:prstGeom>
          <a:solidFill>
            <a:srgbClr val="A85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4846320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lang="sv-SE" sz="1300" b="1" i="0" dirty="0">
                <a:latin typeface="Arial Narrow"/>
              </a:rPr>
              <a:t>Gör det till en rutin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CDC5FF4A-A7C6-FB08-719E-63E143C804A0}"/>
              </a:ext>
            </a:extLst>
          </p:cNvPr>
          <p:cNvSpPr txBox="1"/>
          <p:nvPr/>
        </p:nvSpPr>
        <p:spPr>
          <a:xfrm>
            <a:off x="8257031" y="5394959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 dirty="0" err="1">
                <a:latin typeface="Arial Narrow"/>
              </a:rPr>
              <a:t>Avsluta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konton</a:t>
            </a:r>
            <a:r>
              <a:rPr sz="1200" b="0" i="0" dirty="0">
                <a:latin typeface="Arial Narrow"/>
              </a:rPr>
              <a:t> och licenser vid </a:t>
            </a:r>
            <a:r>
              <a:rPr sz="1200" b="0" i="0" dirty="0" err="1">
                <a:latin typeface="Arial Narrow"/>
              </a:rPr>
              <a:t>avslutad</a:t>
            </a:r>
            <a:r>
              <a:rPr sz="1200" b="0" i="0" dirty="0">
                <a:latin typeface="Arial Narrow"/>
              </a:rPr>
              <a:t> </a:t>
            </a:r>
            <a:r>
              <a:rPr sz="1200" b="0" i="0" dirty="0" err="1">
                <a:latin typeface="Arial Narrow"/>
              </a:rPr>
              <a:t>anställning</a:t>
            </a:r>
            <a:r>
              <a:rPr sz="1200" b="0" i="0" dirty="0">
                <a:latin typeface="Arial Narrow"/>
              </a:rPr>
              <a:t>, </a:t>
            </a:r>
            <a:r>
              <a:rPr sz="1200" b="0" i="0" dirty="0" err="1">
                <a:latin typeface="Arial Narrow"/>
              </a:rPr>
              <a:t>rollbyte</a:t>
            </a:r>
            <a:r>
              <a:rPr sz="1200" b="0" i="0" dirty="0">
                <a:latin typeface="Arial Narrow"/>
              </a:rPr>
              <a:t> och </a:t>
            </a:r>
            <a:r>
              <a:rPr sz="1200" b="0" i="0" dirty="0" err="1">
                <a:latin typeface="Arial Narrow"/>
              </a:rPr>
              <a:t>omorganisation</a:t>
            </a:r>
            <a:r>
              <a:rPr sz="1200" b="0" i="0" dirty="0">
                <a:latin typeface="Arial Narrow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A–C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03812"/>
              </p:ext>
            </p:extLst>
          </p:nvPr>
        </p:nvGraphicFramePr>
        <p:xfrm>
          <a:off x="589286" y="1288800"/>
          <a:ext cx="11339361" cy="1531441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459755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Agresso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Kommunkoncernens ekonomisystem som används för bland annat ekonomisk redovisning, fakturahantering och uppföljning.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användare i systemet samt huvudbokstransaktioner.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37 212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36 800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656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Applikationsplattformar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applikationsplattformar för exempelvis e-tjänster, integrationer, medborgar- och kundkontakter (CRM), webbhotell och mina sidor.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56 950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54 235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84748"/>
                  </a:ext>
                </a:extLst>
              </a:tr>
              <a:tr h="276671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Arbetsplatslicenser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Licenser för arbetsplats ”Microsoft 365” som bland annat innehåller Officeprogrammen och antivirus för stadens bolag och förvaltningar. 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delas upp per avtal och fördelas utifrån en sammanvägning av antal användarkonton och datorer (förvaltningsavtalet och bolagsavtalet) respektive antalet licenser (avtalet för pedagogisk verksamhet).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103 236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87 219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Ökning av kostnader främst till följd av nya säkerhetslicenser (Microsoft </a:t>
                      </a:r>
                      <a:r>
                        <a:rPr lang="sv-SE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Defender</a:t>
                      </a:r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).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548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Arbetsplatssystem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plattformar för digital arbetsplats. Klienthårdvara och tillhörande applikationer/ mjukvara med funktioner för bland annat säkerhet, virusskydd, inloggning och tjänstekort.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delas upp per leverans och fördelas utifrån en  sammanvägning av antal användarkonton och datorer per leverans.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81 905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79 373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5331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Beslutsstöd och statistik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(Business objects) och datalagring för beslutsstöd. Data från olika informationsområden såsom ekonomi, personal och befolkning.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användare (systemstödet) samt anställda (datalagringen).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24 180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23 800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53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Centrala leverantörskostnader</a:t>
                      </a:r>
                    </a:p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Objektet omfattar de två huvudleverantörernas leveransstyrning, koordinering samt deltagande i olika forum i samverkansmodellen. Inkluderar kostnader för GSIT-avtalen samt Systemtjänsteavtalet.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användarkonton och datorer per leverans (FOB/SPV). Kostnaden för systemtjänsteavtalet fördelas utifrån antal anställda och elever.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55 000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49 064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9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56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D–H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943487"/>
              </p:ext>
            </p:extLst>
          </p:nvPr>
        </p:nvGraphicFramePr>
        <p:xfrm>
          <a:off x="589286" y="1288800"/>
          <a:ext cx="11339361" cy="164416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459755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Datakommunikation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dirty="0">
                          <a:latin typeface="Arial Narrow" panose="020B0606020202030204" pitchFamily="34" charset="0"/>
                        </a:rPr>
                        <a:t>Avser de centrala delarna av stadens nätverk för datakommunikation som nyttjas av stadens samtliga verksamheter. Här ingår även bl. a. medel för Webbfilter, ersättning till Tietoevry/Fujitsu för VPN-lösning, mm. </a:t>
                      </a:r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 och elever.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64 055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63 858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06561"/>
                  </a:ext>
                </a:extLst>
              </a:tr>
              <a:tr h="271727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Digitala stöd för pedagogisk verksamhet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Verksamhetssystem för stadens pedagogiska verksamheter.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kostnaden för gamla och nya system utifrån användning.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97 374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106 734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84748"/>
                  </a:ext>
                </a:extLst>
              </a:tr>
              <a:tr h="276671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E-arkivet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arkivlösning.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9 600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9 500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9548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eDok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systemlösning för ärende- och dokumenthantering.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eDok fördelas utifrån antal anställda. Kostnaden för Diabas efter historiskt antal användare.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16 600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14 000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5331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E-vald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Administration av stadens samtliga förtroendeuppdrag och förtroendevalda.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 belopp per förvaltning.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1 115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1 115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53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Hypergene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Systemstöd för ekonomisk planering, budgetering, uppföljning och analys.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användare.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8 600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Nyttjas inom stadens förvaltningar, samt av två bolag.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90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88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I–L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15546"/>
              </p:ext>
            </p:extLst>
          </p:nvPr>
        </p:nvGraphicFramePr>
        <p:xfrm>
          <a:off x="589286" y="1288800"/>
          <a:ext cx="11339361" cy="95401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Identitets- och åtkomsthantering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tjänster för användarkataloger, identitetshantering och inloggning. Området innehåller bland annat tjänster för elektroniska underskrifter, inloggningsmetoder (ex tjänstekort och BankID), digitala certifikat och kontohantering.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39 000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36 000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Kostnadsökningen 2026 förklaras främst av förvaltningskostnader vid etableringen av krypteringsplattform (informationssäkerhet).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61480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ILS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Stadens system för integrerad ledning och uppföljning av verksamhet och ekonomi.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7 660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Modul för informationssäkerhet (alla) och lokalförsörjning (enbart förvaltningar) tillkommer år 2027.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4150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Inköp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Systemstöd för stadens inköpsprocess som innefattar inköpssystemet i Agresso, upphandlings- och avtalssystem samt inköpsanalysverktyg (spend).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inköpssystemet fördelas utifrån antal transaktioner och rekvirenter i Agresso. Övriga delar fördelas utifrån stor, medel eller liten inköpsorganisation utifrån inköpsanalysverktyget (spend).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17 300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16 800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685692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LOIS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lokaladministrativa system för in- och uthyrning av lokaler och lägenheter.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Rörlig kostnad utifrån antalet avtal samt fast kostnad med olika kostnadsnivåer utifrån användning/antal kontrakt.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4 703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4 300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34422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Löne- och PA-system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löne- och personaladministrativa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system som bland annat innefattar lönesystem, rekryteringsannonssystem och planeringssystem för schemaläggning, bemanning och tid.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Kostnaden för löne- och PA-system fördelas efter antal anställda, rekryteringsannonssystemet efter antal anställda i de bolag och förvaltningar som deltog i upphandlingen, planeringssystemet Medvind utifrån genomsnittligt antal användare.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50 038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46 000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6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N–S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44830"/>
              </p:ext>
            </p:extLst>
          </p:nvPr>
        </p:nvGraphicFramePr>
        <p:xfrm>
          <a:off x="589286" y="1288800"/>
          <a:ext cx="11339361" cy="1113021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Nationella e-hälsotjänster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stadens samverkan, säkerhetslösningar och avgifter för användning av regionala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och nationella eHälsotjänster.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kortinnehavare (gemensamma tjänster) och användning av tjänsterna.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4 400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34422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Servicedesk och portal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kostnader för stadens Service Desk, som ansvarar för support gällande drift och förvaltning av stadens gemensamma verksamhetssystem, drift- och Installationstjänster för datakommunikationsnät, telefoni samt terminaler.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Sammanvägning av antal användarkonton och datorer per leverans (FOB/SPV).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84 380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79 208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696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Sociala system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verksamhetssystem för socialtjänst och omsorgsverksamheter.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Utifrån budget 2025 för berörda verksamhetsområden.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76 899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67 100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073075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SSIP (systemstöd för stora investeringar)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för stora investeringar.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Utifrån historisk användning.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sv-SE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(x)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75684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Stadsövergripande informationssäkerhet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etableringen av en stadsgemensam CERT-funktion (Computer Emergency Respons Team) för att en stärkt hantering av it-säkerhetsincidenter och cyberhot.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 och elever.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14 974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889008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Stockholm stads geografiska informationssystem (SGIS)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gemensamma geodataplattform.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Fast kostnad utifrån typ av licens samt rörlig kostnad utifrån användning.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17 000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16 000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103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59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2B779BC-3ADA-4E8A-88DF-A95F15B11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Information om objekten i IT-prislistan</a:t>
            </a:r>
            <a:br>
              <a:rPr lang="sv-SE" dirty="0"/>
            </a:br>
            <a:r>
              <a:rPr lang="sv-SE" sz="2000" b="0" i="1" dirty="0"/>
              <a:t>Objekt S–Ö</a:t>
            </a:r>
            <a:endParaRPr lang="sv-SE" b="0" i="1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A6D9FE83-9756-4CBA-9614-41231EC9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4228"/>
              </p:ext>
            </p:extLst>
          </p:nvPr>
        </p:nvGraphicFramePr>
        <p:xfrm>
          <a:off x="589286" y="1288800"/>
          <a:ext cx="11339361" cy="79501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537654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96594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588007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4496788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3113762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655003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175833257"/>
                    </a:ext>
                  </a:extLst>
                </a:gridCol>
                <a:gridCol w="2067345">
                  <a:extLst>
                    <a:ext uri="{9D8B030D-6E8A-4147-A177-3AD203B41FA5}">
                      <a16:colId xmlns:a16="http://schemas.microsoft.com/office/drawing/2014/main" val="2896346506"/>
                    </a:ext>
                  </a:extLst>
                </a:gridCol>
              </a:tblGrid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Objekt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Om objektet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Kostnadsfördelning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Bolag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Förvaltningar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8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2027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Pris 2026 (tkr)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Kommentarer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5510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Stockholm Webb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Innefattar kostnader för det stadsgemensamma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intranätet, stadens publika och gemensamma multisajt på toppdomänen .stockholm samt gemensamma plattformar för miniwebbar och verksamhetswebbar.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8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87857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Utbildningsplattform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Stadens systemstöd för e-lärande</a:t>
                      </a:r>
                    </a:p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och utbildningsadministration.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6 800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93643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Verksamhetsarkitektur och metodstöd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Metodstöd och utbildningar för stadens projektstyrningsmodell Lilla Ratten, förvaltningsmodell pm3, Mguide, Uguide och Tguide samt systemstödet Qualiware, modelleringsverktyg för publikation på intranätet.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4 603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4 500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04141"/>
                  </a:ext>
                </a:extLst>
              </a:tr>
              <a:tr h="159003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Öppna data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Stadsgemensam plattform för öppna data.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Antal anställda. 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x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850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1 150</a:t>
                      </a: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0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36000" marR="36000" marT="18000" marB="18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47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0089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67aa371da62cb12a661987a1bf5f35ea9b41"/>
</p:tagLst>
</file>

<file path=ppt/theme/theme1.xml><?xml version="1.0" encoding="utf-8"?>
<a:theme xmlns:a="http://schemas.openxmlformats.org/drawingml/2006/main" name="Sthlm Presentation bred skärm">
  <a:themeElements>
    <a:clrScheme name="Stockholm stad NY">
      <a:dk1>
        <a:srgbClr val="000000"/>
      </a:dk1>
      <a:lt1>
        <a:srgbClr val="FFFFFF"/>
      </a:lt1>
      <a:dk2>
        <a:srgbClr val="888B8D"/>
      </a:dk2>
      <a:lt2>
        <a:srgbClr val="EDEAE4"/>
      </a:lt2>
      <a:accent1>
        <a:srgbClr val="E5006C"/>
      </a:accent1>
      <a:accent2>
        <a:srgbClr val="009991"/>
      </a:accent2>
      <a:accent3>
        <a:srgbClr val="E9500E"/>
      </a:accent3>
      <a:accent4>
        <a:srgbClr val="76368C"/>
      </a:accent4>
      <a:accent5>
        <a:srgbClr val="007FC8"/>
      </a:accent5>
      <a:accent6>
        <a:srgbClr val="FCBF0A"/>
      </a:accent6>
      <a:hlink>
        <a:srgbClr val="007FC8"/>
      </a:hlink>
      <a:folHlink>
        <a:srgbClr val="76368C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Accent Mörkgul">
      <a:srgbClr val="E29900"/>
    </a:custClr>
    <a:custClr name="Accent Mörkblå">
      <a:srgbClr val="004976"/>
    </a:custClr>
    <a:custClr name="Accent mörkrosa">
      <a:srgbClr val="890C58"/>
    </a:custClr>
    <a:custClr name="Accent Mörkgrön">
      <a:srgbClr val="00594F"/>
    </a:custClr>
    <a:custClr name="Accent mörkorange">
      <a:srgbClr val="B92F00"/>
    </a:custClr>
    <a:custClr name="Accent mörklila">
      <a:srgbClr val="470A68"/>
    </a:custClr>
    <a:custClr name="Accent mörk Svart">
      <a:srgbClr val="000000"/>
    </a:custClr>
    <a:custClr>
      <a:srgbClr val="FFFFFF"/>
    </a:custClr>
    <a:custClr>
      <a:srgbClr val="FFFFFF"/>
    </a:custClr>
    <a:custClr>
      <a:srgbClr val="FFFFFF"/>
    </a:custClr>
    <a:custClr name="Primärgul">
      <a:srgbClr val="FCBF0A"/>
    </a:custClr>
    <a:custClr name="Primärblå">
      <a:srgbClr val="007FC8"/>
    </a:custClr>
    <a:custClr name="Primärrosa">
      <a:srgbClr val="E5006C"/>
    </a:custClr>
    <a:custClr name="Primärgrön">
      <a:srgbClr val="009991"/>
    </a:custClr>
    <a:custClr name="Primärorange">
      <a:srgbClr val="E9500E"/>
    </a:custClr>
    <a:custClr name="Primärlila">
      <a:srgbClr val="76368C"/>
    </a:custClr>
    <a:custClr name="Primär Grå">
      <a:srgbClr val="888B8D"/>
    </a:custClr>
    <a:custClr>
      <a:srgbClr val="FFFFFF"/>
    </a:custClr>
    <a:custClr>
      <a:srgbClr val="FFFFFF"/>
    </a:custClr>
    <a:custClr>
      <a:srgbClr val="FFFFFF"/>
    </a:custClr>
    <a:custClr name="Sekundär Gul">
      <a:srgbClr val="FFEAAD"/>
    </a:custClr>
    <a:custClr name="Sekundär blå">
      <a:srgbClr val="A3C9EC"/>
    </a:custClr>
    <a:custClr name="Sekundär Rosa">
      <a:srgbClr val="F3A0BA"/>
    </a:custClr>
    <a:custClr name="Sekundär grön">
      <a:srgbClr val="AAD9D6"/>
    </a:custClr>
    <a:custClr name="Sekundär Orange">
      <a:srgbClr val="F9BF9C"/>
    </a:custClr>
    <a:custClr name="Sekundär Lila">
      <a:srgbClr val="C5B4D9"/>
    </a:custClr>
    <a:custClr name="Sekundär grå">
      <a:srgbClr val="EDEAE4"/>
    </a:custClr>
    <a:custClr>
      <a:srgbClr val="FFFFFF"/>
    </a:custClr>
    <a:custClr>
      <a:srgbClr val="FFFFFF"/>
    </a:custClr>
    <a:custClr>
      <a:srgbClr val="FFFFFF"/>
    </a:custClr>
    <a:custClr name="Accent Ljusgul">
      <a:srgbClr val="FFF7E1"/>
    </a:custClr>
    <a:custClr name="Accent ljusblå">
      <a:srgbClr val="DDE9F8"/>
    </a:custClr>
    <a:custClr name="Accent ljusrosa">
      <a:srgbClr val="FCE3EB"/>
    </a:custClr>
    <a:custClr name="Accent ljusgrön">
      <a:srgbClr val="E1F1EF"/>
    </a:custClr>
    <a:custClr name="Accent ljusorange">
      <a:srgbClr val="FDE6D8"/>
    </a:custClr>
    <a:custClr name="Accent ljuslila">
      <a:srgbClr val="E8DFF0"/>
    </a:custClr>
    <a:custClr name="Accent Ljusgrå">
      <a:srgbClr val="F4F3EF"/>
    </a:custClr>
  </a:custClrLst>
  <a:extLst>
    <a:ext uri="{05A4C25C-085E-4340-85A3-A5531E510DB2}">
      <thm15:themeFamily xmlns:thm15="http://schemas.microsoft.com/office/thememl/2012/main" name="Sthlm Presentation bred skärm.potx" id="{19751043-DFFA-4F23-999B-0EBAB7B8E981}" vid="{0C650E62-02BA-4761-A4C7-E19C226E0AC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ockholms st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EB6260EB67F84B9E0C45D0BC2FFC69" ma:contentTypeVersion="2" ma:contentTypeDescription="Skapa ett nytt dokument." ma:contentTypeScope="" ma:versionID="bb490db91070a8988030335d6b3519b5">
  <xsd:schema xmlns:xsd="http://www.w3.org/2001/XMLSchema" xmlns:xs="http://www.w3.org/2001/XMLSchema" xmlns:p="http://schemas.microsoft.com/office/2006/metadata/properties" xmlns:ns2="7deb370b-695f-4f30-83a0-47707ca2248d" targetNamespace="http://schemas.microsoft.com/office/2006/metadata/properties" ma:root="true" ma:fieldsID="2cd2361ac91d1c3cc88fa31c6f3cbad2" ns2:_="">
    <xsd:import namespace="7deb370b-695f-4f30-83a0-47707ca2248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b370b-695f-4f30-83a0-47707ca2248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005DFB-38E5-452C-AA27-57D0C4CDE9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eb370b-695f-4f30-83a0-47707ca224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D27A61-F50E-4C50-B315-20831F9BF0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7864C1-A685-4B8D-82ED-F83EF76A4D0B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10c3a147-0d64-46aa-a281-dc97358e8373"/>
    <ds:schemaRef ds:uri="http://purl.org/dc/terms/"/>
    <ds:schemaRef ds:uri="http://purl.org/dc/dcmitype/"/>
    <ds:schemaRef ds:uri="http://schemas.microsoft.com/office/infopath/2007/PartnerControls"/>
    <ds:schemaRef ds:uri="d7532cd0-e888-47d6-8f58-db0210f2500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1956</TotalTime>
  <Words>1939</Words>
  <Application>Microsoft Office PowerPoint</Application>
  <PresentationFormat>Bredbild</PresentationFormat>
  <Paragraphs>359</Paragraphs>
  <Slides>11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Arial</vt:lpstr>
      <vt:lpstr>Arial Narrow</vt:lpstr>
      <vt:lpstr>Sthlm Presentation bred skärm</vt:lpstr>
      <vt:lpstr>Information om IT-prislistan 2027</vt:lpstr>
      <vt:lpstr>Om dokumentet</vt:lpstr>
      <vt:lpstr>IT-prislistan 2027 i korthet</vt:lpstr>
      <vt:lpstr>Förändringar jämfört med 2026</vt:lpstr>
      <vt:lpstr>Så fördelas kostnaderna</vt:lpstr>
      <vt:lpstr>Så påverkar ni er kostnad</vt:lpstr>
      <vt:lpstr>Information om objekten i IT-prislistan Objekt från A* till C*</vt:lpstr>
      <vt:lpstr>Information om objekten i IT-prislistan Objekt från D* till H*</vt:lpstr>
      <vt:lpstr>Information om objekten i IT-prislistan Objekt från I* till L*</vt:lpstr>
      <vt:lpstr>Information om objekten i IT-prislistan Objekt från M* till S*</vt:lpstr>
      <vt:lpstr>Information om objekten i IT-prislistan Objekt från T* till Ö*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Andreas Stockhem</dc:creator>
  <cp:lastModifiedBy>Andreas Stockhem</cp:lastModifiedBy>
  <cp:revision>74</cp:revision>
  <cp:lastPrinted>2025-09-25T10:51:57Z</cp:lastPrinted>
  <dcterms:created xsi:type="dcterms:W3CDTF">2025-09-24T12:29:52Z</dcterms:created>
  <dcterms:modified xsi:type="dcterms:W3CDTF">2026-10-22T14:00:02Z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0x010100D9EB6260EB67F84B9E0C45D0BC2FFC69</vt:lpwstr>
  </property>
  <property fmtid="{D5CDD505-2E9C-101B-9397-08002B2CF9AE}" pid="3" name="Order">
    <vt:r8>3107000</vt:r8>
  </property>
  <property fmtid="{D5CDD505-2E9C-101B-9397-08002B2CF9AE}" pid="4" name="MediaServiceImageTags">
    <vt:lpwstr/>
  </property>
</Properties>
</file>