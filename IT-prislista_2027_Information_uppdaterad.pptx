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91" r:id="rId5"/>
    <p:sldId id="903" r:id="rId6"/>
    <p:sldId id="904" r:id="rId7"/>
    <p:sldId id="901" r:id="rId8"/>
    <p:sldId id="905" r:id="rId9"/>
    <p:sldId id="906" r:id="rId10"/>
    <p:sldId id="300" r:id="rId11"/>
    <p:sldId id="302" r:id="rId12"/>
    <p:sldId id="304" r:id="rId13"/>
    <p:sldId id="305" r:id="rId14"/>
    <p:sldId id="303" r:id="rId15"/>
  </p:sldIdLst>
  <p:sldSz cx="12192000" cy="6858000"/>
  <p:notesSz cx="6797675" cy="9926638"/>
  <p:custDataLst>
    <p:tags r:id="rId18"/>
  </p:custData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907" userDrawn="1">
          <p15:clr>
            <a:srgbClr val="A4A3A4"/>
          </p15:clr>
        </p15:guide>
        <p15:guide id="3" orient="horz" pos="3758" userDrawn="1">
          <p15:clr>
            <a:srgbClr val="A4A3A4"/>
          </p15:clr>
        </p15:guide>
        <p15:guide id="4" orient="horz" pos="4227" userDrawn="1">
          <p15:clr>
            <a:srgbClr val="A4A3A4"/>
          </p15:clr>
        </p15:guide>
        <p15:guide id="5" orient="horz" pos="289" userDrawn="1">
          <p15:clr>
            <a:srgbClr val="A4A3A4"/>
          </p15:clr>
        </p15:guide>
        <p15:guide id="6" pos="3840" userDrawn="1">
          <p15:clr>
            <a:srgbClr val="A4A3A4"/>
          </p15:clr>
        </p15:guide>
        <p15:guide id="7" pos="393" userDrawn="1">
          <p15:clr>
            <a:srgbClr val="A4A3A4"/>
          </p15:clr>
        </p15:guide>
        <p15:guide id="8" pos="387" userDrawn="1">
          <p15:clr>
            <a:srgbClr val="A4A3A4"/>
          </p15:clr>
        </p15:guide>
        <p15:guide id="9" pos="7315" userDrawn="1">
          <p15:clr>
            <a:srgbClr val="A4A3A4"/>
          </p15:clr>
        </p15:guide>
        <p15:guide id="10" orient="horz" pos="3612"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3EE"/>
    <a:srgbClr val="B4B3B1"/>
    <a:srgbClr val="D9D9D9"/>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93688" autoAdjust="0"/>
  </p:normalViewPr>
  <p:slideViewPr>
    <p:cSldViewPr>
      <p:cViewPr>
        <p:scale>
          <a:sx n="60" d="100"/>
          <a:sy n="60" d="100"/>
        </p:scale>
        <p:origin x="836" y="28"/>
      </p:cViewPr>
      <p:guideLst>
        <p:guide orient="horz" pos="2160"/>
        <p:guide orient="horz" pos="907"/>
        <p:guide orient="horz" pos="3758"/>
        <p:guide orient="horz" pos="4227"/>
        <p:guide orient="horz" pos="289"/>
        <p:guide pos="3840"/>
        <p:guide pos="393"/>
        <p:guide pos="387"/>
        <p:guide pos="7315"/>
        <p:guide orient="horz" pos="3612"/>
      </p:guideLst>
    </p:cSldViewPr>
  </p:slideViewPr>
  <p:notesTextViewPr>
    <p:cViewPr>
      <p:scale>
        <a:sx n="1" d="1"/>
        <a:sy n="1" d="1"/>
      </p:scale>
      <p:origin x="0" y="0"/>
    </p:cViewPr>
  </p:notesTextViewPr>
  <p:notesViewPr>
    <p:cSldViewPr showGuides="1">
      <p:cViewPr varScale="1">
        <p:scale>
          <a:sx n="86" d="100"/>
          <a:sy n="86" d="100"/>
        </p:scale>
        <p:origin x="3786" y="78"/>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tags" Target="tags/tag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Bas</c:v>
                </c:pt>
              </c:strCache>
            </c:strRef>
          </c:tx>
          <c:spPr>
            <a:noFill/>
            <a:ln>
              <a:noFill/>
            </a:ln>
          </c:spPr>
          <c:cat>
            <c:strRef>
              <c:f>Sheet1!$A$2:$A$8</c:f>
              <c:strCache>
                <c:ptCount val="7"/>
                <c:pt idx="0">
                  <c:v>Prislista 2026</c:v>
                </c:pt>
                <c:pt idx="1">
                  <c:v>Nya säkerhetslicenser, arbetsplats*</c:v>
                </c:pt>
                <c:pt idx="2">
                  <c:v>Nya molntjänster (leveransmodell)*</c:v>
                </c:pt>
                <c:pt idx="3">
                  <c:v>Kapacitetsutökning, kärnnät*</c:v>
                </c:pt>
                <c:pt idx="4">
                  <c:v>Nya moduler i ILS*</c:v>
                </c:pt>
                <c:pt idx="5">
                  <c:v>Övriga kostnadsförändringar</c:v>
                </c:pt>
                <c:pt idx="6">
                  <c:v>Prislista 2027</c:v>
                </c:pt>
              </c:strCache>
            </c:strRef>
          </c:cat>
          <c:val>
            <c:numRef>
              <c:f>Sheet1!$B$2:$B$8</c:f>
              <c:numCache>
                <c:formatCode>General</c:formatCode>
                <c:ptCount val="7"/>
                <c:pt idx="0">
                  <c:v>840</c:v>
                </c:pt>
                <c:pt idx="1">
                  <c:v>858</c:v>
                </c:pt>
                <c:pt idx="2">
                  <c:v>874</c:v>
                </c:pt>
                <c:pt idx="3">
                  <c:v>885</c:v>
                </c:pt>
                <c:pt idx="4">
                  <c:v>888</c:v>
                </c:pt>
                <c:pt idx="5">
                  <c:v>889</c:v>
                </c:pt>
                <c:pt idx="6">
                  <c:v>840</c:v>
                </c:pt>
              </c:numCache>
            </c:numRef>
          </c:val>
        </c:ser>
        <c:ser>
          <c:idx val="1"/>
          <c:order val="1"/>
          <c:tx>
            <c:strRef>
              <c:f>Sheet1!$C$1</c:f>
              <c:strCache>
                <c:ptCount val="1"/>
                <c:pt idx="0">
                  <c:v>Totalt</c:v>
                </c:pt>
              </c:strCache>
            </c:strRef>
          </c:tx>
          <c:spPr>
            <a:solidFill>
              <a:srgbClr val="A85AD1"/>
            </a:solidFill>
          </c:spPr>
          <c:dLbls>
            <c:dLbl>
              <c:idx val="0"/>
              <c:tx>
                <c:rich>
                  <a:bodyPr/>
                  <a:lstStyle/>
                  <a:p>
                    <a:r>
                      <a:rPr sz="1300" b="1" i="0">
                        <a:solidFill>
                          <a:srgbClr val="FFFFFF"/>
                        </a:solidFill>
                        <a:latin typeface="Arial Narrow"/>
                      </a:rPr>
                      <a:t>858 mnkr</a:t>
                    </a:r>
                  </a:p>
                </c:rich>
              </c:tx>
              <c:dLblPos val="inEnd"/>
              <c:showLegendKey val="0"/>
              <c:showVal val="1"/>
              <c:showCatName val="0"/>
              <c:showSerName val="0"/>
              <c:showPercent val="0"/>
              <c:showBubbleSize val="0"/>
            </c:dLbl>
            <c:dLbl>
              <c:idx val="6"/>
              <c:tx>
                <c:rich>
                  <a:bodyPr/>
                  <a:lstStyle/>
                  <a:p>
                    <a:r>
                      <a:rPr sz="1300" b="1" i="0">
                        <a:solidFill>
                          <a:srgbClr val="FFFFFF"/>
                        </a:solidFill>
                        <a:latin typeface="Arial Narrow"/>
                      </a:rPr>
                      <a:t>912 mnkr</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Prislista 2026</c:v>
                </c:pt>
                <c:pt idx="1">
                  <c:v>Nya säkerhetslicenser, arbetsplats*</c:v>
                </c:pt>
                <c:pt idx="2">
                  <c:v>Nya molntjänster (leveransmodell)*</c:v>
                </c:pt>
                <c:pt idx="3">
                  <c:v>Kapacitetsutökning, kärnnät*</c:v>
                </c:pt>
                <c:pt idx="4">
                  <c:v>Nya moduler i ILS*</c:v>
                </c:pt>
                <c:pt idx="5">
                  <c:v>Övriga kostnadsförändringar</c:v>
                </c:pt>
                <c:pt idx="6">
                  <c:v>Prislista 2027</c:v>
                </c:pt>
              </c:strCache>
            </c:strRef>
          </c:cat>
          <c:val>
            <c:numRef>
              <c:f>Sheet1!$C$2:$C$8</c:f>
              <c:numCache>
                <c:formatCode>General</c:formatCode>
                <c:ptCount val="7"/>
                <c:pt idx="0">
                  <c:v>18</c:v>
                </c:pt>
                <c:pt idx="6">
                  <c:v>72</c:v>
                </c:pt>
              </c:numCache>
            </c:numRef>
          </c:val>
        </c:ser>
        <c:ser>
          <c:idx val="2"/>
          <c:order val="2"/>
          <c:tx>
            <c:strRef>
              <c:f>Sheet1!$D$1</c:f>
              <c:strCache>
                <c:ptCount val="1"/>
                <c:pt idx="0">
                  <c:v>Förändring</c:v>
                </c:pt>
              </c:strCache>
            </c:strRef>
          </c:tx>
          <c:spPr>
            <a:solidFill>
              <a:srgbClr val="E3C8F2"/>
            </a:solidFill>
          </c:spPr>
          <c:dLbls>
            <c:dLbl>
              <c:idx val="1"/>
              <c:tx>
                <c:rich>
                  <a:bodyPr/>
                  <a:lstStyle/>
                  <a:p>
                    <a:r>
                      <a:rPr sz="1300" b="1" i="0">
                        <a:solidFill>
                          <a:srgbClr val="000000"/>
                        </a:solidFill>
                        <a:latin typeface="Arial Narrow"/>
                      </a:rPr>
                      <a:t>+16</a:t>
                    </a:r>
                  </a:p>
                </c:rich>
              </c:tx>
              <c:dLblPos val="inBase"/>
              <c:showLegendKey val="0"/>
              <c:showVal val="1"/>
              <c:showCatName val="0"/>
              <c:showSerName val="0"/>
              <c:showPercent val="0"/>
              <c:showBubbleSize val="0"/>
            </c:dLbl>
            <c:dLbl>
              <c:idx val="2"/>
              <c:tx>
                <c:rich>
                  <a:bodyPr/>
                  <a:lstStyle/>
                  <a:p>
                    <a:r>
                      <a:rPr sz="1300" b="1" i="0">
                        <a:solidFill>
                          <a:srgbClr val="000000"/>
                        </a:solidFill>
                        <a:latin typeface="Arial Narrow"/>
                      </a:rPr>
                      <a:t>+11</a:t>
                    </a:r>
                  </a:p>
                </c:rich>
              </c:tx>
              <c:dLblPos val="inBase"/>
              <c:showLegendKey val="0"/>
              <c:showVal val="1"/>
              <c:showCatName val="0"/>
              <c:showSerName val="0"/>
              <c:showPercent val="0"/>
              <c:showBubbleSize val="0"/>
            </c:dLbl>
            <c:dLbl>
              <c:idx val="3"/>
              <c:tx>
                <c:rich>
                  <a:bodyPr/>
                  <a:lstStyle/>
                  <a:p>
                    <a:r>
                      <a:rPr sz="1300" b="1" i="0">
                        <a:solidFill>
                          <a:srgbClr val="000000"/>
                        </a:solidFill>
                        <a:latin typeface="Arial Narrow"/>
                      </a:rPr>
                      <a:t>+3</a:t>
                    </a:r>
                  </a:p>
                </c:rich>
              </c:tx>
              <c:dLblPos val="inBase"/>
              <c:showLegendKey val="0"/>
              <c:showVal val="1"/>
              <c:showCatName val="0"/>
              <c:showSerName val="0"/>
              <c:showPercent val="0"/>
              <c:showBubbleSize val="0"/>
            </c:dLbl>
            <c:dLbl>
              <c:idx val="4"/>
              <c:tx>
                <c:rich>
                  <a:bodyPr/>
                  <a:lstStyle/>
                  <a:p>
                    <a:r>
                      <a:rPr sz="1300" b="1" i="0">
                        <a:solidFill>
                          <a:srgbClr val="000000"/>
                        </a:solidFill>
                        <a:latin typeface="Arial Narrow"/>
                      </a:rPr>
                      <a:t>+1</a:t>
                    </a:r>
                  </a:p>
                </c:rich>
              </c:tx>
              <c:dLblPos val="inBase"/>
              <c:showLegendKey val="0"/>
              <c:showVal val="1"/>
              <c:showCatName val="0"/>
              <c:showSerName val="0"/>
              <c:showPercent val="0"/>
              <c:showBubbleSize val="0"/>
            </c:dLbl>
            <c:dLbl>
              <c:idx val="5"/>
              <c:tx>
                <c:rich>
                  <a:bodyPr/>
                  <a:lstStyle/>
                  <a:p>
                    <a:r>
                      <a:rPr sz="1300" b="1" i="0">
                        <a:solidFill>
                          <a:srgbClr val="000000"/>
                        </a:solidFill>
                        <a:latin typeface="Arial Narrow"/>
                      </a:rPr>
                      <a:t>+23</a:t>
                    </a:r>
                  </a:p>
                </c:rich>
              </c:tx>
              <c:dLblPos val="inBase"/>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Prislista 2026</c:v>
                </c:pt>
                <c:pt idx="1">
                  <c:v>Nya säkerhetslicenser, arbetsplats*</c:v>
                </c:pt>
                <c:pt idx="2">
                  <c:v>Nya molntjänster (leveransmodell)*</c:v>
                </c:pt>
                <c:pt idx="3">
                  <c:v>Kapacitetsutökning, kärnnät*</c:v>
                </c:pt>
                <c:pt idx="4">
                  <c:v>Nya moduler i ILS*</c:v>
                </c:pt>
                <c:pt idx="5">
                  <c:v>Övriga kostnadsförändringar</c:v>
                </c:pt>
                <c:pt idx="6">
                  <c:v>Prislista 2027</c:v>
                </c:pt>
              </c:strCache>
            </c:strRef>
          </c:cat>
          <c:val>
            <c:numRef>
              <c:f>Sheet1!$D$2:$D$8</c:f>
              <c:numCache>
                <c:formatCode>General</c:formatCode>
                <c:ptCount val="7"/>
                <c:pt idx="1">
                  <c:v>16</c:v>
                </c:pt>
                <c:pt idx="2">
                  <c:v>11</c:v>
                </c:pt>
                <c:pt idx="3">
                  <c:v>3</c:v>
                </c:pt>
                <c:pt idx="4">
                  <c:v>1</c:v>
                </c:pt>
                <c:pt idx="5">
                  <c:v>23</c:v>
                </c:pt>
              </c:numCache>
            </c:numRef>
          </c:val>
        </c:ser>
        <c:gapWidth val="45"/>
        <c:overlap val="10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200">
                <a:solidFill>
                  <a:srgbClr val="000000"/>
                </a:solidFill>
                <a:latin typeface="Arial Narrow"/>
              </a:defRPr>
            </a:pPr>
          </a:p>
        </c:txPr>
        <c:crossAx val="-2113994440"/>
        <c:crosses val="autoZero"/>
        <c:auto val="1"/>
        <c:lblAlgn val="ctr"/>
        <c:lblOffset val="100"/>
        <c:noMultiLvlLbl val="0"/>
      </c:catAx>
      <c:valAx>
        <c:axId val="-2113994440"/>
        <c:scaling>
          <c:max val="920.0"/>
          <c:min val="840.0"/>
        </c:scaling>
        <c:delete/>
        <c:axPos val="b"/>
        <c:majorTickMark val="out"/>
        <c:minorTickMark val="none"/>
        <c:tickLblPos val="nextTo"/>
        <c:crossAx val="-2068027336"/>
        <c:crosses val="autoZero"/>
      </c:valAx>
    </c:plotArea>
    <c:dispBlanksAs val="gap"/>
  </c:chart>
  <c:txPr>
    <a:bodyPr/>
    <a:lstStyle/>
    <a:p>
      <a:pPr>
        <a:defRPr sz="1200">
          <a:latin typeface="Arial Narrow"/>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sv-SE" dirty="0"/>
          </a:p>
        </p:txBody>
      </p:sp>
      <p:sp>
        <p:nvSpPr>
          <p:cNvPr id="3" name="Platshållare för datum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24F73C6-E6BF-46CF-B34D-7A5C8688DBEE}" type="datetimeFigureOut">
              <a:rPr lang="sv-SE" smtClean="0"/>
              <a:t>2026-10-22</a:t>
            </a:fld>
            <a:endParaRPr lang="sv-SE" dirty="0"/>
          </a:p>
        </p:txBody>
      </p:sp>
      <p:sp>
        <p:nvSpPr>
          <p:cNvPr id="4" name="Platshållare för sidfot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sv-SE" dirty="0"/>
          </a:p>
        </p:txBody>
      </p:sp>
      <p:sp>
        <p:nvSpPr>
          <p:cNvPr id="5" name="Platshållare för bildnumm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4CD8F730-40FB-45F5-B014-CB7ED569AE30}" type="slidenum">
              <a:rPr lang="sv-SE" smtClean="0"/>
              <a:t>‹#›</a:t>
            </a:fld>
            <a:endParaRPr lang="sv-SE" dirty="0"/>
          </a:p>
        </p:txBody>
      </p:sp>
    </p:spTree>
    <p:extLst>
      <p:ext uri="{BB962C8B-B14F-4D97-AF65-F5344CB8AC3E}">
        <p14:creationId xmlns:p14="http://schemas.microsoft.com/office/powerpoint/2010/main" val="270371222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sv-SE" dirty="0"/>
          </a:p>
        </p:txBody>
      </p:sp>
      <p:sp>
        <p:nvSpPr>
          <p:cNvPr id="3" name="Platshållare för datum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1FEA4C71-A269-4800-8AF1-44182FA23438}" type="datetimeFigureOut">
              <a:rPr lang="sv-SE" smtClean="0"/>
              <a:t>2026-10-22</a:t>
            </a:fld>
            <a:endParaRPr lang="sv-SE" dirty="0"/>
          </a:p>
        </p:txBody>
      </p:sp>
      <p:sp>
        <p:nvSpPr>
          <p:cNvPr id="4" name="Platshållare för bildobjekt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sv-SE" dirty="0"/>
          </a:p>
        </p:txBody>
      </p:sp>
      <p:sp>
        <p:nvSpPr>
          <p:cNvPr id="5" name="Platshållare för anteckninga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sv-SE" dirty="0"/>
          </a:p>
        </p:txBody>
      </p:sp>
      <p:sp>
        <p:nvSpPr>
          <p:cNvPr id="7" name="Platshållare för bildnumm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AC113758-4B63-40D7-B26B-F67CE25F1C5D}" type="slidenum">
              <a:rPr lang="sv-SE" smtClean="0"/>
              <a:t>‹#›</a:t>
            </a:fld>
            <a:endParaRPr lang="sv-SE" dirty="0"/>
          </a:p>
        </p:txBody>
      </p:sp>
    </p:spTree>
    <p:extLst>
      <p:ext uri="{BB962C8B-B14F-4D97-AF65-F5344CB8AC3E}">
        <p14:creationId xmlns:p14="http://schemas.microsoft.com/office/powerpoint/2010/main" val="36397715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sida-vit logo för mörka bil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Bildobjekt 7" descr="Logo Stockholms Stad"/>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val="0"/>
              </a:ext>
            </a:extLst>
          </a:blip>
          <a:stretch>
            <a:fillRect/>
          </a:stretch>
        </p:blipFill>
        <p:spPr>
          <a:xfrm>
            <a:off x="10214399" y="467862"/>
            <a:ext cx="1368000" cy="468000"/>
          </a:xfrm>
          <a:prstGeom prst="rect">
            <a:avLst/>
          </a:prstGeom>
        </p:spPr>
      </p:pic>
      <p:sp>
        <p:nvSpPr>
          <p:cNvPr id="2" name="Rubrik 1"/>
          <p:cNvSpPr>
            <a:spLocks noGrp="1"/>
          </p:cNvSpPr>
          <p:nvPr>
            <p:ph type="ctrTitle"/>
          </p:nvPr>
        </p:nvSpPr>
        <p:spPr>
          <a:xfrm>
            <a:off x="609600" y="457200"/>
            <a:ext cx="7320000" cy="968400"/>
          </a:xfrm>
        </p:spPr>
        <p:txBody>
          <a:bodyPr/>
          <a:lstStyle>
            <a:lvl1pPr>
              <a:defRPr>
                <a:solidFill>
                  <a:schemeClr val="bg1"/>
                </a:solidFill>
              </a:defRPr>
            </a:lvl1pPr>
          </a:lstStyle>
          <a:p>
            <a:r>
              <a:rPr lang="sv-SE"/>
              <a:t>Klicka här för att ändra mall för rubrikformat</a:t>
            </a:r>
            <a:endParaRPr lang="sv-SE" dirty="0"/>
          </a:p>
        </p:txBody>
      </p:sp>
      <p:sp>
        <p:nvSpPr>
          <p:cNvPr id="3" name="Underrubrik 2"/>
          <p:cNvSpPr>
            <a:spLocks noGrp="1"/>
          </p:cNvSpPr>
          <p:nvPr>
            <p:ph type="subTitle" idx="1" hasCustomPrompt="1"/>
          </p:nvPr>
        </p:nvSpPr>
        <p:spPr>
          <a:xfrm>
            <a:off x="609600" y="1440000"/>
            <a:ext cx="7296811" cy="1752600"/>
          </a:xfrm>
        </p:spPr>
        <p:txBody>
          <a:bodyPr/>
          <a:lstStyle>
            <a:lvl1pPr marL="0" indent="0" algn="l">
              <a:buNone/>
              <a:defRPr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dirty="0"/>
              <a:t>Skriv </a:t>
            </a:r>
            <a:r>
              <a:rPr lang="sv-SE" dirty="0" err="1"/>
              <a:t>ev</a:t>
            </a:r>
            <a:r>
              <a:rPr lang="sv-SE" dirty="0"/>
              <a:t> underrubrik här</a:t>
            </a:r>
          </a:p>
        </p:txBody>
      </p:sp>
      <p:sp>
        <p:nvSpPr>
          <p:cNvPr id="9" name="textruta 8"/>
          <p:cNvSpPr txBox="1"/>
          <p:nvPr userDrawn="1"/>
        </p:nvSpPr>
        <p:spPr>
          <a:xfrm>
            <a:off x="12288688" y="39970"/>
            <a:ext cx="1584176" cy="5909310"/>
          </a:xfrm>
          <a:prstGeom prst="rect">
            <a:avLst/>
          </a:prstGeom>
          <a:noFill/>
        </p:spPr>
        <p:txBody>
          <a:bodyPr wrap="square" rtlCol="0">
            <a:spAutoFit/>
          </a:bodyPr>
          <a:lstStyle/>
          <a:p>
            <a:r>
              <a:rPr lang="sv-SE" sz="1400" dirty="0">
                <a:solidFill>
                  <a:schemeClr val="tx2"/>
                </a:solidFill>
              </a:rPr>
              <a:t>För att byta bakgrundsbild klicka på STHLM bilder på fliken Start. </a:t>
            </a:r>
          </a:p>
          <a:p>
            <a:endParaRPr lang="sv-SE" sz="1400" dirty="0">
              <a:solidFill>
                <a:schemeClr val="tx2"/>
              </a:solidFill>
            </a:endParaRPr>
          </a:p>
          <a:p>
            <a:r>
              <a:rPr lang="sv-SE" sz="1400" dirty="0">
                <a:solidFill>
                  <a:schemeClr val="tx2"/>
                </a:solidFill>
              </a:rPr>
              <a:t>Har du en egen bild högerklickar du på bakgrundsbilden och väljer Formatera bakgrund och sen Infoga från: Fil. </a:t>
            </a:r>
          </a:p>
          <a:p>
            <a:r>
              <a:rPr lang="sv-SE" sz="1400" dirty="0">
                <a:solidFill>
                  <a:schemeClr val="tx2"/>
                </a:solidFill>
              </a:rPr>
              <a:t> </a:t>
            </a:r>
          </a:p>
          <a:p>
            <a:r>
              <a:rPr lang="sv-SE" sz="1400" dirty="0">
                <a:solidFill>
                  <a:schemeClr val="tx2"/>
                </a:solidFill>
              </a:rPr>
              <a:t>Tänk på att logotypen alltid ska vara tydlig. Vit logotyp mot mörk bakgrund och svart logotyp mot ljus.</a:t>
            </a:r>
          </a:p>
          <a:p>
            <a:r>
              <a:rPr lang="sv-SE" sz="1400" dirty="0">
                <a:solidFill>
                  <a:schemeClr val="tx2"/>
                </a:solidFill>
              </a:rPr>
              <a:t>Byt mellan de olika under Layout. </a:t>
            </a:r>
          </a:p>
        </p:txBody>
      </p:sp>
    </p:spTree>
    <p:extLst>
      <p:ext uri="{BB962C8B-B14F-4D97-AF65-F5344CB8AC3E}">
        <p14:creationId xmlns:p14="http://schemas.microsoft.com/office/powerpoint/2010/main" val="1431766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sida-svart logo för ljusa bil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Bildobjekt 9" descr="Logo Stockholms Stad"/>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val="0"/>
              </a:ext>
            </a:extLst>
          </a:blip>
          <a:stretch>
            <a:fillRect/>
          </a:stretch>
        </p:blipFill>
        <p:spPr>
          <a:xfrm>
            <a:off x="10214399" y="467862"/>
            <a:ext cx="1368000" cy="468000"/>
          </a:xfrm>
          <a:prstGeom prst="rect">
            <a:avLst/>
          </a:prstGeom>
        </p:spPr>
      </p:pic>
      <p:sp>
        <p:nvSpPr>
          <p:cNvPr id="2" name="Rubrik 1"/>
          <p:cNvSpPr>
            <a:spLocks noGrp="1"/>
          </p:cNvSpPr>
          <p:nvPr>
            <p:ph type="ctrTitle"/>
          </p:nvPr>
        </p:nvSpPr>
        <p:spPr>
          <a:xfrm>
            <a:off x="609600" y="457200"/>
            <a:ext cx="7320000" cy="968400"/>
          </a:xfrm>
        </p:spPr>
        <p:txBody>
          <a:bodyPr/>
          <a:lstStyle>
            <a:lvl1pPr>
              <a:defRPr>
                <a:solidFill>
                  <a:schemeClr val="tx1"/>
                </a:solidFill>
              </a:defRPr>
            </a:lvl1pPr>
          </a:lstStyle>
          <a:p>
            <a:r>
              <a:rPr lang="sv-SE"/>
              <a:t>Klicka här för att ändra mall för rubrikformat</a:t>
            </a:r>
            <a:endParaRPr lang="sv-SE" dirty="0"/>
          </a:p>
        </p:txBody>
      </p:sp>
      <p:sp>
        <p:nvSpPr>
          <p:cNvPr id="3" name="Underrubrik 2"/>
          <p:cNvSpPr>
            <a:spLocks noGrp="1"/>
          </p:cNvSpPr>
          <p:nvPr>
            <p:ph type="subTitle" idx="1" hasCustomPrompt="1"/>
          </p:nvPr>
        </p:nvSpPr>
        <p:spPr>
          <a:xfrm>
            <a:off x="609600" y="1440000"/>
            <a:ext cx="7296811" cy="1752600"/>
          </a:xfrm>
        </p:spPr>
        <p:txBody>
          <a:bodyPr/>
          <a:lstStyle>
            <a:lvl1pPr marL="0" indent="0" algn="l">
              <a:buNone/>
              <a:defRPr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dirty="0"/>
              <a:t>Skriv </a:t>
            </a:r>
            <a:r>
              <a:rPr lang="sv-SE" dirty="0" err="1"/>
              <a:t>ev</a:t>
            </a:r>
            <a:r>
              <a:rPr lang="sv-SE" dirty="0"/>
              <a:t> underrubrik här</a:t>
            </a:r>
          </a:p>
        </p:txBody>
      </p:sp>
      <p:sp>
        <p:nvSpPr>
          <p:cNvPr id="7" name="textruta 6"/>
          <p:cNvSpPr txBox="1"/>
          <p:nvPr userDrawn="1"/>
        </p:nvSpPr>
        <p:spPr>
          <a:xfrm>
            <a:off x="12288688" y="39970"/>
            <a:ext cx="1584176" cy="5909310"/>
          </a:xfrm>
          <a:prstGeom prst="rect">
            <a:avLst/>
          </a:prstGeom>
          <a:noFill/>
        </p:spPr>
        <p:txBody>
          <a:bodyPr wrap="square" rtlCol="0">
            <a:spAutoFit/>
          </a:bodyPr>
          <a:lstStyle/>
          <a:p>
            <a:r>
              <a:rPr lang="sv-SE" sz="1400" dirty="0">
                <a:solidFill>
                  <a:schemeClr val="tx2"/>
                </a:solidFill>
              </a:rPr>
              <a:t>För att byta bakgrundsbild klicka på STHLM bilder på fliken Start. </a:t>
            </a:r>
          </a:p>
          <a:p>
            <a:endParaRPr lang="sv-SE" sz="1400" dirty="0">
              <a:solidFill>
                <a:schemeClr val="tx2"/>
              </a:solidFill>
            </a:endParaRPr>
          </a:p>
          <a:p>
            <a:r>
              <a:rPr lang="sv-SE" sz="1400" dirty="0">
                <a:solidFill>
                  <a:schemeClr val="tx2"/>
                </a:solidFill>
              </a:rPr>
              <a:t>Har du en egen bild högerklickar du på bakgrundsbilden och väljer Formatera bakgrund och sen Infoga från: Fil. </a:t>
            </a:r>
          </a:p>
          <a:p>
            <a:r>
              <a:rPr lang="sv-SE" sz="1400" dirty="0">
                <a:solidFill>
                  <a:schemeClr val="tx2"/>
                </a:solidFill>
              </a:rPr>
              <a:t> </a:t>
            </a:r>
          </a:p>
          <a:p>
            <a:r>
              <a:rPr lang="sv-SE" sz="1400" dirty="0">
                <a:solidFill>
                  <a:schemeClr val="tx2"/>
                </a:solidFill>
              </a:rPr>
              <a:t>Tänk på att logotypen alltid ska vara tydlig. Vit logotyp mot mörk bakgrund och svart logotyp mot ljus.</a:t>
            </a:r>
          </a:p>
          <a:p>
            <a:r>
              <a:rPr lang="sv-SE" sz="1400" dirty="0">
                <a:solidFill>
                  <a:schemeClr val="tx2"/>
                </a:solidFill>
              </a:rPr>
              <a:t>Byt mellan de olika under Layout. </a:t>
            </a:r>
          </a:p>
        </p:txBody>
      </p:sp>
    </p:spTree>
    <p:extLst>
      <p:ext uri="{BB962C8B-B14F-4D97-AF65-F5344CB8AC3E}">
        <p14:creationId xmlns:p14="http://schemas.microsoft.com/office/powerpoint/2010/main" val="963340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sida -  svart logo grå bakgrund">
    <p:bg>
      <p:bgPr>
        <a:solidFill>
          <a:srgbClr val="F5F3EE"/>
        </a:solidFill>
        <a:effectLst/>
      </p:bgPr>
    </p:bg>
    <p:spTree>
      <p:nvGrpSpPr>
        <p:cNvPr id="1" name=""/>
        <p:cNvGrpSpPr/>
        <p:nvPr/>
      </p:nvGrpSpPr>
      <p:grpSpPr>
        <a:xfrm>
          <a:off x="0" y="0"/>
          <a:ext cx="0" cy="0"/>
          <a:chOff x="0" y="0"/>
          <a:chExt cx="0" cy="0"/>
        </a:xfrm>
      </p:grpSpPr>
      <p:sp>
        <p:nvSpPr>
          <p:cNvPr id="2" name="Rubrik 1"/>
          <p:cNvSpPr>
            <a:spLocks noGrp="1"/>
          </p:cNvSpPr>
          <p:nvPr>
            <p:ph type="ctrTitle"/>
          </p:nvPr>
        </p:nvSpPr>
        <p:spPr>
          <a:xfrm>
            <a:off x="609600" y="457200"/>
            <a:ext cx="7320000" cy="968400"/>
          </a:xfrm>
        </p:spPr>
        <p:txBody>
          <a:bodyPr/>
          <a:lstStyle>
            <a:lvl1pPr>
              <a:defRPr>
                <a:solidFill>
                  <a:schemeClr val="tx1"/>
                </a:solidFill>
              </a:defRPr>
            </a:lvl1pPr>
          </a:lstStyle>
          <a:p>
            <a:r>
              <a:rPr lang="sv-SE"/>
              <a:t>Klicka här för att ändra mall för rubrikformat</a:t>
            </a:r>
            <a:endParaRPr lang="sv-SE" dirty="0"/>
          </a:p>
        </p:txBody>
      </p:sp>
      <p:sp>
        <p:nvSpPr>
          <p:cNvPr id="4" name="Platshållare för text 3"/>
          <p:cNvSpPr>
            <a:spLocks noGrp="1"/>
          </p:cNvSpPr>
          <p:nvPr>
            <p:ph type="body" sz="quarter" idx="10" hasCustomPrompt="1"/>
          </p:nvPr>
        </p:nvSpPr>
        <p:spPr>
          <a:xfrm>
            <a:off x="609600" y="1440000"/>
            <a:ext cx="7305600" cy="1753200"/>
          </a:xfrm>
        </p:spPr>
        <p:txBody>
          <a:bodyPr/>
          <a:lstStyle>
            <a:lvl1pPr marL="0" indent="0">
              <a:buNone/>
              <a:defRPr/>
            </a:lvl1pPr>
          </a:lstStyle>
          <a:p>
            <a:r>
              <a:rPr lang="sv-SE" dirty="0"/>
              <a:t>Skriv </a:t>
            </a:r>
            <a:r>
              <a:rPr lang="sv-SE" dirty="0" err="1"/>
              <a:t>ev</a:t>
            </a:r>
            <a:r>
              <a:rPr lang="sv-SE" dirty="0"/>
              <a:t> underrubrik här</a:t>
            </a:r>
          </a:p>
        </p:txBody>
      </p:sp>
      <p:pic>
        <p:nvPicPr>
          <p:cNvPr id="11" name="Bildobjekt 10" descr="Logo Stockholms Stad"/>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10214399" y="467862"/>
            <a:ext cx="1368000" cy="468276"/>
          </a:xfrm>
          <a:prstGeom prst="rect">
            <a:avLst/>
          </a:prstGeom>
        </p:spPr>
      </p:pic>
    </p:spTree>
    <p:extLst>
      <p:ext uri="{BB962C8B-B14F-4D97-AF65-F5344CB8AC3E}">
        <p14:creationId xmlns:p14="http://schemas.microsoft.com/office/powerpoint/2010/main" val="226714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sida - Färgrutor alt 1 Bred">
    <p:spTree>
      <p:nvGrpSpPr>
        <p:cNvPr id="1" name=""/>
        <p:cNvGrpSpPr/>
        <p:nvPr/>
      </p:nvGrpSpPr>
      <p:grpSpPr>
        <a:xfrm>
          <a:off x="0" y="0"/>
          <a:ext cx="0" cy="0"/>
          <a:chOff x="0" y="0"/>
          <a:chExt cx="0" cy="0"/>
        </a:xfrm>
      </p:grpSpPr>
      <p:sp>
        <p:nvSpPr>
          <p:cNvPr id="6" name="Platshållare för text 16"/>
          <p:cNvSpPr txBox="1">
            <a:spLocks/>
          </p:cNvSpPr>
          <p:nvPr userDrawn="1"/>
        </p:nvSpPr>
        <p:spPr>
          <a:xfrm>
            <a:off x="609600" y="457201"/>
            <a:ext cx="7344000" cy="3960813"/>
          </a:xfrm>
          <a:prstGeom prst="rect">
            <a:avLst/>
          </a:prstGeom>
          <a:solidFill>
            <a:schemeClr val="accent4"/>
          </a:solidFill>
          <a:ln>
            <a:noFill/>
          </a:ln>
        </p:spPr>
        <p:txBody>
          <a:bodyPr lIns="234000" rIns="234000"/>
          <a:lstStyle>
            <a:lvl1pPr>
              <a:buNone/>
              <a:defRPr/>
            </a:lvl1pPr>
          </a:lstStyle>
          <a:p>
            <a:pPr fontAlgn="auto">
              <a:lnSpc>
                <a:spcPts val="2000"/>
              </a:lnSpc>
              <a:spcBef>
                <a:spcPts val="0"/>
              </a:spcBef>
              <a:spcAft>
                <a:spcPts val="0"/>
              </a:spcAft>
              <a:buFont typeface="Arial" pitchFamily="34" charset="0"/>
              <a:buNone/>
              <a:defRPr/>
            </a:pPr>
            <a:r>
              <a:rPr lang="sv-SE" sz="2000" dirty="0">
                <a:solidFill>
                  <a:srgbClr val="000000"/>
                </a:solidFill>
                <a:latin typeface="+mn-lt"/>
                <a:ea typeface="+mn-ea"/>
                <a:cs typeface="+mn-cs"/>
              </a:rPr>
              <a:t>  </a:t>
            </a:r>
          </a:p>
        </p:txBody>
      </p:sp>
      <p:sp>
        <p:nvSpPr>
          <p:cNvPr id="2" name="Rubrik 1"/>
          <p:cNvSpPr>
            <a:spLocks noGrp="1"/>
          </p:cNvSpPr>
          <p:nvPr>
            <p:ph type="title"/>
          </p:nvPr>
        </p:nvSpPr>
        <p:spPr bwMode="white">
          <a:xfrm>
            <a:off x="911424" y="628016"/>
            <a:ext cx="6816757" cy="1144800"/>
          </a:xfrm>
        </p:spPr>
        <p:txBody>
          <a:bodyPr/>
          <a:lstStyle>
            <a:lvl1pPr>
              <a:defRPr>
                <a:solidFill>
                  <a:schemeClr val="bg1"/>
                </a:solidFill>
              </a:defRPr>
            </a:lvl1pPr>
          </a:lstStyle>
          <a:p>
            <a:r>
              <a:rPr lang="sv-SE"/>
              <a:t>Klicka här för att ändra mall för rubrikformat</a:t>
            </a:r>
            <a:endParaRPr lang="sv-SE" dirty="0"/>
          </a:p>
        </p:txBody>
      </p:sp>
      <p:sp>
        <p:nvSpPr>
          <p:cNvPr id="10" name="Platshållare för text 9"/>
          <p:cNvSpPr>
            <a:spLocks noGrp="1"/>
          </p:cNvSpPr>
          <p:nvPr>
            <p:ph type="body" sz="quarter" idx="14"/>
          </p:nvPr>
        </p:nvSpPr>
        <p:spPr bwMode="white">
          <a:xfrm>
            <a:off x="911424" y="1844675"/>
            <a:ext cx="6816757" cy="2376413"/>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sv-SE"/>
              <a:t>Klicka här för att ändra format på bakgrundstexten</a:t>
            </a:r>
          </a:p>
        </p:txBody>
      </p:sp>
      <p:sp>
        <p:nvSpPr>
          <p:cNvPr id="8" name="Platshållare för bild 7"/>
          <p:cNvSpPr>
            <a:spLocks noGrp="1"/>
          </p:cNvSpPr>
          <p:nvPr>
            <p:ph type="pic" sz="quarter" idx="13"/>
          </p:nvPr>
        </p:nvSpPr>
        <p:spPr>
          <a:xfrm>
            <a:off x="7929600" y="4418012"/>
            <a:ext cx="3652800" cy="1980000"/>
          </a:xfrm>
          <a:solidFill>
            <a:schemeClr val="accent2"/>
          </a:solidFill>
        </p:spPr>
        <p:txBody>
          <a:bodyPr anchor="t" anchorCtr="1"/>
          <a:lstStyle>
            <a:lvl1pPr marL="0" indent="0">
              <a:buFontTx/>
              <a:buNone/>
              <a:defRPr>
                <a:solidFill>
                  <a:schemeClr val="bg1"/>
                </a:solidFill>
              </a:defRPr>
            </a:lvl1pPr>
          </a:lstStyle>
          <a:p>
            <a:r>
              <a:rPr lang="sv-SE" dirty="0"/>
              <a:t>Klicka på ikonen för att lägga till en bild</a:t>
            </a:r>
          </a:p>
        </p:txBody>
      </p:sp>
      <p:pic>
        <p:nvPicPr>
          <p:cNvPr id="9" name="Bildobjekt 8" descr="Logo Stockholms Stad"/>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10214400" y="467862"/>
            <a:ext cx="1368000" cy="468276"/>
          </a:xfrm>
          <a:prstGeom prst="rect">
            <a:avLst/>
          </a:prstGeom>
        </p:spPr>
      </p:pic>
      <p:sp>
        <p:nvSpPr>
          <p:cNvPr id="11" name="textruta 10"/>
          <p:cNvSpPr txBox="1"/>
          <p:nvPr userDrawn="1"/>
        </p:nvSpPr>
        <p:spPr>
          <a:xfrm>
            <a:off x="12288688" y="4483354"/>
            <a:ext cx="1584176" cy="2031325"/>
          </a:xfrm>
          <a:prstGeom prst="rect">
            <a:avLst/>
          </a:prstGeom>
          <a:noFill/>
        </p:spPr>
        <p:txBody>
          <a:bodyPr wrap="square" rtlCol="0">
            <a:spAutoFit/>
          </a:bodyPr>
          <a:lstStyle/>
          <a:p>
            <a:r>
              <a:rPr lang="sv-SE" sz="1400" dirty="0">
                <a:solidFill>
                  <a:schemeClr val="tx2"/>
                </a:solidFill>
              </a:rPr>
              <a:t>Klicka på </a:t>
            </a:r>
            <a:r>
              <a:rPr lang="sv-SE" sz="1400" b="1" dirty="0">
                <a:solidFill>
                  <a:schemeClr val="tx2"/>
                </a:solidFill>
              </a:rPr>
              <a:t>STHLM</a:t>
            </a:r>
            <a:r>
              <a:rPr lang="sv-SE" sz="1400" baseline="0" dirty="0">
                <a:solidFill>
                  <a:schemeClr val="tx2"/>
                </a:solidFill>
              </a:rPr>
              <a:t> </a:t>
            </a:r>
            <a:r>
              <a:rPr lang="sv-SE" sz="1400" b="1" baseline="0" dirty="0">
                <a:solidFill>
                  <a:schemeClr val="tx2"/>
                </a:solidFill>
              </a:rPr>
              <a:t>bilder</a:t>
            </a:r>
            <a:r>
              <a:rPr lang="sv-SE" sz="1400" baseline="0" dirty="0">
                <a:solidFill>
                  <a:schemeClr val="tx2"/>
                </a:solidFill>
              </a:rPr>
              <a:t> för att lägga till en bild. Om du har en egen bild, klicka direkt på ikonen som visas i rutan här till vänster på sidan.</a:t>
            </a:r>
            <a:endParaRPr lang="sv-SE" sz="1400" dirty="0">
              <a:solidFill>
                <a:schemeClr val="tx2"/>
              </a:solidFill>
            </a:endParaRPr>
          </a:p>
        </p:txBody>
      </p:sp>
    </p:spTree>
    <p:extLst>
      <p:ext uri="{BB962C8B-B14F-4D97-AF65-F5344CB8AC3E}">
        <p14:creationId xmlns:p14="http://schemas.microsoft.com/office/powerpoint/2010/main" val="2687678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sida - Färgrutor alt 2 Bred">
    <p:spTree>
      <p:nvGrpSpPr>
        <p:cNvPr id="1" name=""/>
        <p:cNvGrpSpPr/>
        <p:nvPr/>
      </p:nvGrpSpPr>
      <p:grpSpPr>
        <a:xfrm>
          <a:off x="0" y="0"/>
          <a:ext cx="0" cy="0"/>
          <a:chOff x="0" y="0"/>
          <a:chExt cx="0" cy="0"/>
        </a:xfrm>
      </p:grpSpPr>
      <p:sp>
        <p:nvSpPr>
          <p:cNvPr id="6" name="Platshållare för text 16"/>
          <p:cNvSpPr txBox="1">
            <a:spLocks/>
          </p:cNvSpPr>
          <p:nvPr userDrawn="1"/>
        </p:nvSpPr>
        <p:spPr>
          <a:xfrm>
            <a:off x="609600" y="457201"/>
            <a:ext cx="7344000" cy="3960813"/>
          </a:xfrm>
          <a:prstGeom prst="rect">
            <a:avLst/>
          </a:prstGeom>
          <a:solidFill>
            <a:schemeClr val="accent5"/>
          </a:solidFill>
          <a:ln>
            <a:noFill/>
          </a:ln>
        </p:spPr>
        <p:txBody>
          <a:bodyPr lIns="234000" rIns="234000"/>
          <a:lstStyle>
            <a:lvl1pPr>
              <a:buNone/>
              <a:defRPr/>
            </a:lvl1pPr>
          </a:lstStyle>
          <a:p>
            <a:pPr fontAlgn="auto">
              <a:lnSpc>
                <a:spcPts val="2000"/>
              </a:lnSpc>
              <a:spcBef>
                <a:spcPts val="0"/>
              </a:spcBef>
              <a:spcAft>
                <a:spcPts val="0"/>
              </a:spcAft>
              <a:buFont typeface="Arial" pitchFamily="34" charset="0"/>
              <a:buNone/>
              <a:defRPr/>
            </a:pPr>
            <a:r>
              <a:rPr lang="sv-SE" sz="2000" dirty="0">
                <a:solidFill>
                  <a:srgbClr val="000000"/>
                </a:solidFill>
                <a:latin typeface="+mn-lt"/>
                <a:ea typeface="+mn-ea"/>
                <a:cs typeface="+mn-cs"/>
              </a:rPr>
              <a:t>  </a:t>
            </a:r>
          </a:p>
        </p:txBody>
      </p:sp>
      <p:sp>
        <p:nvSpPr>
          <p:cNvPr id="2" name="Rubrik 1"/>
          <p:cNvSpPr>
            <a:spLocks noGrp="1"/>
          </p:cNvSpPr>
          <p:nvPr>
            <p:ph type="title"/>
          </p:nvPr>
        </p:nvSpPr>
        <p:spPr bwMode="white">
          <a:xfrm>
            <a:off x="911424" y="628016"/>
            <a:ext cx="6816757" cy="1144800"/>
          </a:xfrm>
        </p:spPr>
        <p:txBody>
          <a:bodyPr/>
          <a:lstStyle>
            <a:lvl1pPr>
              <a:defRPr>
                <a:solidFill>
                  <a:schemeClr val="bg1"/>
                </a:solidFill>
              </a:defRPr>
            </a:lvl1pPr>
          </a:lstStyle>
          <a:p>
            <a:r>
              <a:rPr lang="sv-SE"/>
              <a:t>Klicka här för att ändra mall för rubrikformat</a:t>
            </a:r>
            <a:endParaRPr lang="sv-SE" dirty="0"/>
          </a:p>
        </p:txBody>
      </p:sp>
      <p:sp>
        <p:nvSpPr>
          <p:cNvPr id="10" name="Platshållare för text 9"/>
          <p:cNvSpPr>
            <a:spLocks noGrp="1"/>
          </p:cNvSpPr>
          <p:nvPr>
            <p:ph type="body" sz="quarter" idx="14"/>
          </p:nvPr>
        </p:nvSpPr>
        <p:spPr bwMode="white">
          <a:xfrm>
            <a:off x="911424" y="1844675"/>
            <a:ext cx="6816757" cy="2376413"/>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sv-SE"/>
              <a:t>Klicka här för att ändra format på bakgrundstexten</a:t>
            </a:r>
          </a:p>
        </p:txBody>
      </p:sp>
      <p:sp>
        <p:nvSpPr>
          <p:cNvPr id="8" name="Platshållare för bild 7"/>
          <p:cNvSpPr>
            <a:spLocks noGrp="1"/>
          </p:cNvSpPr>
          <p:nvPr>
            <p:ph type="pic" sz="quarter" idx="13"/>
          </p:nvPr>
        </p:nvSpPr>
        <p:spPr>
          <a:xfrm>
            <a:off x="7929600" y="4418012"/>
            <a:ext cx="3652800" cy="1980000"/>
          </a:xfrm>
          <a:solidFill>
            <a:schemeClr val="accent1"/>
          </a:solidFill>
        </p:spPr>
        <p:txBody>
          <a:bodyPr anchor="t" anchorCtr="1"/>
          <a:lstStyle>
            <a:lvl1pPr marL="0" indent="0">
              <a:buFontTx/>
              <a:buNone/>
              <a:defRPr>
                <a:solidFill>
                  <a:schemeClr val="bg1"/>
                </a:solidFill>
              </a:defRPr>
            </a:lvl1pPr>
          </a:lstStyle>
          <a:p>
            <a:r>
              <a:rPr lang="sv-SE" dirty="0"/>
              <a:t>Klicka på ikonen för att lägga till en bild</a:t>
            </a:r>
          </a:p>
        </p:txBody>
      </p:sp>
      <p:pic>
        <p:nvPicPr>
          <p:cNvPr id="9" name="Bildobjekt 8" descr="Logo Stockholms Stad"/>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10214399" y="467862"/>
            <a:ext cx="1368000" cy="468276"/>
          </a:xfrm>
          <a:prstGeom prst="rect">
            <a:avLst/>
          </a:prstGeom>
        </p:spPr>
      </p:pic>
      <p:sp>
        <p:nvSpPr>
          <p:cNvPr id="13" name="textruta 12"/>
          <p:cNvSpPr txBox="1"/>
          <p:nvPr userDrawn="1"/>
        </p:nvSpPr>
        <p:spPr>
          <a:xfrm>
            <a:off x="12288688" y="4483354"/>
            <a:ext cx="1584176" cy="2031325"/>
          </a:xfrm>
          <a:prstGeom prst="rect">
            <a:avLst/>
          </a:prstGeom>
          <a:noFill/>
        </p:spPr>
        <p:txBody>
          <a:bodyPr wrap="square" rtlCol="0">
            <a:spAutoFit/>
          </a:bodyPr>
          <a:lstStyle/>
          <a:p>
            <a:r>
              <a:rPr lang="sv-SE" sz="1400" dirty="0">
                <a:solidFill>
                  <a:schemeClr val="tx2"/>
                </a:solidFill>
              </a:rPr>
              <a:t>Klicka på </a:t>
            </a:r>
            <a:r>
              <a:rPr lang="sv-SE" sz="1400" b="1" dirty="0">
                <a:solidFill>
                  <a:schemeClr val="tx2"/>
                </a:solidFill>
              </a:rPr>
              <a:t>STHLM</a:t>
            </a:r>
            <a:r>
              <a:rPr lang="sv-SE" sz="1400" baseline="0" dirty="0">
                <a:solidFill>
                  <a:schemeClr val="tx2"/>
                </a:solidFill>
              </a:rPr>
              <a:t> </a:t>
            </a:r>
            <a:r>
              <a:rPr lang="sv-SE" sz="1400" b="1" baseline="0" dirty="0">
                <a:solidFill>
                  <a:schemeClr val="tx2"/>
                </a:solidFill>
              </a:rPr>
              <a:t>bilder</a:t>
            </a:r>
            <a:r>
              <a:rPr lang="sv-SE" sz="1400" baseline="0" dirty="0">
                <a:solidFill>
                  <a:schemeClr val="tx2"/>
                </a:solidFill>
              </a:rPr>
              <a:t> för att lägga till en bild. Om du har en egen bild, klicka direkt på ikonen som visas i rutan här till vänster på sidan.</a:t>
            </a:r>
            <a:endParaRPr lang="sv-SE" sz="1400" dirty="0">
              <a:solidFill>
                <a:schemeClr val="tx2"/>
              </a:solidFill>
            </a:endParaRPr>
          </a:p>
        </p:txBody>
      </p:sp>
    </p:spTree>
    <p:extLst>
      <p:ext uri="{BB962C8B-B14F-4D97-AF65-F5344CB8AC3E}">
        <p14:creationId xmlns:p14="http://schemas.microsoft.com/office/powerpoint/2010/main" val="3244855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sida - Färgrutor alt 3 Bred">
    <p:spTree>
      <p:nvGrpSpPr>
        <p:cNvPr id="1" name=""/>
        <p:cNvGrpSpPr/>
        <p:nvPr/>
      </p:nvGrpSpPr>
      <p:grpSpPr>
        <a:xfrm>
          <a:off x="0" y="0"/>
          <a:ext cx="0" cy="0"/>
          <a:chOff x="0" y="0"/>
          <a:chExt cx="0" cy="0"/>
        </a:xfrm>
      </p:grpSpPr>
      <p:sp>
        <p:nvSpPr>
          <p:cNvPr id="6" name="Platshållare för text 16"/>
          <p:cNvSpPr txBox="1">
            <a:spLocks/>
          </p:cNvSpPr>
          <p:nvPr userDrawn="1"/>
        </p:nvSpPr>
        <p:spPr>
          <a:xfrm>
            <a:off x="609600" y="457201"/>
            <a:ext cx="7344000" cy="3960813"/>
          </a:xfrm>
          <a:prstGeom prst="rect">
            <a:avLst/>
          </a:prstGeom>
          <a:solidFill>
            <a:schemeClr val="accent2"/>
          </a:solidFill>
          <a:ln>
            <a:noFill/>
          </a:ln>
        </p:spPr>
        <p:txBody>
          <a:bodyPr lIns="234000" rIns="234000"/>
          <a:lstStyle>
            <a:lvl1pPr>
              <a:buNone/>
              <a:defRPr/>
            </a:lvl1pPr>
          </a:lstStyle>
          <a:p>
            <a:pPr fontAlgn="auto">
              <a:lnSpc>
                <a:spcPts val="2000"/>
              </a:lnSpc>
              <a:spcBef>
                <a:spcPts val="0"/>
              </a:spcBef>
              <a:spcAft>
                <a:spcPts val="0"/>
              </a:spcAft>
              <a:buFont typeface="Arial" pitchFamily="34" charset="0"/>
              <a:buNone/>
              <a:defRPr/>
            </a:pPr>
            <a:r>
              <a:rPr lang="sv-SE" sz="2000" dirty="0">
                <a:solidFill>
                  <a:srgbClr val="000000"/>
                </a:solidFill>
                <a:latin typeface="+mn-lt"/>
                <a:ea typeface="+mn-ea"/>
                <a:cs typeface="+mn-cs"/>
              </a:rPr>
              <a:t>  </a:t>
            </a:r>
          </a:p>
        </p:txBody>
      </p:sp>
      <p:sp>
        <p:nvSpPr>
          <p:cNvPr id="2" name="Rubrik 1"/>
          <p:cNvSpPr>
            <a:spLocks noGrp="1"/>
          </p:cNvSpPr>
          <p:nvPr>
            <p:ph type="title"/>
          </p:nvPr>
        </p:nvSpPr>
        <p:spPr bwMode="white">
          <a:xfrm>
            <a:off x="911424" y="628016"/>
            <a:ext cx="6816757" cy="1144800"/>
          </a:xfrm>
        </p:spPr>
        <p:txBody>
          <a:bodyPr/>
          <a:lstStyle>
            <a:lvl1pPr>
              <a:defRPr>
                <a:solidFill>
                  <a:schemeClr val="bg1"/>
                </a:solidFill>
              </a:defRPr>
            </a:lvl1pPr>
          </a:lstStyle>
          <a:p>
            <a:r>
              <a:rPr lang="sv-SE"/>
              <a:t>Klicka här för att ändra mall för rubrikformat</a:t>
            </a:r>
            <a:endParaRPr lang="sv-SE" dirty="0"/>
          </a:p>
        </p:txBody>
      </p:sp>
      <p:sp>
        <p:nvSpPr>
          <p:cNvPr id="10" name="Platshållare för text 9"/>
          <p:cNvSpPr>
            <a:spLocks noGrp="1"/>
          </p:cNvSpPr>
          <p:nvPr>
            <p:ph type="body" sz="quarter" idx="14"/>
          </p:nvPr>
        </p:nvSpPr>
        <p:spPr bwMode="white">
          <a:xfrm>
            <a:off x="911424" y="1844675"/>
            <a:ext cx="6816757" cy="2376413"/>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sv-SE"/>
              <a:t>Klicka här för att ändra format på bakgrundstexten</a:t>
            </a:r>
          </a:p>
        </p:txBody>
      </p:sp>
      <p:sp>
        <p:nvSpPr>
          <p:cNvPr id="8" name="Platshållare för bild 7"/>
          <p:cNvSpPr>
            <a:spLocks noGrp="1"/>
          </p:cNvSpPr>
          <p:nvPr>
            <p:ph type="pic" sz="quarter" idx="13"/>
          </p:nvPr>
        </p:nvSpPr>
        <p:spPr>
          <a:xfrm>
            <a:off x="7929600" y="4418012"/>
            <a:ext cx="3652800" cy="1980000"/>
          </a:xfrm>
          <a:solidFill>
            <a:schemeClr val="accent4"/>
          </a:solidFill>
        </p:spPr>
        <p:txBody>
          <a:bodyPr anchor="t" anchorCtr="1"/>
          <a:lstStyle>
            <a:lvl1pPr marL="0" indent="0">
              <a:buFontTx/>
              <a:buNone/>
              <a:defRPr>
                <a:solidFill>
                  <a:schemeClr val="bg1"/>
                </a:solidFill>
              </a:defRPr>
            </a:lvl1pPr>
          </a:lstStyle>
          <a:p>
            <a:r>
              <a:rPr lang="sv-SE" dirty="0"/>
              <a:t>Klicka på ikonen för att lägga till en bild</a:t>
            </a:r>
          </a:p>
        </p:txBody>
      </p:sp>
      <p:pic>
        <p:nvPicPr>
          <p:cNvPr id="9" name="Bildobjekt 8" descr="Logo Stockholms Stad"/>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10214399" y="467862"/>
            <a:ext cx="1368000" cy="468276"/>
          </a:xfrm>
          <a:prstGeom prst="rect">
            <a:avLst/>
          </a:prstGeom>
        </p:spPr>
      </p:pic>
      <p:sp>
        <p:nvSpPr>
          <p:cNvPr id="13" name="textruta 12"/>
          <p:cNvSpPr txBox="1"/>
          <p:nvPr userDrawn="1"/>
        </p:nvSpPr>
        <p:spPr>
          <a:xfrm>
            <a:off x="12288688" y="4483354"/>
            <a:ext cx="1584176" cy="2031325"/>
          </a:xfrm>
          <a:prstGeom prst="rect">
            <a:avLst/>
          </a:prstGeom>
          <a:noFill/>
        </p:spPr>
        <p:txBody>
          <a:bodyPr wrap="square" rtlCol="0">
            <a:spAutoFit/>
          </a:bodyPr>
          <a:lstStyle/>
          <a:p>
            <a:r>
              <a:rPr lang="sv-SE" sz="1400" dirty="0">
                <a:solidFill>
                  <a:schemeClr val="tx2"/>
                </a:solidFill>
              </a:rPr>
              <a:t>Klicka på </a:t>
            </a:r>
            <a:r>
              <a:rPr lang="sv-SE" sz="1400" b="1" dirty="0">
                <a:solidFill>
                  <a:schemeClr val="tx2"/>
                </a:solidFill>
              </a:rPr>
              <a:t>STHLM</a:t>
            </a:r>
            <a:r>
              <a:rPr lang="sv-SE" sz="1400" baseline="0" dirty="0">
                <a:solidFill>
                  <a:schemeClr val="tx2"/>
                </a:solidFill>
              </a:rPr>
              <a:t> </a:t>
            </a:r>
            <a:r>
              <a:rPr lang="sv-SE" sz="1400" b="1" baseline="0" dirty="0">
                <a:solidFill>
                  <a:schemeClr val="tx2"/>
                </a:solidFill>
              </a:rPr>
              <a:t>bilder</a:t>
            </a:r>
            <a:r>
              <a:rPr lang="sv-SE" sz="1400" baseline="0" dirty="0">
                <a:solidFill>
                  <a:schemeClr val="tx2"/>
                </a:solidFill>
              </a:rPr>
              <a:t> för att lägga till en bild. Om du har en egen bild, klicka direkt på ikonen som visas i rutan här till vänster på sidan.</a:t>
            </a:r>
            <a:endParaRPr lang="sv-SE" sz="1400" dirty="0">
              <a:solidFill>
                <a:schemeClr val="tx2"/>
              </a:solidFill>
            </a:endParaRPr>
          </a:p>
        </p:txBody>
      </p:sp>
    </p:spTree>
    <p:extLst>
      <p:ext uri="{BB962C8B-B14F-4D97-AF65-F5344CB8AC3E}">
        <p14:creationId xmlns:p14="http://schemas.microsoft.com/office/powerpoint/2010/main" val="2290562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sida - Färgrutor alt 4 Bred">
    <p:spTree>
      <p:nvGrpSpPr>
        <p:cNvPr id="1" name=""/>
        <p:cNvGrpSpPr/>
        <p:nvPr/>
      </p:nvGrpSpPr>
      <p:grpSpPr>
        <a:xfrm>
          <a:off x="0" y="0"/>
          <a:ext cx="0" cy="0"/>
          <a:chOff x="0" y="0"/>
          <a:chExt cx="0" cy="0"/>
        </a:xfrm>
      </p:grpSpPr>
      <p:sp>
        <p:nvSpPr>
          <p:cNvPr id="6" name="Platshållare för text 16"/>
          <p:cNvSpPr txBox="1">
            <a:spLocks/>
          </p:cNvSpPr>
          <p:nvPr userDrawn="1"/>
        </p:nvSpPr>
        <p:spPr>
          <a:xfrm>
            <a:off x="609600" y="457201"/>
            <a:ext cx="7344000" cy="3960813"/>
          </a:xfrm>
          <a:prstGeom prst="rect">
            <a:avLst/>
          </a:prstGeom>
          <a:solidFill>
            <a:schemeClr val="accent1"/>
          </a:solidFill>
          <a:ln>
            <a:noFill/>
          </a:ln>
        </p:spPr>
        <p:txBody>
          <a:bodyPr lIns="234000" rIns="234000"/>
          <a:lstStyle>
            <a:lvl1pPr>
              <a:buNone/>
              <a:defRPr/>
            </a:lvl1pPr>
          </a:lstStyle>
          <a:p>
            <a:pPr fontAlgn="auto">
              <a:lnSpc>
                <a:spcPts val="2000"/>
              </a:lnSpc>
              <a:spcBef>
                <a:spcPts val="0"/>
              </a:spcBef>
              <a:spcAft>
                <a:spcPts val="0"/>
              </a:spcAft>
              <a:buFont typeface="Arial" pitchFamily="34" charset="0"/>
              <a:buNone/>
              <a:defRPr/>
            </a:pPr>
            <a:r>
              <a:rPr lang="sv-SE" sz="2000" dirty="0">
                <a:solidFill>
                  <a:srgbClr val="000000"/>
                </a:solidFill>
                <a:latin typeface="+mn-lt"/>
                <a:ea typeface="+mn-ea"/>
                <a:cs typeface="+mn-cs"/>
              </a:rPr>
              <a:t>  </a:t>
            </a:r>
          </a:p>
        </p:txBody>
      </p:sp>
      <p:sp>
        <p:nvSpPr>
          <p:cNvPr id="2" name="Rubrik 1"/>
          <p:cNvSpPr>
            <a:spLocks noGrp="1"/>
          </p:cNvSpPr>
          <p:nvPr>
            <p:ph type="title"/>
          </p:nvPr>
        </p:nvSpPr>
        <p:spPr bwMode="white">
          <a:xfrm>
            <a:off x="911424" y="628016"/>
            <a:ext cx="6816757" cy="1144800"/>
          </a:xfrm>
        </p:spPr>
        <p:txBody>
          <a:bodyPr/>
          <a:lstStyle>
            <a:lvl1pPr>
              <a:defRPr>
                <a:solidFill>
                  <a:schemeClr val="bg1"/>
                </a:solidFill>
              </a:defRPr>
            </a:lvl1pPr>
          </a:lstStyle>
          <a:p>
            <a:r>
              <a:rPr lang="sv-SE"/>
              <a:t>Klicka här för att ändra mall för rubrikformat</a:t>
            </a:r>
            <a:endParaRPr lang="sv-SE" dirty="0"/>
          </a:p>
        </p:txBody>
      </p:sp>
      <p:sp>
        <p:nvSpPr>
          <p:cNvPr id="10" name="Platshållare för text 9"/>
          <p:cNvSpPr>
            <a:spLocks noGrp="1"/>
          </p:cNvSpPr>
          <p:nvPr>
            <p:ph type="body" sz="quarter" idx="14"/>
          </p:nvPr>
        </p:nvSpPr>
        <p:spPr bwMode="white">
          <a:xfrm>
            <a:off x="911424" y="1844675"/>
            <a:ext cx="6816757" cy="2376413"/>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sv-SE"/>
              <a:t>Klicka här för att ändra format på bakgrundstexten</a:t>
            </a:r>
          </a:p>
        </p:txBody>
      </p:sp>
      <p:sp>
        <p:nvSpPr>
          <p:cNvPr id="8" name="Platshållare för bild 7"/>
          <p:cNvSpPr>
            <a:spLocks noGrp="1"/>
          </p:cNvSpPr>
          <p:nvPr>
            <p:ph type="pic" sz="quarter" idx="13"/>
          </p:nvPr>
        </p:nvSpPr>
        <p:spPr>
          <a:xfrm>
            <a:off x="7929600" y="4418012"/>
            <a:ext cx="3652800" cy="1980000"/>
          </a:xfrm>
          <a:solidFill>
            <a:schemeClr val="accent5"/>
          </a:solidFill>
        </p:spPr>
        <p:txBody>
          <a:bodyPr anchor="t" anchorCtr="1"/>
          <a:lstStyle>
            <a:lvl1pPr marL="0" indent="0">
              <a:buFontTx/>
              <a:buNone/>
              <a:defRPr>
                <a:solidFill>
                  <a:schemeClr val="bg1"/>
                </a:solidFill>
              </a:defRPr>
            </a:lvl1pPr>
          </a:lstStyle>
          <a:p>
            <a:r>
              <a:rPr lang="sv-SE" dirty="0"/>
              <a:t>Klicka på ikonen för att lägga till en bild</a:t>
            </a:r>
          </a:p>
        </p:txBody>
      </p:sp>
      <p:pic>
        <p:nvPicPr>
          <p:cNvPr id="9" name="Bildobjekt 8" descr="Logo Stockholms Stad"/>
          <p:cNvPicPr>
            <a:picLocks noGrp="1" noRo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10214399" y="467862"/>
            <a:ext cx="1368000" cy="468276"/>
          </a:xfrm>
          <a:prstGeom prst="rect">
            <a:avLst/>
          </a:prstGeom>
        </p:spPr>
      </p:pic>
      <p:sp>
        <p:nvSpPr>
          <p:cNvPr id="13" name="textruta 12"/>
          <p:cNvSpPr txBox="1"/>
          <p:nvPr userDrawn="1"/>
        </p:nvSpPr>
        <p:spPr>
          <a:xfrm>
            <a:off x="12288688" y="4483354"/>
            <a:ext cx="1584176" cy="2031325"/>
          </a:xfrm>
          <a:prstGeom prst="rect">
            <a:avLst/>
          </a:prstGeom>
          <a:noFill/>
        </p:spPr>
        <p:txBody>
          <a:bodyPr wrap="square" rtlCol="0">
            <a:spAutoFit/>
          </a:bodyPr>
          <a:lstStyle/>
          <a:p>
            <a:r>
              <a:rPr lang="sv-SE" sz="1400" dirty="0">
                <a:solidFill>
                  <a:schemeClr val="tx2"/>
                </a:solidFill>
              </a:rPr>
              <a:t>Klicka på </a:t>
            </a:r>
            <a:r>
              <a:rPr lang="sv-SE" sz="1400" b="1" dirty="0">
                <a:solidFill>
                  <a:schemeClr val="tx2"/>
                </a:solidFill>
              </a:rPr>
              <a:t>STHLM</a:t>
            </a:r>
            <a:r>
              <a:rPr lang="sv-SE" sz="1400" baseline="0" dirty="0">
                <a:solidFill>
                  <a:schemeClr val="tx2"/>
                </a:solidFill>
              </a:rPr>
              <a:t> </a:t>
            </a:r>
            <a:r>
              <a:rPr lang="sv-SE" sz="1400" b="1" baseline="0" dirty="0">
                <a:solidFill>
                  <a:schemeClr val="tx2"/>
                </a:solidFill>
              </a:rPr>
              <a:t>bilder</a:t>
            </a:r>
            <a:r>
              <a:rPr lang="sv-SE" sz="1400" baseline="0" dirty="0">
                <a:solidFill>
                  <a:schemeClr val="tx2"/>
                </a:solidFill>
              </a:rPr>
              <a:t> för att lägga till en bild. Om du har en egen bild, klicka direkt på ikonen som visas i rutan här till vänster på sidan.</a:t>
            </a:r>
            <a:endParaRPr lang="sv-SE" sz="1400" dirty="0">
              <a:solidFill>
                <a:schemeClr val="tx2"/>
              </a:solidFill>
            </a:endParaRPr>
          </a:p>
        </p:txBody>
      </p:sp>
    </p:spTree>
    <p:extLst>
      <p:ext uri="{BB962C8B-B14F-4D97-AF65-F5344CB8AC3E}">
        <p14:creationId xmlns:p14="http://schemas.microsoft.com/office/powerpoint/2010/main" val="4197635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mall för rubrikformat</a:t>
            </a:r>
            <a:endParaRPr lang="sv-SE" dirty="0"/>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5" name="Platshållare för text 4"/>
          <p:cNvSpPr>
            <a:spLocks noGrp="1"/>
          </p:cNvSpPr>
          <p:nvPr>
            <p:ph type="body" sz="quarter" idx="13" hasCustomPrompt="1"/>
          </p:nvPr>
        </p:nvSpPr>
        <p:spPr>
          <a:xfrm>
            <a:off x="613833" y="5733256"/>
            <a:ext cx="9710400" cy="180000"/>
          </a:xfrm>
        </p:spPr>
        <p:txBody>
          <a:bodyPr/>
          <a:lstStyle>
            <a:lvl1pPr marL="0" indent="0">
              <a:buNone/>
              <a:defRPr sz="1000" baseline="0"/>
            </a:lvl1pPr>
          </a:lstStyle>
          <a:p>
            <a:pPr lvl="0"/>
            <a:r>
              <a:rPr lang="sv-SE" dirty="0"/>
              <a:t>Skriv </a:t>
            </a:r>
            <a:r>
              <a:rPr lang="sv-SE" dirty="0" err="1"/>
              <a:t>ev</a:t>
            </a:r>
            <a:r>
              <a:rPr lang="sv-SE" dirty="0"/>
              <a:t> källa</a:t>
            </a:r>
          </a:p>
        </p:txBody>
      </p:sp>
      <p:sp>
        <p:nvSpPr>
          <p:cNvPr id="4" name="Platshållare för datum 3"/>
          <p:cNvSpPr>
            <a:spLocks noGrp="1"/>
          </p:cNvSpPr>
          <p:nvPr>
            <p:ph type="dt" sz="half" idx="14"/>
          </p:nvPr>
        </p:nvSpPr>
        <p:spPr/>
        <p:txBody>
          <a:bodyPr/>
          <a:lstStyle/>
          <a:p>
            <a:r>
              <a:rPr lang="sv-SE" dirty="0"/>
              <a:t>20XX-XX-XX</a:t>
            </a:r>
          </a:p>
        </p:txBody>
      </p:sp>
      <p:sp>
        <p:nvSpPr>
          <p:cNvPr id="6" name="Platshållare för sidfot 5"/>
          <p:cNvSpPr>
            <a:spLocks noGrp="1"/>
          </p:cNvSpPr>
          <p:nvPr>
            <p:ph type="ftr" sz="quarter" idx="15"/>
          </p:nvPr>
        </p:nvSpPr>
        <p:spPr/>
        <p:txBody>
          <a:bodyPr/>
          <a:lstStyle/>
          <a:p>
            <a:r>
              <a:rPr lang="sv-SE" dirty="0"/>
              <a:t>Skriv eventuell sidfot här</a:t>
            </a:r>
          </a:p>
        </p:txBody>
      </p:sp>
      <p:sp>
        <p:nvSpPr>
          <p:cNvPr id="7" name="Platshållare för bildnummer 6"/>
          <p:cNvSpPr>
            <a:spLocks noGrp="1"/>
          </p:cNvSpPr>
          <p:nvPr>
            <p:ph type="sldNum" sz="quarter" idx="16"/>
          </p:nvPr>
        </p:nvSpPr>
        <p:spPr/>
        <p:txBody>
          <a:bodyPr/>
          <a:lstStyle/>
          <a:p>
            <a:fld id="{A1FA3D87-4B78-4D5D-8368-DA3305501A4C}" type="slidenum">
              <a:rPr lang="sv-SE" smtClean="0"/>
              <a:pPr/>
              <a:t>‹#›</a:t>
            </a:fld>
            <a:endParaRPr lang="sv-SE" dirty="0"/>
          </a:p>
        </p:txBody>
      </p:sp>
    </p:spTree>
    <p:extLst>
      <p:ext uri="{BB962C8B-B14F-4D97-AF65-F5344CB8AC3E}">
        <p14:creationId xmlns:p14="http://schemas.microsoft.com/office/powerpoint/2010/main" val="2127727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vå spalter">
    <p:spTree>
      <p:nvGrpSpPr>
        <p:cNvPr id="1" name=""/>
        <p:cNvGrpSpPr/>
        <p:nvPr/>
      </p:nvGrpSpPr>
      <p:grpSpPr>
        <a:xfrm>
          <a:off x="0" y="0"/>
          <a:ext cx="0" cy="0"/>
          <a:chOff x="0" y="0"/>
          <a:chExt cx="0" cy="0"/>
        </a:xfrm>
      </p:grpSpPr>
      <p:sp>
        <p:nvSpPr>
          <p:cNvPr id="5" name="Rubrik 4"/>
          <p:cNvSpPr>
            <a:spLocks noGrp="1"/>
          </p:cNvSpPr>
          <p:nvPr>
            <p:ph type="title"/>
          </p:nvPr>
        </p:nvSpPr>
        <p:spPr/>
        <p:txBody>
          <a:bodyPr/>
          <a:lstStyle/>
          <a:p>
            <a:r>
              <a:rPr lang="sv-SE"/>
              <a:t>Klicka här för att ändra mall för rubrikformat</a:t>
            </a:r>
            <a:endParaRPr lang="sv-SE" dirty="0"/>
          </a:p>
        </p:txBody>
      </p:sp>
      <p:sp>
        <p:nvSpPr>
          <p:cNvPr id="3" name="Platshållare för innehåll 2"/>
          <p:cNvSpPr>
            <a:spLocks noGrp="1"/>
          </p:cNvSpPr>
          <p:nvPr>
            <p:ph sz="half" idx="1"/>
          </p:nvPr>
        </p:nvSpPr>
        <p:spPr>
          <a:xfrm>
            <a:off x="609600" y="1440001"/>
            <a:ext cx="5184000" cy="3960000"/>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4" name="Platshållare för innehåll 3"/>
          <p:cNvSpPr>
            <a:spLocks noGrp="1"/>
          </p:cNvSpPr>
          <p:nvPr>
            <p:ph sz="half" idx="2"/>
          </p:nvPr>
        </p:nvSpPr>
        <p:spPr>
          <a:xfrm>
            <a:off x="6406913" y="1440000"/>
            <a:ext cx="5184000" cy="3960000"/>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9" name="Platshållare för text 4"/>
          <p:cNvSpPr>
            <a:spLocks noGrp="1"/>
          </p:cNvSpPr>
          <p:nvPr>
            <p:ph type="body" sz="quarter" idx="13" hasCustomPrompt="1"/>
          </p:nvPr>
        </p:nvSpPr>
        <p:spPr>
          <a:xfrm>
            <a:off x="613832" y="5445224"/>
            <a:ext cx="5184000" cy="180000"/>
          </a:xfrm>
        </p:spPr>
        <p:txBody>
          <a:bodyPr/>
          <a:lstStyle>
            <a:lvl1pPr marL="0" indent="0">
              <a:buNone/>
              <a:defRPr sz="1000" baseline="0"/>
            </a:lvl1pPr>
          </a:lstStyle>
          <a:p>
            <a:pPr lvl="0"/>
            <a:r>
              <a:rPr lang="sv-SE" dirty="0"/>
              <a:t>Skriv </a:t>
            </a:r>
            <a:r>
              <a:rPr lang="sv-SE" dirty="0" err="1"/>
              <a:t>ev</a:t>
            </a:r>
            <a:r>
              <a:rPr lang="sv-SE" dirty="0"/>
              <a:t> källa</a:t>
            </a:r>
          </a:p>
        </p:txBody>
      </p:sp>
      <p:sp>
        <p:nvSpPr>
          <p:cNvPr id="10" name="Platshållare för text 4"/>
          <p:cNvSpPr>
            <a:spLocks noGrp="1"/>
          </p:cNvSpPr>
          <p:nvPr>
            <p:ph type="body" sz="quarter" idx="14" hasCustomPrompt="1"/>
          </p:nvPr>
        </p:nvSpPr>
        <p:spPr>
          <a:xfrm>
            <a:off x="6406913" y="5445224"/>
            <a:ext cx="5184000" cy="180000"/>
          </a:xfrm>
        </p:spPr>
        <p:txBody>
          <a:bodyPr/>
          <a:lstStyle>
            <a:lvl1pPr marL="0" indent="0">
              <a:buNone/>
              <a:defRPr sz="1000" baseline="0"/>
            </a:lvl1pPr>
          </a:lstStyle>
          <a:p>
            <a:pPr lvl="0"/>
            <a:r>
              <a:rPr lang="sv-SE" dirty="0"/>
              <a:t>Skriv </a:t>
            </a:r>
            <a:r>
              <a:rPr lang="sv-SE" dirty="0" err="1"/>
              <a:t>ev</a:t>
            </a:r>
            <a:r>
              <a:rPr lang="sv-SE" dirty="0"/>
              <a:t> källa</a:t>
            </a:r>
          </a:p>
        </p:txBody>
      </p:sp>
      <p:sp>
        <p:nvSpPr>
          <p:cNvPr id="11" name="Platshållare för datum 10"/>
          <p:cNvSpPr>
            <a:spLocks noGrp="1"/>
          </p:cNvSpPr>
          <p:nvPr>
            <p:ph type="dt" sz="half" idx="10"/>
          </p:nvPr>
        </p:nvSpPr>
        <p:spPr/>
        <p:txBody>
          <a:bodyPr/>
          <a:lstStyle/>
          <a:p>
            <a:r>
              <a:rPr lang="sv-SE" dirty="0"/>
              <a:t>20XX-XX-XX</a:t>
            </a:r>
          </a:p>
        </p:txBody>
      </p:sp>
      <p:sp>
        <p:nvSpPr>
          <p:cNvPr id="12" name="Platshållare för sidfot 11"/>
          <p:cNvSpPr>
            <a:spLocks noGrp="1"/>
          </p:cNvSpPr>
          <p:nvPr>
            <p:ph type="ftr" sz="quarter" idx="11"/>
          </p:nvPr>
        </p:nvSpPr>
        <p:spPr/>
        <p:txBody>
          <a:bodyPr/>
          <a:lstStyle/>
          <a:p>
            <a:r>
              <a:rPr lang="sv-SE" dirty="0"/>
              <a:t>Skriv eventuell sidfot här</a:t>
            </a:r>
          </a:p>
        </p:txBody>
      </p:sp>
      <p:sp>
        <p:nvSpPr>
          <p:cNvPr id="13" name="Platshållare för bildnummer 12"/>
          <p:cNvSpPr>
            <a:spLocks noGrp="1"/>
          </p:cNvSpPr>
          <p:nvPr>
            <p:ph type="sldNum" sz="quarter" idx="12"/>
          </p:nvPr>
        </p:nvSpPr>
        <p:spPr/>
        <p:txBody>
          <a:bodyPr/>
          <a:lstStyle/>
          <a:p>
            <a:fld id="{A1FA3D87-4B78-4D5D-8368-DA3305501A4C}" type="slidenum">
              <a:rPr lang="sv-SE" smtClean="0"/>
              <a:pPr/>
              <a:t>‹#›</a:t>
            </a:fld>
            <a:endParaRPr lang="sv-SE" dirty="0"/>
          </a:p>
        </p:txBody>
      </p:sp>
    </p:spTree>
    <p:extLst>
      <p:ext uri="{BB962C8B-B14F-4D97-AF65-F5344CB8AC3E}">
        <p14:creationId xmlns:p14="http://schemas.microsoft.com/office/powerpoint/2010/main" val="3359906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 bild höger Bre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mall för rubrikformat</a:t>
            </a:r>
            <a:endParaRPr lang="sv-SE" dirty="0"/>
          </a:p>
        </p:txBody>
      </p:sp>
      <p:sp>
        <p:nvSpPr>
          <p:cNvPr id="5" name="Platshållare för text 4"/>
          <p:cNvSpPr>
            <a:spLocks noGrp="1"/>
          </p:cNvSpPr>
          <p:nvPr>
            <p:ph type="body" sz="quarter" idx="18"/>
          </p:nvPr>
        </p:nvSpPr>
        <p:spPr>
          <a:xfrm>
            <a:off x="609600" y="1440000"/>
            <a:ext cx="5184000" cy="39600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9" name="Platshållare för bild 8"/>
          <p:cNvSpPr>
            <a:spLocks noGrp="1"/>
          </p:cNvSpPr>
          <p:nvPr>
            <p:ph type="pic" sz="quarter" idx="13"/>
          </p:nvPr>
        </p:nvSpPr>
        <p:spPr>
          <a:xfrm>
            <a:off x="6096684" y="1440000"/>
            <a:ext cx="5472000" cy="3960000"/>
          </a:xfrm>
        </p:spPr>
        <p:txBody>
          <a:bodyPr/>
          <a:lstStyle>
            <a:lvl1pPr marL="0" indent="0">
              <a:buFontTx/>
              <a:buNone/>
              <a:defRPr/>
            </a:lvl1pPr>
          </a:lstStyle>
          <a:p>
            <a:r>
              <a:rPr lang="sv-SE" dirty="0"/>
              <a:t>Klicka på ikonen för att lägga till en bild</a:t>
            </a:r>
          </a:p>
        </p:txBody>
      </p:sp>
      <p:sp>
        <p:nvSpPr>
          <p:cNvPr id="8" name="Platshållare för text 4"/>
          <p:cNvSpPr>
            <a:spLocks noGrp="1"/>
          </p:cNvSpPr>
          <p:nvPr>
            <p:ph type="body" sz="quarter" idx="17" hasCustomPrompt="1"/>
          </p:nvPr>
        </p:nvSpPr>
        <p:spPr>
          <a:xfrm>
            <a:off x="6096684" y="5446800"/>
            <a:ext cx="5472000" cy="180000"/>
          </a:xfrm>
        </p:spPr>
        <p:txBody>
          <a:bodyPr/>
          <a:lstStyle>
            <a:lvl1pPr marL="0" indent="0">
              <a:buNone/>
              <a:defRPr sz="1000" baseline="0"/>
            </a:lvl1pPr>
          </a:lstStyle>
          <a:p>
            <a:pPr lvl="0"/>
            <a:r>
              <a:rPr lang="sv-SE" dirty="0"/>
              <a:t>Skriv </a:t>
            </a:r>
            <a:r>
              <a:rPr lang="sv-SE" dirty="0" err="1"/>
              <a:t>ev</a:t>
            </a:r>
            <a:r>
              <a:rPr lang="sv-SE" dirty="0"/>
              <a:t> källa</a:t>
            </a:r>
          </a:p>
        </p:txBody>
      </p:sp>
      <p:sp>
        <p:nvSpPr>
          <p:cNvPr id="13" name="Platshållare för datum 12"/>
          <p:cNvSpPr>
            <a:spLocks noGrp="1"/>
          </p:cNvSpPr>
          <p:nvPr>
            <p:ph type="dt" sz="half" idx="14"/>
          </p:nvPr>
        </p:nvSpPr>
        <p:spPr/>
        <p:txBody>
          <a:bodyPr/>
          <a:lstStyle/>
          <a:p>
            <a:r>
              <a:rPr lang="sv-SE" dirty="0"/>
              <a:t>20XX-XX-XX</a:t>
            </a:r>
          </a:p>
        </p:txBody>
      </p:sp>
      <p:sp>
        <p:nvSpPr>
          <p:cNvPr id="14" name="Platshållare för sidfot 13"/>
          <p:cNvSpPr>
            <a:spLocks noGrp="1"/>
          </p:cNvSpPr>
          <p:nvPr>
            <p:ph type="ftr" sz="quarter" idx="15"/>
          </p:nvPr>
        </p:nvSpPr>
        <p:spPr/>
        <p:txBody>
          <a:bodyPr/>
          <a:lstStyle/>
          <a:p>
            <a:r>
              <a:rPr lang="sv-SE" dirty="0"/>
              <a:t>Skriv eventuell sidfot här</a:t>
            </a:r>
          </a:p>
        </p:txBody>
      </p:sp>
      <p:sp>
        <p:nvSpPr>
          <p:cNvPr id="15" name="Platshållare för bildnummer 14"/>
          <p:cNvSpPr>
            <a:spLocks noGrp="1"/>
          </p:cNvSpPr>
          <p:nvPr>
            <p:ph type="sldNum" sz="quarter" idx="16"/>
          </p:nvPr>
        </p:nvSpPr>
        <p:spPr/>
        <p:txBody>
          <a:bodyPr/>
          <a:lstStyle/>
          <a:p>
            <a:fld id="{A1FA3D87-4B78-4D5D-8368-DA3305501A4C}" type="slidenum">
              <a:rPr lang="sv-SE" smtClean="0"/>
              <a:pPr/>
              <a:t>‹#›</a:t>
            </a:fld>
            <a:endParaRPr lang="sv-SE" dirty="0"/>
          </a:p>
        </p:txBody>
      </p:sp>
      <p:sp>
        <p:nvSpPr>
          <p:cNvPr id="11" name="textruta 10"/>
          <p:cNvSpPr txBox="1"/>
          <p:nvPr userDrawn="1"/>
        </p:nvSpPr>
        <p:spPr>
          <a:xfrm>
            <a:off x="12288688" y="2348880"/>
            <a:ext cx="1584176" cy="2031325"/>
          </a:xfrm>
          <a:prstGeom prst="rect">
            <a:avLst/>
          </a:prstGeom>
          <a:noFill/>
        </p:spPr>
        <p:txBody>
          <a:bodyPr wrap="square" rtlCol="0">
            <a:spAutoFit/>
          </a:bodyPr>
          <a:lstStyle/>
          <a:p>
            <a:r>
              <a:rPr lang="sv-SE" sz="1400" dirty="0">
                <a:solidFill>
                  <a:schemeClr val="tx2"/>
                </a:solidFill>
              </a:rPr>
              <a:t>Klicka på </a:t>
            </a:r>
            <a:r>
              <a:rPr lang="sv-SE" sz="1400" b="1" dirty="0">
                <a:solidFill>
                  <a:schemeClr val="tx2"/>
                </a:solidFill>
              </a:rPr>
              <a:t>STHLM</a:t>
            </a:r>
            <a:r>
              <a:rPr lang="sv-SE" sz="1400" baseline="0" dirty="0">
                <a:solidFill>
                  <a:schemeClr val="tx2"/>
                </a:solidFill>
              </a:rPr>
              <a:t> </a:t>
            </a:r>
            <a:r>
              <a:rPr lang="sv-SE" sz="1400" b="1" baseline="0" dirty="0">
                <a:solidFill>
                  <a:schemeClr val="tx2"/>
                </a:solidFill>
              </a:rPr>
              <a:t>bilder</a:t>
            </a:r>
            <a:r>
              <a:rPr lang="sv-SE" sz="1400" baseline="0" dirty="0">
                <a:solidFill>
                  <a:schemeClr val="tx2"/>
                </a:solidFill>
              </a:rPr>
              <a:t> för att lägga till en bild. Om du har en egen bild, klicka direkt på ikonen som visas i rutan här till vänster på sidan.</a:t>
            </a:r>
            <a:endParaRPr lang="sv-SE" sz="1400" dirty="0">
              <a:solidFill>
                <a:schemeClr val="tx2"/>
              </a:solidFill>
            </a:endParaRPr>
          </a:p>
        </p:txBody>
      </p:sp>
    </p:spTree>
    <p:extLst>
      <p:ext uri="{BB962C8B-B14F-4D97-AF65-F5344CB8AC3E}">
        <p14:creationId xmlns:p14="http://schemas.microsoft.com/office/powerpoint/2010/main" val="3833285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 bild vänster Bred">
    <p:spTree>
      <p:nvGrpSpPr>
        <p:cNvPr id="1" name=""/>
        <p:cNvGrpSpPr/>
        <p:nvPr/>
      </p:nvGrpSpPr>
      <p:grpSpPr>
        <a:xfrm>
          <a:off x="0" y="0"/>
          <a:ext cx="0" cy="0"/>
          <a:chOff x="0" y="0"/>
          <a:chExt cx="0" cy="0"/>
        </a:xfrm>
      </p:grpSpPr>
      <p:sp>
        <p:nvSpPr>
          <p:cNvPr id="3" name="Rubrik 2"/>
          <p:cNvSpPr>
            <a:spLocks noGrp="1"/>
          </p:cNvSpPr>
          <p:nvPr>
            <p:ph type="title"/>
          </p:nvPr>
        </p:nvSpPr>
        <p:spPr>
          <a:xfrm>
            <a:off x="609600" y="457200"/>
            <a:ext cx="10972800" cy="831600"/>
          </a:xfrm>
        </p:spPr>
        <p:txBody>
          <a:bodyPr/>
          <a:lstStyle/>
          <a:p>
            <a:r>
              <a:rPr lang="sv-SE"/>
              <a:t>Klicka här för att ändra mall för rubrikformat</a:t>
            </a:r>
            <a:endParaRPr lang="sv-SE" dirty="0"/>
          </a:p>
        </p:txBody>
      </p:sp>
      <p:sp>
        <p:nvSpPr>
          <p:cNvPr id="9" name="Platshållare för bild 8"/>
          <p:cNvSpPr>
            <a:spLocks noGrp="1"/>
          </p:cNvSpPr>
          <p:nvPr>
            <p:ph type="pic" sz="quarter" idx="13"/>
          </p:nvPr>
        </p:nvSpPr>
        <p:spPr>
          <a:xfrm>
            <a:off x="609600" y="1439998"/>
            <a:ext cx="5472000" cy="3960000"/>
          </a:xfrm>
        </p:spPr>
        <p:txBody>
          <a:bodyPr/>
          <a:lstStyle>
            <a:lvl1pPr marL="0" indent="0">
              <a:buFontTx/>
              <a:buNone/>
              <a:defRPr/>
            </a:lvl1pPr>
          </a:lstStyle>
          <a:p>
            <a:r>
              <a:rPr lang="sv-SE" dirty="0"/>
              <a:t>Klicka på ikonen för att lägga till en bild</a:t>
            </a:r>
          </a:p>
        </p:txBody>
      </p:sp>
      <p:sp>
        <p:nvSpPr>
          <p:cNvPr id="5" name="Platshållare för text 4"/>
          <p:cNvSpPr>
            <a:spLocks noGrp="1"/>
          </p:cNvSpPr>
          <p:nvPr>
            <p:ph type="body" sz="quarter" idx="18"/>
          </p:nvPr>
        </p:nvSpPr>
        <p:spPr>
          <a:xfrm>
            <a:off x="6398400" y="1439863"/>
            <a:ext cx="5184000" cy="39600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8" name="Platshållare för text 4"/>
          <p:cNvSpPr>
            <a:spLocks noGrp="1"/>
          </p:cNvSpPr>
          <p:nvPr>
            <p:ph type="body" sz="quarter" idx="17" hasCustomPrompt="1"/>
          </p:nvPr>
        </p:nvSpPr>
        <p:spPr>
          <a:xfrm>
            <a:off x="613832" y="5446800"/>
            <a:ext cx="5472000" cy="180000"/>
          </a:xfrm>
        </p:spPr>
        <p:txBody>
          <a:bodyPr/>
          <a:lstStyle>
            <a:lvl1pPr marL="0" indent="0">
              <a:buNone/>
              <a:defRPr sz="1000" baseline="0"/>
            </a:lvl1pPr>
          </a:lstStyle>
          <a:p>
            <a:pPr lvl="0"/>
            <a:r>
              <a:rPr lang="sv-SE" dirty="0"/>
              <a:t>Skriv </a:t>
            </a:r>
            <a:r>
              <a:rPr lang="sv-SE" dirty="0" err="1"/>
              <a:t>ev</a:t>
            </a:r>
            <a:r>
              <a:rPr lang="sv-SE" dirty="0"/>
              <a:t> källa</a:t>
            </a:r>
          </a:p>
        </p:txBody>
      </p:sp>
      <p:sp>
        <p:nvSpPr>
          <p:cNvPr id="11" name="Platshållare för datum 10"/>
          <p:cNvSpPr>
            <a:spLocks noGrp="1"/>
          </p:cNvSpPr>
          <p:nvPr>
            <p:ph type="dt" sz="half" idx="14"/>
          </p:nvPr>
        </p:nvSpPr>
        <p:spPr/>
        <p:txBody>
          <a:bodyPr/>
          <a:lstStyle/>
          <a:p>
            <a:r>
              <a:rPr lang="sv-SE" dirty="0"/>
              <a:t>20XX-XX-XX</a:t>
            </a:r>
          </a:p>
        </p:txBody>
      </p:sp>
      <p:sp>
        <p:nvSpPr>
          <p:cNvPr id="12" name="Platshållare för sidfot 11"/>
          <p:cNvSpPr>
            <a:spLocks noGrp="1"/>
          </p:cNvSpPr>
          <p:nvPr>
            <p:ph type="ftr" sz="quarter" idx="15"/>
          </p:nvPr>
        </p:nvSpPr>
        <p:spPr/>
        <p:txBody>
          <a:bodyPr/>
          <a:lstStyle/>
          <a:p>
            <a:r>
              <a:rPr lang="sv-SE" dirty="0"/>
              <a:t>Skriv eventuell sidfot här</a:t>
            </a:r>
          </a:p>
        </p:txBody>
      </p:sp>
      <p:sp>
        <p:nvSpPr>
          <p:cNvPr id="13" name="Platshållare för bildnummer 12"/>
          <p:cNvSpPr>
            <a:spLocks noGrp="1"/>
          </p:cNvSpPr>
          <p:nvPr>
            <p:ph type="sldNum" sz="quarter" idx="16"/>
          </p:nvPr>
        </p:nvSpPr>
        <p:spPr/>
        <p:txBody>
          <a:bodyPr/>
          <a:lstStyle/>
          <a:p>
            <a:fld id="{A1FA3D87-4B78-4D5D-8368-DA3305501A4C}" type="slidenum">
              <a:rPr lang="sv-SE" smtClean="0"/>
              <a:pPr/>
              <a:t>‹#›</a:t>
            </a:fld>
            <a:endParaRPr lang="sv-SE" dirty="0"/>
          </a:p>
        </p:txBody>
      </p:sp>
      <p:sp>
        <p:nvSpPr>
          <p:cNvPr id="14" name="textruta 13"/>
          <p:cNvSpPr txBox="1"/>
          <p:nvPr userDrawn="1"/>
        </p:nvSpPr>
        <p:spPr>
          <a:xfrm>
            <a:off x="12288688" y="2348880"/>
            <a:ext cx="1584176" cy="2031325"/>
          </a:xfrm>
          <a:prstGeom prst="rect">
            <a:avLst/>
          </a:prstGeom>
          <a:noFill/>
        </p:spPr>
        <p:txBody>
          <a:bodyPr wrap="square" rtlCol="0">
            <a:spAutoFit/>
          </a:bodyPr>
          <a:lstStyle/>
          <a:p>
            <a:r>
              <a:rPr lang="sv-SE" sz="1400" dirty="0">
                <a:solidFill>
                  <a:schemeClr val="tx2"/>
                </a:solidFill>
              </a:rPr>
              <a:t>Klicka på </a:t>
            </a:r>
            <a:r>
              <a:rPr lang="sv-SE" sz="1400" b="1" dirty="0">
                <a:solidFill>
                  <a:schemeClr val="tx2"/>
                </a:solidFill>
              </a:rPr>
              <a:t>STHLM</a:t>
            </a:r>
            <a:r>
              <a:rPr lang="sv-SE" sz="1400" baseline="0" dirty="0">
                <a:solidFill>
                  <a:schemeClr val="tx2"/>
                </a:solidFill>
              </a:rPr>
              <a:t> </a:t>
            </a:r>
            <a:r>
              <a:rPr lang="sv-SE" sz="1400" b="1" baseline="0" dirty="0">
                <a:solidFill>
                  <a:schemeClr val="tx2"/>
                </a:solidFill>
              </a:rPr>
              <a:t>bilder</a:t>
            </a:r>
            <a:r>
              <a:rPr lang="sv-SE" sz="1400" baseline="0" dirty="0">
                <a:solidFill>
                  <a:schemeClr val="tx2"/>
                </a:solidFill>
              </a:rPr>
              <a:t> för att lägga till en bild. Om du har en egen bild, klicka direkt på ikonen som visas i rutan här till vänster på sidan.</a:t>
            </a:r>
            <a:endParaRPr lang="sv-SE" sz="1400" dirty="0">
              <a:solidFill>
                <a:schemeClr val="tx2"/>
              </a:solidFill>
            </a:endParaRPr>
          </a:p>
        </p:txBody>
      </p:sp>
    </p:spTree>
    <p:extLst>
      <p:ext uri="{BB962C8B-B14F-4D97-AF65-F5344CB8AC3E}">
        <p14:creationId xmlns:p14="http://schemas.microsoft.com/office/powerpoint/2010/main" val="17891879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 vänster bred och text höger Bred">
    <p:spTree>
      <p:nvGrpSpPr>
        <p:cNvPr id="1" name=""/>
        <p:cNvGrpSpPr/>
        <p:nvPr/>
      </p:nvGrpSpPr>
      <p:grpSpPr>
        <a:xfrm>
          <a:off x="0" y="0"/>
          <a:ext cx="0" cy="0"/>
          <a:chOff x="0" y="0"/>
          <a:chExt cx="0" cy="0"/>
        </a:xfrm>
      </p:grpSpPr>
      <p:sp>
        <p:nvSpPr>
          <p:cNvPr id="2" name="Rubrik 1"/>
          <p:cNvSpPr>
            <a:spLocks noGrp="1"/>
          </p:cNvSpPr>
          <p:nvPr>
            <p:ph type="title"/>
          </p:nvPr>
        </p:nvSpPr>
        <p:spPr>
          <a:xfrm>
            <a:off x="609600" y="457200"/>
            <a:ext cx="10972800" cy="831600"/>
          </a:xfrm>
        </p:spPr>
        <p:txBody>
          <a:bodyPr/>
          <a:lstStyle/>
          <a:p>
            <a:r>
              <a:rPr lang="sv-SE"/>
              <a:t>Klicka här för att ändra mall för rubrikformat</a:t>
            </a:r>
            <a:endParaRPr lang="sv-SE" dirty="0"/>
          </a:p>
        </p:txBody>
      </p:sp>
      <p:sp>
        <p:nvSpPr>
          <p:cNvPr id="9" name="Platshållare för bild 8"/>
          <p:cNvSpPr>
            <a:spLocks noGrp="1"/>
          </p:cNvSpPr>
          <p:nvPr>
            <p:ph type="pic" sz="quarter" idx="13"/>
          </p:nvPr>
        </p:nvSpPr>
        <p:spPr>
          <a:xfrm>
            <a:off x="609600" y="1439999"/>
            <a:ext cx="7680000" cy="4294051"/>
          </a:xfrm>
        </p:spPr>
        <p:txBody>
          <a:bodyPr/>
          <a:lstStyle>
            <a:lvl1pPr marL="0" indent="0">
              <a:buFontTx/>
              <a:buNone/>
              <a:defRPr/>
            </a:lvl1pPr>
          </a:lstStyle>
          <a:p>
            <a:r>
              <a:rPr lang="sv-SE" dirty="0"/>
              <a:t>Klicka på ikonen för att lägga till en bild</a:t>
            </a:r>
          </a:p>
        </p:txBody>
      </p:sp>
      <p:sp>
        <p:nvSpPr>
          <p:cNvPr id="5" name="Platshållare för text 4"/>
          <p:cNvSpPr>
            <a:spLocks noGrp="1"/>
          </p:cNvSpPr>
          <p:nvPr>
            <p:ph type="body" sz="quarter" idx="18"/>
          </p:nvPr>
        </p:nvSpPr>
        <p:spPr>
          <a:xfrm>
            <a:off x="8496000" y="1440000"/>
            <a:ext cx="3086400" cy="4294800"/>
          </a:xfrm>
        </p:spPr>
        <p:txBody>
          <a:bodyPr/>
          <a:lstStyle>
            <a:lvl1pPr>
              <a:defRPr sz="1800"/>
            </a:lvl1pPr>
            <a:lvl2pPr>
              <a:defRPr sz="1800"/>
            </a:lvl2pPr>
            <a:lvl3pPr>
              <a:defRPr sz="1800"/>
            </a:lvl3pPr>
            <a:lvl4pPr>
              <a:defRPr sz="1800"/>
            </a:lvl4pPr>
            <a:lvl5pPr>
              <a:defRPr sz="18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0" name="Platshållare för text 4"/>
          <p:cNvSpPr>
            <a:spLocks noGrp="1"/>
          </p:cNvSpPr>
          <p:nvPr>
            <p:ph type="body" sz="quarter" idx="17" hasCustomPrompt="1"/>
          </p:nvPr>
        </p:nvSpPr>
        <p:spPr>
          <a:xfrm>
            <a:off x="609600" y="5733256"/>
            <a:ext cx="7680000" cy="180000"/>
          </a:xfrm>
        </p:spPr>
        <p:txBody>
          <a:bodyPr/>
          <a:lstStyle>
            <a:lvl1pPr marL="0" indent="0">
              <a:buNone/>
              <a:defRPr sz="1000" baseline="0"/>
            </a:lvl1pPr>
          </a:lstStyle>
          <a:p>
            <a:pPr lvl="0"/>
            <a:r>
              <a:rPr lang="sv-SE" dirty="0"/>
              <a:t>Skriv </a:t>
            </a:r>
            <a:r>
              <a:rPr lang="sv-SE" dirty="0" err="1"/>
              <a:t>ev</a:t>
            </a:r>
            <a:r>
              <a:rPr lang="sv-SE" dirty="0"/>
              <a:t> källa</a:t>
            </a:r>
          </a:p>
        </p:txBody>
      </p:sp>
      <p:sp>
        <p:nvSpPr>
          <p:cNvPr id="11" name="Platshållare för datum 10"/>
          <p:cNvSpPr>
            <a:spLocks noGrp="1"/>
          </p:cNvSpPr>
          <p:nvPr>
            <p:ph type="dt" sz="half" idx="14"/>
          </p:nvPr>
        </p:nvSpPr>
        <p:spPr/>
        <p:txBody>
          <a:bodyPr/>
          <a:lstStyle/>
          <a:p>
            <a:r>
              <a:rPr lang="sv-SE" dirty="0"/>
              <a:t>20XX-XX-XX</a:t>
            </a:r>
          </a:p>
        </p:txBody>
      </p:sp>
      <p:sp>
        <p:nvSpPr>
          <p:cNvPr id="12" name="Platshållare för sidfot 11"/>
          <p:cNvSpPr>
            <a:spLocks noGrp="1"/>
          </p:cNvSpPr>
          <p:nvPr>
            <p:ph type="ftr" sz="quarter" idx="15"/>
          </p:nvPr>
        </p:nvSpPr>
        <p:spPr/>
        <p:txBody>
          <a:bodyPr/>
          <a:lstStyle/>
          <a:p>
            <a:r>
              <a:rPr lang="sv-SE" dirty="0"/>
              <a:t>Skriv eventuell sidfot här</a:t>
            </a:r>
          </a:p>
        </p:txBody>
      </p:sp>
      <p:sp>
        <p:nvSpPr>
          <p:cNvPr id="13" name="Platshållare för bildnummer 12"/>
          <p:cNvSpPr>
            <a:spLocks noGrp="1"/>
          </p:cNvSpPr>
          <p:nvPr>
            <p:ph type="sldNum" sz="quarter" idx="16"/>
          </p:nvPr>
        </p:nvSpPr>
        <p:spPr/>
        <p:txBody>
          <a:bodyPr/>
          <a:lstStyle/>
          <a:p>
            <a:fld id="{A1FA3D87-4B78-4D5D-8368-DA3305501A4C}" type="slidenum">
              <a:rPr lang="sv-SE" smtClean="0"/>
              <a:pPr/>
              <a:t>‹#›</a:t>
            </a:fld>
            <a:endParaRPr lang="sv-SE" dirty="0"/>
          </a:p>
        </p:txBody>
      </p:sp>
      <p:sp>
        <p:nvSpPr>
          <p:cNvPr id="15" name="textruta 14"/>
          <p:cNvSpPr txBox="1"/>
          <p:nvPr userDrawn="1"/>
        </p:nvSpPr>
        <p:spPr>
          <a:xfrm>
            <a:off x="12288688" y="2348880"/>
            <a:ext cx="1584176" cy="2031325"/>
          </a:xfrm>
          <a:prstGeom prst="rect">
            <a:avLst/>
          </a:prstGeom>
          <a:noFill/>
        </p:spPr>
        <p:txBody>
          <a:bodyPr wrap="square" rtlCol="0">
            <a:spAutoFit/>
          </a:bodyPr>
          <a:lstStyle/>
          <a:p>
            <a:r>
              <a:rPr lang="sv-SE" sz="1400" dirty="0">
                <a:solidFill>
                  <a:schemeClr val="tx2"/>
                </a:solidFill>
              </a:rPr>
              <a:t>Klicka på </a:t>
            </a:r>
            <a:r>
              <a:rPr lang="sv-SE" sz="1400" b="1" dirty="0">
                <a:solidFill>
                  <a:schemeClr val="tx2"/>
                </a:solidFill>
              </a:rPr>
              <a:t>STHLM</a:t>
            </a:r>
            <a:r>
              <a:rPr lang="sv-SE" sz="1400" baseline="0" dirty="0">
                <a:solidFill>
                  <a:schemeClr val="tx2"/>
                </a:solidFill>
              </a:rPr>
              <a:t> </a:t>
            </a:r>
            <a:r>
              <a:rPr lang="sv-SE" sz="1400" b="1" baseline="0" dirty="0">
                <a:solidFill>
                  <a:schemeClr val="tx2"/>
                </a:solidFill>
              </a:rPr>
              <a:t>bilder</a:t>
            </a:r>
            <a:r>
              <a:rPr lang="sv-SE" sz="1400" baseline="0" dirty="0">
                <a:solidFill>
                  <a:schemeClr val="tx2"/>
                </a:solidFill>
              </a:rPr>
              <a:t> för att lägga till en bild. Om du har en egen bild, klicka direkt på ikonen som visas i rutan här till vänster på sidan.</a:t>
            </a:r>
            <a:endParaRPr lang="sv-SE" sz="1400" dirty="0">
              <a:solidFill>
                <a:schemeClr val="tx2"/>
              </a:solidFill>
            </a:endParaRPr>
          </a:p>
        </p:txBody>
      </p:sp>
    </p:spTree>
    <p:extLst>
      <p:ext uri="{BB962C8B-B14F-4D97-AF65-F5344CB8AC3E}">
        <p14:creationId xmlns:p14="http://schemas.microsoft.com/office/powerpoint/2010/main" val="1114455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ubrik och bild Bred">
    <p:spTree>
      <p:nvGrpSpPr>
        <p:cNvPr id="1" name=""/>
        <p:cNvGrpSpPr/>
        <p:nvPr/>
      </p:nvGrpSpPr>
      <p:grpSpPr>
        <a:xfrm>
          <a:off x="0" y="0"/>
          <a:ext cx="0" cy="0"/>
          <a:chOff x="0" y="0"/>
          <a:chExt cx="0" cy="0"/>
        </a:xfrm>
      </p:grpSpPr>
      <p:sp>
        <p:nvSpPr>
          <p:cNvPr id="3" name="Rubrik 2"/>
          <p:cNvSpPr>
            <a:spLocks noGrp="1"/>
          </p:cNvSpPr>
          <p:nvPr>
            <p:ph type="title"/>
          </p:nvPr>
        </p:nvSpPr>
        <p:spPr/>
        <p:txBody>
          <a:bodyPr/>
          <a:lstStyle/>
          <a:p>
            <a:r>
              <a:rPr lang="sv-SE"/>
              <a:t>Klicka här för att ändra mall för rubrikformat</a:t>
            </a:r>
            <a:endParaRPr lang="sv-SE" dirty="0"/>
          </a:p>
        </p:txBody>
      </p:sp>
      <p:sp>
        <p:nvSpPr>
          <p:cNvPr id="9" name="Platshållare för bild 8"/>
          <p:cNvSpPr>
            <a:spLocks noGrp="1"/>
          </p:cNvSpPr>
          <p:nvPr>
            <p:ph type="pic" sz="quarter" idx="13"/>
          </p:nvPr>
        </p:nvSpPr>
        <p:spPr>
          <a:xfrm>
            <a:off x="609600" y="1439999"/>
            <a:ext cx="10959008" cy="4294051"/>
          </a:xfrm>
        </p:spPr>
        <p:txBody>
          <a:bodyPr/>
          <a:lstStyle>
            <a:lvl1pPr marL="0" indent="0">
              <a:buFontTx/>
              <a:buNone/>
              <a:defRPr/>
            </a:lvl1pPr>
          </a:lstStyle>
          <a:p>
            <a:r>
              <a:rPr lang="sv-SE" dirty="0"/>
              <a:t>Klicka på ikonen för att lägga till en bild</a:t>
            </a:r>
          </a:p>
        </p:txBody>
      </p:sp>
      <p:sp>
        <p:nvSpPr>
          <p:cNvPr id="8" name="Platshållare för text 4"/>
          <p:cNvSpPr>
            <a:spLocks noGrp="1"/>
          </p:cNvSpPr>
          <p:nvPr>
            <p:ph type="body" sz="quarter" idx="17" hasCustomPrompt="1"/>
          </p:nvPr>
        </p:nvSpPr>
        <p:spPr>
          <a:xfrm>
            <a:off x="613833" y="5733256"/>
            <a:ext cx="10958400" cy="180000"/>
          </a:xfrm>
        </p:spPr>
        <p:txBody>
          <a:bodyPr/>
          <a:lstStyle>
            <a:lvl1pPr marL="0" indent="0">
              <a:buNone/>
              <a:defRPr sz="1000" baseline="0"/>
            </a:lvl1pPr>
          </a:lstStyle>
          <a:p>
            <a:pPr lvl="0"/>
            <a:r>
              <a:rPr lang="sv-SE" dirty="0"/>
              <a:t>Skriv </a:t>
            </a:r>
            <a:r>
              <a:rPr lang="sv-SE" dirty="0" err="1"/>
              <a:t>ev</a:t>
            </a:r>
            <a:r>
              <a:rPr lang="sv-SE" dirty="0"/>
              <a:t> källa</a:t>
            </a:r>
          </a:p>
        </p:txBody>
      </p:sp>
      <p:sp>
        <p:nvSpPr>
          <p:cNvPr id="5" name="Platshållare för datum 4"/>
          <p:cNvSpPr>
            <a:spLocks noGrp="1"/>
          </p:cNvSpPr>
          <p:nvPr>
            <p:ph type="dt" sz="half" idx="14"/>
          </p:nvPr>
        </p:nvSpPr>
        <p:spPr/>
        <p:txBody>
          <a:bodyPr/>
          <a:lstStyle/>
          <a:p>
            <a:r>
              <a:rPr lang="sv-SE" dirty="0"/>
              <a:t>20XX-XX-XX</a:t>
            </a:r>
          </a:p>
        </p:txBody>
      </p:sp>
      <p:sp>
        <p:nvSpPr>
          <p:cNvPr id="6" name="Platshållare för sidfot 5"/>
          <p:cNvSpPr>
            <a:spLocks noGrp="1"/>
          </p:cNvSpPr>
          <p:nvPr>
            <p:ph type="ftr" sz="quarter" idx="15"/>
          </p:nvPr>
        </p:nvSpPr>
        <p:spPr/>
        <p:txBody>
          <a:bodyPr/>
          <a:lstStyle/>
          <a:p>
            <a:r>
              <a:rPr lang="sv-SE" dirty="0"/>
              <a:t>Skriv eventuell sidfot här</a:t>
            </a:r>
          </a:p>
        </p:txBody>
      </p:sp>
      <p:sp>
        <p:nvSpPr>
          <p:cNvPr id="7" name="Platshållare för bildnummer 6"/>
          <p:cNvSpPr>
            <a:spLocks noGrp="1"/>
          </p:cNvSpPr>
          <p:nvPr>
            <p:ph type="sldNum" sz="quarter" idx="16"/>
          </p:nvPr>
        </p:nvSpPr>
        <p:spPr/>
        <p:txBody>
          <a:bodyPr/>
          <a:lstStyle/>
          <a:p>
            <a:fld id="{A1FA3D87-4B78-4D5D-8368-DA3305501A4C}" type="slidenum">
              <a:rPr lang="sv-SE" smtClean="0"/>
              <a:pPr/>
              <a:t>‹#›</a:t>
            </a:fld>
            <a:endParaRPr lang="sv-SE" dirty="0"/>
          </a:p>
        </p:txBody>
      </p:sp>
      <p:sp>
        <p:nvSpPr>
          <p:cNvPr id="11" name="textruta 10"/>
          <p:cNvSpPr txBox="1"/>
          <p:nvPr userDrawn="1"/>
        </p:nvSpPr>
        <p:spPr>
          <a:xfrm>
            <a:off x="12288688" y="2348880"/>
            <a:ext cx="1584176" cy="2031325"/>
          </a:xfrm>
          <a:prstGeom prst="rect">
            <a:avLst/>
          </a:prstGeom>
          <a:noFill/>
        </p:spPr>
        <p:txBody>
          <a:bodyPr wrap="square" rtlCol="0">
            <a:spAutoFit/>
          </a:bodyPr>
          <a:lstStyle/>
          <a:p>
            <a:r>
              <a:rPr lang="sv-SE" sz="1400" dirty="0">
                <a:solidFill>
                  <a:schemeClr val="tx2"/>
                </a:solidFill>
              </a:rPr>
              <a:t>Klicka på </a:t>
            </a:r>
            <a:r>
              <a:rPr lang="sv-SE" sz="1400" b="1" dirty="0">
                <a:solidFill>
                  <a:schemeClr val="tx2"/>
                </a:solidFill>
              </a:rPr>
              <a:t>STHLM</a:t>
            </a:r>
            <a:r>
              <a:rPr lang="sv-SE" sz="1400" baseline="0" dirty="0">
                <a:solidFill>
                  <a:schemeClr val="tx2"/>
                </a:solidFill>
              </a:rPr>
              <a:t> </a:t>
            </a:r>
            <a:r>
              <a:rPr lang="sv-SE" sz="1400" b="1" baseline="0" dirty="0">
                <a:solidFill>
                  <a:schemeClr val="tx2"/>
                </a:solidFill>
              </a:rPr>
              <a:t>bilder</a:t>
            </a:r>
            <a:r>
              <a:rPr lang="sv-SE" sz="1400" baseline="0" dirty="0">
                <a:solidFill>
                  <a:schemeClr val="tx2"/>
                </a:solidFill>
              </a:rPr>
              <a:t> för att lägga till en bild. Om du har en egen bild, klicka direkt på ikonen som visas i rutan här till vänster på sidan.</a:t>
            </a:r>
            <a:endParaRPr lang="sv-SE" sz="1400" dirty="0">
              <a:solidFill>
                <a:schemeClr val="tx2"/>
              </a:solidFill>
            </a:endParaRPr>
          </a:p>
        </p:txBody>
      </p:sp>
    </p:spTree>
    <p:extLst>
      <p:ext uri="{BB962C8B-B14F-4D97-AF65-F5344CB8AC3E}">
        <p14:creationId xmlns:p14="http://schemas.microsoft.com/office/powerpoint/2010/main" val="32268255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7" name="Rubrik 6"/>
          <p:cNvSpPr>
            <a:spLocks noGrp="1"/>
          </p:cNvSpPr>
          <p:nvPr>
            <p:ph type="title"/>
          </p:nvPr>
        </p:nvSpPr>
        <p:spPr/>
        <p:txBody>
          <a:bodyPr/>
          <a:lstStyle/>
          <a:p>
            <a:r>
              <a:rPr lang="sv-SE"/>
              <a:t>Klicka här för att ändra mall för rubrikformat</a:t>
            </a:r>
            <a:endParaRPr lang="sv-SE" dirty="0"/>
          </a:p>
        </p:txBody>
      </p:sp>
      <p:sp>
        <p:nvSpPr>
          <p:cNvPr id="3" name="Platshållare för text 2"/>
          <p:cNvSpPr>
            <a:spLocks noGrp="1"/>
          </p:cNvSpPr>
          <p:nvPr>
            <p:ph type="body" idx="1"/>
          </p:nvPr>
        </p:nvSpPr>
        <p:spPr>
          <a:xfrm>
            <a:off x="609600" y="1484784"/>
            <a:ext cx="5184000" cy="639762"/>
          </a:xfrm>
        </p:spPr>
        <p:txBody>
          <a:bodyPr anchor="b"/>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p:cNvSpPr>
            <a:spLocks noGrp="1"/>
          </p:cNvSpPr>
          <p:nvPr>
            <p:ph sz="half" idx="2"/>
          </p:nvPr>
        </p:nvSpPr>
        <p:spPr>
          <a:xfrm>
            <a:off x="609600" y="2174874"/>
            <a:ext cx="5184000" cy="3456000"/>
          </a:xfrm>
        </p:spPr>
        <p:txBody>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5" name="Platshållare för text 4"/>
          <p:cNvSpPr>
            <a:spLocks noGrp="1"/>
          </p:cNvSpPr>
          <p:nvPr>
            <p:ph type="body" sz="quarter" idx="3"/>
          </p:nvPr>
        </p:nvSpPr>
        <p:spPr>
          <a:xfrm>
            <a:off x="6398400" y="1484784"/>
            <a:ext cx="5184000" cy="639762"/>
          </a:xfrm>
        </p:spPr>
        <p:txBody>
          <a:bodyPr anchor="b"/>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p:cNvSpPr>
            <a:spLocks noGrp="1"/>
          </p:cNvSpPr>
          <p:nvPr>
            <p:ph sz="quarter" idx="4"/>
          </p:nvPr>
        </p:nvSpPr>
        <p:spPr>
          <a:xfrm>
            <a:off x="6398400" y="2174874"/>
            <a:ext cx="5184000" cy="3456000"/>
          </a:xfrm>
        </p:spPr>
        <p:txBody>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0" name="Platshållare för text 4"/>
          <p:cNvSpPr>
            <a:spLocks noGrp="1"/>
          </p:cNvSpPr>
          <p:nvPr>
            <p:ph type="body" sz="quarter" idx="17" hasCustomPrompt="1"/>
          </p:nvPr>
        </p:nvSpPr>
        <p:spPr>
          <a:xfrm>
            <a:off x="609600" y="5670192"/>
            <a:ext cx="5184000" cy="180000"/>
          </a:xfrm>
        </p:spPr>
        <p:txBody>
          <a:bodyPr/>
          <a:lstStyle>
            <a:lvl1pPr marL="0" indent="0">
              <a:buNone/>
              <a:defRPr sz="1000" baseline="0"/>
            </a:lvl1pPr>
          </a:lstStyle>
          <a:p>
            <a:pPr lvl="0"/>
            <a:r>
              <a:rPr lang="sv-SE" dirty="0"/>
              <a:t>Skriv </a:t>
            </a:r>
            <a:r>
              <a:rPr lang="sv-SE" dirty="0" err="1"/>
              <a:t>ev</a:t>
            </a:r>
            <a:r>
              <a:rPr lang="sv-SE" dirty="0"/>
              <a:t> källa</a:t>
            </a:r>
          </a:p>
        </p:txBody>
      </p:sp>
      <p:sp>
        <p:nvSpPr>
          <p:cNvPr id="11" name="Platshållare för text 4"/>
          <p:cNvSpPr>
            <a:spLocks noGrp="1"/>
          </p:cNvSpPr>
          <p:nvPr>
            <p:ph type="body" sz="quarter" idx="18" hasCustomPrompt="1"/>
          </p:nvPr>
        </p:nvSpPr>
        <p:spPr>
          <a:xfrm>
            <a:off x="6398400" y="5670192"/>
            <a:ext cx="5184000" cy="180000"/>
          </a:xfrm>
        </p:spPr>
        <p:txBody>
          <a:bodyPr/>
          <a:lstStyle>
            <a:lvl1pPr marL="0" indent="0">
              <a:buNone/>
              <a:defRPr sz="1000" baseline="0"/>
            </a:lvl1pPr>
          </a:lstStyle>
          <a:p>
            <a:pPr lvl="0"/>
            <a:r>
              <a:rPr lang="sv-SE" dirty="0"/>
              <a:t>Skriv </a:t>
            </a:r>
            <a:r>
              <a:rPr lang="sv-SE" dirty="0" err="1"/>
              <a:t>ev</a:t>
            </a:r>
            <a:r>
              <a:rPr lang="sv-SE" dirty="0"/>
              <a:t> källa</a:t>
            </a:r>
          </a:p>
        </p:txBody>
      </p:sp>
      <p:sp>
        <p:nvSpPr>
          <p:cNvPr id="13" name="Platshållare för datum 12"/>
          <p:cNvSpPr>
            <a:spLocks noGrp="1"/>
          </p:cNvSpPr>
          <p:nvPr>
            <p:ph type="dt" sz="half" idx="10"/>
          </p:nvPr>
        </p:nvSpPr>
        <p:spPr/>
        <p:txBody>
          <a:bodyPr/>
          <a:lstStyle/>
          <a:p>
            <a:r>
              <a:rPr lang="sv-SE" dirty="0"/>
              <a:t>20XX-XX-XX</a:t>
            </a:r>
          </a:p>
        </p:txBody>
      </p:sp>
      <p:sp>
        <p:nvSpPr>
          <p:cNvPr id="14" name="Platshållare för sidfot 13"/>
          <p:cNvSpPr>
            <a:spLocks noGrp="1"/>
          </p:cNvSpPr>
          <p:nvPr>
            <p:ph type="ftr" sz="quarter" idx="11"/>
          </p:nvPr>
        </p:nvSpPr>
        <p:spPr/>
        <p:txBody>
          <a:bodyPr/>
          <a:lstStyle/>
          <a:p>
            <a:r>
              <a:rPr lang="sv-SE" dirty="0"/>
              <a:t>Skriv eventuell sidfot här</a:t>
            </a:r>
          </a:p>
        </p:txBody>
      </p:sp>
      <p:sp>
        <p:nvSpPr>
          <p:cNvPr id="15" name="Platshållare för bildnummer 14"/>
          <p:cNvSpPr>
            <a:spLocks noGrp="1"/>
          </p:cNvSpPr>
          <p:nvPr>
            <p:ph type="sldNum" sz="quarter" idx="12"/>
          </p:nvPr>
        </p:nvSpPr>
        <p:spPr/>
        <p:txBody>
          <a:bodyPr/>
          <a:lstStyle/>
          <a:p>
            <a:fld id="{A1FA3D87-4B78-4D5D-8368-DA3305501A4C}" type="slidenum">
              <a:rPr lang="sv-SE" smtClean="0"/>
              <a:pPr/>
              <a:t>‹#›</a:t>
            </a:fld>
            <a:endParaRPr lang="sv-SE" dirty="0"/>
          </a:p>
        </p:txBody>
      </p:sp>
    </p:spTree>
    <p:extLst>
      <p:ext uri="{BB962C8B-B14F-4D97-AF65-F5344CB8AC3E}">
        <p14:creationId xmlns:p14="http://schemas.microsoft.com/office/powerpoint/2010/main" val="19534606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mall för rubrikformat</a:t>
            </a:r>
          </a:p>
        </p:txBody>
      </p:sp>
      <p:sp>
        <p:nvSpPr>
          <p:cNvPr id="12" name="Platshållare för datum 11"/>
          <p:cNvSpPr>
            <a:spLocks noGrp="1"/>
          </p:cNvSpPr>
          <p:nvPr>
            <p:ph type="dt" sz="half" idx="10"/>
          </p:nvPr>
        </p:nvSpPr>
        <p:spPr/>
        <p:txBody>
          <a:bodyPr/>
          <a:lstStyle/>
          <a:p>
            <a:r>
              <a:rPr lang="sv-SE" dirty="0"/>
              <a:t>20XX-XX-XX</a:t>
            </a:r>
          </a:p>
        </p:txBody>
      </p:sp>
      <p:sp>
        <p:nvSpPr>
          <p:cNvPr id="13" name="Platshållare för sidfot 12"/>
          <p:cNvSpPr>
            <a:spLocks noGrp="1"/>
          </p:cNvSpPr>
          <p:nvPr>
            <p:ph type="ftr" sz="quarter" idx="11"/>
          </p:nvPr>
        </p:nvSpPr>
        <p:spPr/>
        <p:txBody>
          <a:bodyPr/>
          <a:lstStyle/>
          <a:p>
            <a:r>
              <a:rPr lang="sv-SE" dirty="0"/>
              <a:t>Skriv eventuell sidfot här</a:t>
            </a:r>
          </a:p>
        </p:txBody>
      </p:sp>
      <p:sp>
        <p:nvSpPr>
          <p:cNvPr id="14" name="Platshållare för bildnummer 13"/>
          <p:cNvSpPr>
            <a:spLocks noGrp="1"/>
          </p:cNvSpPr>
          <p:nvPr>
            <p:ph type="sldNum" sz="quarter" idx="12"/>
          </p:nvPr>
        </p:nvSpPr>
        <p:spPr/>
        <p:txBody>
          <a:bodyPr/>
          <a:lstStyle/>
          <a:p>
            <a:fld id="{A1FA3D87-4B78-4D5D-8368-DA3305501A4C}" type="slidenum">
              <a:rPr lang="sv-SE" smtClean="0"/>
              <a:pPr/>
              <a:t>‹#›</a:t>
            </a:fld>
            <a:endParaRPr lang="sv-SE" dirty="0"/>
          </a:p>
        </p:txBody>
      </p:sp>
    </p:spTree>
    <p:extLst>
      <p:ext uri="{BB962C8B-B14F-4D97-AF65-F5344CB8AC3E}">
        <p14:creationId xmlns:p14="http://schemas.microsoft.com/office/powerpoint/2010/main" val="25314645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8" name="Platshållare för datum 7"/>
          <p:cNvSpPr>
            <a:spLocks noGrp="1"/>
          </p:cNvSpPr>
          <p:nvPr>
            <p:ph type="dt" sz="half" idx="10"/>
          </p:nvPr>
        </p:nvSpPr>
        <p:spPr/>
        <p:txBody>
          <a:bodyPr/>
          <a:lstStyle/>
          <a:p>
            <a:r>
              <a:rPr lang="sv-SE" dirty="0"/>
              <a:t>20XX-XX-XX</a:t>
            </a:r>
          </a:p>
        </p:txBody>
      </p:sp>
      <p:sp>
        <p:nvSpPr>
          <p:cNvPr id="9" name="Platshållare för sidfot 8"/>
          <p:cNvSpPr>
            <a:spLocks noGrp="1"/>
          </p:cNvSpPr>
          <p:nvPr>
            <p:ph type="ftr" sz="quarter" idx="11"/>
          </p:nvPr>
        </p:nvSpPr>
        <p:spPr/>
        <p:txBody>
          <a:bodyPr/>
          <a:lstStyle/>
          <a:p>
            <a:r>
              <a:rPr lang="sv-SE" dirty="0"/>
              <a:t>Skriv eventuell sidfot här</a:t>
            </a:r>
          </a:p>
        </p:txBody>
      </p:sp>
      <p:sp>
        <p:nvSpPr>
          <p:cNvPr id="10" name="Platshållare för bildnummer 9"/>
          <p:cNvSpPr>
            <a:spLocks noGrp="1"/>
          </p:cNvSpPr>
          <p:nvPr>
            <p:ph type="sldNum" sz="quarter" idx="12"/>
          </p:nvPr>
        </p:nvSpPr>
        <p:spPr/>
        <p:txBody>
          <a:bodyPr/>
          <a:lstStyle/>
          <a:p>
            <a:fld id="{A1FA3D87-4B78-4D5D-8368-DA3305501A4C}" type="slidenum">
              <a:rPr lang="sv-SE" smtClean="0"/>
              <a:pPr/>
              <a:t>‹#›</a:t>
            </a:fld>
            <a:endParaRPr lang="sv-SE" dirty="0"/>
          </a:p>
        </p:txBody>
      </p:sp>
    </p:spTree>
    <p:extLst>
      <p:ext uri="{BB962C8B-B14F-4D97-AF65-F5344CB8AC3E}">
        <p14:creationId xmlns:p14="http://schemas.microsoft.com/office/powerpoint/2010/main" val="517948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Kapitelsida - Lila">
    <p:bg>
      <p:bgPr>
        <a:solidFill>
          <a:schemeClr val="accent4"/>
        </a:solidFill>
        <a:effectLst/>
      </p:bgPr>
    </p:bg>
    <p:spTree>
      <p:nvGrpSpPr>
        <p:cNvPr id="1" name=""/>
        <p:cNvGrpSpPr/>
        <p:nvPr/>
      </p:nvGrpSpPr>
      <p:grpSpPr>
        <a:xfrm>
          <a:off x="0" y="0"/>
          <a:ext cx="0" cy="0"/>
          <a:chOff x="0" y="0"/>
          <a:chExt cx="0" cy="0"/>
        </a:xfrm>
      </p:grpSpPr>
      <p:sp>
        <p:nvSpPr>
          <p:cNvPr id="2" name="Rubrik 1"/>
          <p:cNvSpPr>
            <a:spLocks noGrp="1"/>
          </p:cNvSpPr>
          <p:nvPr>
            <p:ph type="title"/>
          </p:nvPr>
        </p:nvSpPr>
        <p:spPr>
          <a:xfrm>
            <a:off x="609600" y="457200"/>
            <a:ext cx="7310400" cy="936000"/>
          </a:xfrm>
        </p:spPr>
        <p:txBody>
          <a:bodyPr anchor="t"/>
          <a:lstStyle>
            <a:lvl1pPr algn="l">
              <a:defRPr sz="2800" b="1" cap="none" baseline="0">
                <a:solidFill>
                  <a:schemeClr val="bg1"/>
                </a:solidFill>
              </a:defRPr>
            </a:lvl1pPr>
          </a:lstStyle>
          <a:p>
            <a:r>
              <a:rPr lang="sv-SE"/>
              <a:t>Klicka här för att ändra mall för rubrikformat</a:t>
            </a:r>
            <a:endParaRPr lang="sv-SE" dirty="0"/>
          </a:p>
        </p:txBody>
      </p:sp>
      <p:sp>
        <p:nvSpPr>
          <p:cNvPr id="5" name="Platshållare för text 4"/>
          <p:cNvSpPr>
            <a:spLocks noGrp="1"/>
          </p:cNvSpPr>
          <p:nvPr>
            <p:ph type="body" sz="quarter" idx="10"/>
          </p:nvPr>
        </p:nvSpPr>
        <p:spPr>
          <a:xfrm>
            <a:off x="624417" y="1439864"/>
            <a:ext cx="7310400" cy="1197049"/>
          </a:xfrm>
        </p:spPr>
        <p:txBody>
          <a:bodyPr/>
          <a:lstStyle>
            <a:lvl1pPr marL="0" indent="0">
              <a:buFontTx/>
              <a:buNone/>
              <a:defRPr>
                <a:solidFill>
                  <a:schemeClr val="bg1"/>
                </a:solidFill>
              </a:defRPr>
            </a:lvl1pPr>
          </a:lstStyle>
          <a:p>
            <a:pPr lvl="0"/>
            <a:r>
              <a:rPr lang="sv-SE"/>
              <a:t>Klicka här för att ändra format på bakgrundstexten</a:t>
            </a:r>
          </a:p>
        </p:txBody>
      </p:sp>
      <p:pic>
        <p:nvPicPr>
          <p:cNvPr id="7" name="Bildobjekt 6"/>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6125548"/>
            <a:ext cx="1367161" cy="468000"/>
          </a:xfrm>
          <a:prstGeom prst="rect">
            <a:avLst/>
          </a:prstGeom>
        </p:spPr>
      </p:pic>
    </p:spTree>
    <p:extLst>
      <p:ext uri="{BB962C8B-B14F-4D97-AF65-F5344CB8AC3E}">
        <p14:creationId xmlns:p14="http://schemas.microsoft.com/office/powerpoint/2010/main" val="4016499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Kapitelsida - Grön">
    <p:bg>
      <p:bgPr>
        <a:solidFill>
          <a:schemeClr val="accent2"/>
        </a:solidFill>
        <a:effectLst/>
      </p:bgPr>
    </p:bg>
    <p:spTree>
      <p:nvGrpSpPr>
        <p:cNvPr id="1" name=""/>
        <p:cNvGrpSpPr/>
        <p:nvPr/>
      </p:nvGrpSpPr>
      <p:grpSpPr>
        <a:xfrm>
          <a:off x="0" y="0"/>
          <a:ext cx="0" cy="0"/>
          <a:chOff x="0" y="0"/>
          <a:chExt cx="0" cy="0"/>
        </a:xfrm>
      </p:grpSpPr>
      <p:sp>
        <p:nvSpPr>
          <p:cNvPr id="2" name="Rubrik 1"/>
          <p:cNvSpPr>
            <a:spLocks noGrp="1"/>
          </p:cNvSpPr>
          <p:nvPr>
            <p:ph type="title"/>
          </p:nvPr>
        </p:nvSpPr>
        <p:spPr>
          <a:xfrm>
            <a:off x="609600" y="457200"/>
            <a:ext cx="7310400" cy="936000"/>
          </a:xfrm>
        </p:spPr>
        <p:txBody>
          <a:bodyPr anchor="t"/>
          <a:lstStyle>
            <a:lvl1pPr algn="l">
              <a:defRPr sz="2800" b="1" cap="none" baseline="0">
                <a:solidFill>
                  <a:schemeClr val="bg1"/>
                </a:solidFill>
              </a:defRPr>
            </a:lvl1pPr>
          </a:lstStyle>
          <a:p>
            <a:r>
              <a:rPr lang="sv-SE"/>
              <a:t>Klicka här för att ändra mall för rubrikformat</a:t>
            </a:r>
            <a:endParaRPr lang="sv-SE" dirty="0"/>
          </a:p>
        </p:txBody>
      </p:sp>
      <p:sp>
        <p:nvSpPr>
          <p:cNvPr id="5" name="Platshållare för text 4"/>
          <p:cNvSpPr>
            <a:spLocks noGrp="1"/>
          </p:cNvSpPr>
          <p:nvPr>
            <p:ph type="body" sz="quarter" idx="10"/>
          </p:nvPr>
        </p:nvSpPr>
        <p:spPr>
          <a:xfrm>
            <a:off x="624417" y="1439864"/>
            <a:ext cx="7310400" cy="1197049"/>
          </a:xfrm>
        </p:spPr>
        <p:txBody>
          <a:bodyPr/>
          <a:lstStyle>
            <a:lvl1pPr marL="0" indent="0">
              <a:buFontTx/>
              <a:buNone/>
              <a:defRPr>
                <a:solidFill>
                  <a:schemeClr val="bg1"/>
                </a:solidFill>
              </a:defRPr>
            </a:lvl1pPr>
          </a:lstStyle>
          <a:p>
            <a:pPr lvl="0"/>
            <a:r>
              <a:rPr lang="sv-SE"/>
              <a:t>Klicka här för att ändra format på bakgrundstexten</a:t>
            </a:r>
          </a:p>
        </p:txBody>
      </p:sp>
      <p:pic>
        <p:nvPicPr>
          <p:cNvPr id="6" name="Bildobjekt 5"/>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6125548"/>
            <a:ext cx="1368000" cy="468000"/>
          </a:xfrm>
          <a:prstGeom prst="rect">
            <a:avLst/>
          </a:prstGeom>
        </p:spPr>
      </p:pic>
    </p:spTree>
    <p:extLst>
      <p:ext uri="{BB962C8B-B14F-4D97-AF65-F5344CB8AC3E}">
        <p14:creationId xmlns:p14="http://schemas.microsoft.com/office/powerpoint/2010/main" val="30178595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Kapitelsida - Rosa">
    <p:bg>
      <p:bgPr>
        <a:solidFill>
          <a:schemeClr val="accent1"/>
        </a:solidFill>
        <a:effectLst/>
      </p:bgPr>
    </p:bg>
    <p:spTree>
      <p:nvGrpSpPr>
        <p:cNvPr id="1" name=""/>
        <p:cNvGrpSpPr/>
        <p:nvPr/>
      </p:nvGrpSpPr>
      <p:grpSpPr>
        <a:xfrm>
          <a:off x="0" y="0"/>
          <a:ext cx="0" cy="0"/>
          <a:chOff x="0" y="0"/>
          <a:chExt cx="0" cy="0"/>
        </a:xfrm>
      </p:grpSpPr>
      <p:sp>
        <p:nvSpPr>
          <p:cNvPr id="2" name="Rubrik 1"/>
          <p:cNvSpPr>
            <a:spLocks noGrp="1"/>
          </p:cNvSpPr>
          <p:nvPr>
            <p:ph type="title"/>
          </p:nvPr>
        </p:nvSpPr>
        <p:spPr>
          <a:xfrm>
            <a:off x="609600" y="457200"/>
            <a:ext cx="7310400" cy="936000"/>
          </a:xfrm>
        </p:spPr>
        <p:txBody>
          <a:bodyPr anchor="t"/>
          <a:lstStyle>
            <a:lvl1pPr algn="l">
              <a:defRPr sz="2800" b="1" cap="none" baseline="0">
                <a:solidFill>
                  <a:schemeClr val="bg1"/>
                </a:solidFill>
              </a:defRPr>
            </a:lvl1pPr>
          </a:lstStyle>
          <a:p>
            <a:r>
              <a:rPr lang="sv-SE"/>
              <a:t>Klicka här för att ändra mall för rubrikformat</a:t>
            </a:r>
            <a:endParaRPr lang="sv-SE" dirty="0"/>
          </a:p>
        </p:txBody>
      </p:sp>
      <p:sp>
        <p:nvSpPr>
          <p:cNvPr id="5" name="Platshållare för text 4"/>
          <p:cNvSpPr>
            <a:spLocks noGrp="1"/>
          </p:cNvSpPr>
          <p:nvPr>
            <p:ph type="body" sz="quarter" idx="10"/>
          </p:nvPr>
        </p:nvSpPr>
        <p:spPr>
          <a:xfrm>
            <a:off x="624417" y="1439864"/>
            <a:ext cx="7310400" cy="1197049"/>
          </a:xfrm>
        </p:spPr>
        <p:txBody>
          <a:bodyPr/>
          <a:lstStyle>
            <a:lvl1pPr marL="0" indent="0">
              <a:buFontTx/>
              <a:buNone/>
              <a:defRPr>
                <a:solidFill>
                  <a:schemeClr val="bg1"/>
                </a:solidFill>
              </a:defRPr>
            </a:lvl1pPr>
          </a:lstStyle>
          <a:p>
            <a:pPr lvl="0"/>
            <a:r>
              <a:rPr lang="sv-SE"/>
              <a:t>Klicka här för att ändra format på bakgrundstexten</a:t>
            </a:r>
          </a:p>
        </p:txBody>
      </p:sp>
      <p:pic>
        <p:nvPicPr>
          <p:cNvPr id="6" name="Bildobjekt 5"/>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6125548"/>
            <a:ext cx="1368000" cy="468000"/>
          </a:xfrm>
          <a:prstGeom prst="rect">
            <a:avLst/>
          </a:prstGeom>
        </p:spPr>
      </p:pic>
    </p:spTree>
    <p:extLst>
      <p:ext uri="{BB962C8B-B14F-4D97-AF65-F5344CB8AC3E}">
        <p14:creationId xmlns:p14="http://schemas.microsoft.com/office/powerpoint/2010/main" val="16911830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Kapitelsida - Blå">
    <p:bg>
      <p:bgPr>
        <a:solidFill>
          <a:schemeClr val="accent5"/>
        </a:solidFill>
        <a:effectLst/>
      </p:bgPr>
    </p:bg>
    <p:spTree>
      <p:nvGrpSpPr>
        <p:cNvPr id="1" name=""/>
        <p:cNvGrpSpPr/>
        <p:nvPr/>
      </p:nvGrpSpPr>
      <p:grpSpPr>
        <a:xfrm>
          <a:off x="0" y="0"/>
          <a:ext cx="0" cy="0"/>
          <a:chOff x="0" y="0"/>
          <a:chExt cx="0" cy="0"/>
        </a:xfrm>
      </p:grpSpPr>
      <p:sp>
        <p:nvSpPr>
          <p:cNvPr id="2" name="Rubrik 1"/>
          <p:cNvSpPr>
            <a:spLocks noGrp="1"/>
          </p:cNvSpPr>
          <p:nvPr>
            <p:ph type="title"/>
          </p:nvPr>
        </p:nvSpPr>
        <p:spPr>
          <a:xfrm>
            <a:off x="609600" y="457200"/>
            <a:ext cx="7310400" cy="936000"/>
          </a:xfrm>
        </p:spPr>
        <p:txBody>
          <a:bodyPr anchor="t"/>
          <a:lstStyle>
            <a:lvl1pPr algn="l">
              <a:defRPr sz="2800" b="1" cap="none" baseline="0">
                <a:solidFill>
                  <a:schemeClr val="bg1"/>
                </a:solidFill>
              </a:defRPr>
            </a:lvl1pPr>
          </a:lstStyle>
          <a:p>
            <a:r>
              <a:rPr lang="sv-SE"/>
              <a:t>Klicka här för att ändra mall för rubrikformat</a:t>
            </a:r>
            <a:endParaRPr lang="sv-SE" dirty="0"/>
          </a:p>
        </p:txBody>
      </p:sp>
      <p:sp>
        <p:nvSpPr>
          <p:cNvPr id="5" name="Platshållare för text 4"/>
          <p:cNvSpPr>
            <a:spLocks noGrp="1"/>
          </p:cNvSpPr>
          <p:nvPr>
            <p:ph type="body" sz="quarter" idx="10"/>
          </p:nvPr>
        </p:nvSpPr>
        <p:spPr>
          <a:xfrm>
            <a:off x="624417" y="1439864"/>
            <a:ext cx="7310400" cy="1197049"/>
          </a:xfrm>
        </p:spPr>
        <p:txBody>
          <a:bodyPr/>
          <a:lstStyle>
            <a:lvl1pPr marL="0" indent="0">
              <a:buFontTx/>
              <a:buNone/>
              <a:defRPr>
                <a:solidFill>
                  <a:schemeClr val="bg1"/>
                </a:solidFill>
              </a:defRPr>
            </a:lvl1pPr>
          </a:lstStyle>
          <a:p>
            <a:pPr lvl="0"/>
            <a:r>
              <a:rPr lang="sv-SE"/>
              <a:t>Klicka här för att ändra format på bakgrundstexten</a:t>
            </a:r>
          </a:p>
        </p:txBody>
      </p:sp>
      <p:pic>
        <p:nvPicPr>
          <p:cNvPr id="6" name="Bildobjekt 5"/>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6125548"/>
            <a:ext cx="1368000" cy="468000"/>
          </a:xfrm>
          <a:prstGeom prst="rect">
            <a:avLst/>
          </a:prstGeom>
        </p:spPr>
      </p:pic>
    </p:spTree>
    <p:extLst>
      <p:ext uri="{BB962C8B-B14F-4D97-AF65-F5344CB8AC3E}">
        <p14:creationId xmlns:p14="http://schemas.microsoft.com/office/powerpoint/2010/main" val="3019236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Årshjul - Ros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dirty="0"/>
          </a:p>
        </p:txBody>
      </p:sp>
      <p:sp>
        <p:nvSpPr>
          <p:cNvPr id="3" name="Date Placeholder 2"/>
          <p:cNvSpPr>
            <a:spLocks noGrp="1"/>
          </p:cNvSpPr>
          <p:nvPr>
            <p:ph type="dt" sz="half" idx="10"/>
          </p:nvPr>
        </p:nvSpPr>
        <p:spPr/>
        <p:txBody>
          <a:bodyPr/>
          <a:lstStyle/>
          <a:p>
            <a:r>
              <a:rPr lang="sv-SE" dirty="0"/>
              <a:t>20XX-XX-XX</a:t>
            </a:r>
          </a:p>
        </p:txBody>
      </p:sp>
      <p:sp>
        <p:nvSpPr>
          <p:cNvPr id="4" name="Footer Placeholder 3"/>
          <p:cNvSpPr>
            <a:spLocks noGrp="1"/>
          </p:cNvSpPr>
          <p:nvPr>
            <p:ph type="ftr" sz="quarter" idx="11"/>
          </p:nvPr>
        </p:nvSpPr>
        <p:spPr/>
        <p:txBody>
          <a:bodyPr/>
          <a:lstStyle/>
          <a:p>
            <a:r>
              <a:rPr lang="sv-SE" dirty="0"/>
              <a:t>Skriv eventuell sidfot här</a:t>
            </a:r>
          </a:p>
        </p:txBody>
      </p:sp>
      <p:sp>
        <p:nvSpPr>
          <p:cNvPr id="5" name="Slide Number Placeholder 4"/>
          <p:cNvSpPr>
            <a:spLocks noGrp="1"/>
          </p:cNvSpPr>
          <p:nvPr>
            <p:ph type="sldNum" sz="quarter" idx="12"/>
          </p:nvPr>
        </p:nvSpPr>
        <p:spPr/>
        <p:txBody>
          <a:bodyPr/>
          <a:lstStyle/>
          <a:p>
            <a:fld id="{A1FA3D87-4B78-4D5D-8368-DA3305501A4C}" type="slidenum">
              <a:rPr lang="sv-SE" smtClean="0"/>
              <a:pPr/>
              <a:t>‹#›</a:t>
            </a:fld>
            <a:endParaRPr lang="sv-SE"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13048" y="1524198"/>
            <a:ext cx="4565904" cy="4565904"/>
          </a:xfrm>
          <a:prstGeom prst="rect">
            <a:avLst/>
          </a:prstGeom>
        </p:spPr>
      </p:pic>
      <p:sp>
        <p:nvSpPr>
          <p:cNvPr id="25" name="Text Placeholder 23"/>
          <p:cNvSpPr>
            <a:spLocks noGrp="1"/>
          </p:cNvSpPr>
          <p:nvPr>
            <p:ph type="body" sz="quarter" idx="14" hasCustomPrompt="1"/>
          </p:nvPr>
        </p:nvSpPr>
        <p:spPr>
          <a:xfrm>
            <a:off x="4485654" y="3284984"/>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3" name="Text Placeholder 23"/>
          <p:cNvSpPr>
            <a:spLocks noGrp="1"/>
          </p:cNvSpPr>
          <p:nvPr>
            <p:ph type="body" sz="quarter" idx="15" hasCustomPrompt="1"/>
          </p:nvPr>
        </p:nvSpPr>
        <p:spPr>
          <a:xfrm>
            <a:off x="5021310" y="3408776"/>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4" name="Text Placeholder 23"/>
          <p:cNvSpPr>
            <a:spLocks noGrp="1"/>
          </p:cNvSpPr>
          <p:nvPr>
            <p:ph type="body" sz="quarter" idx="16" hasCustomPrompt="1"/>
          </p:nvPr>
        </p:nvSpPr>
        <p:spPr>
          <a:xfrm>
            <a:off x="3990914" y="3104964"/>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5" name="Text Placeholder 23"/>
          <p:cNvSpPr>
            <a:spLocks noGrp="1"/>
          </p:cNvSpPr>
          <p:nvPr>
            <p:ph type="body" sz="quarter" idx="17" hasCustomPrompt="1"/>
          </p:nvPr>
        </p:nvSpPr>
        <p:spPr>
          <a:xfrm>
            <a:off x="4485654" y="2224571"/>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6" name="Text Placeholder 23"/>
          <p:cNvSpPr>
            <a:spLocks noGrp="1"/>
          </p:cNvSpPr>
          <p:nvPr>
            <p:ph type="body" sz="quarter" idx="18" hasCustomPrompt="1"/>
          </p:nvPr>
        </p:nvSpPr>
        <p:spPr>
          <a:xfrm>
            <a:off x="4865745" y="2584611"/>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7" name="Text Placeholder 23"/>
          <p:cNvSpPr>
            <a:spLocks noGrp="1"/>
          </p:cNvSpPr>
          <p:nvPr>
            <p:ph type="body" sz="quarter" idx="19" hasCustomPrompt="1"/>
          </p:nvPr>
        </p:nvSpPr>
        <p:spPr>
          <a:xfrm>
            <a:off x="5234737" y="2951780"/>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8" name="Text Placeholder 23"/>
          <p:cNvSpPr>
            <a:spLocks noGrp="1"/>
          </p:cNvSpPr>
          <p:nvPr>
            <p:ph type="body" sz="quarter" idx="20" hasCustomPrompt="1"/>
          </p:nvPr>
        </p:nvSpPr>
        <p:spPr>
          <a:xfrm>
            <a:off x="5414757" y="1700431"/>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9" name="Text Placeholder 23"/>
          <p:cNvSpPr>
            <a:spLocks noGrp="1"/>
          </p:cNvSpPr>
          <p:nvPr>
            <p:ph type="body" sz="quarter" idx="21" hasCustomPrompt="1"/>
          </p:nvPr>
        </p:nvSpPr>
        <p:spPr>
          <a:xfrm>
            <a:off x="5518300" y="2208435"/>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40" name="Text Placeholder 23"/>
          <p:cNvSpPr>
            <a:spLocks noGrp="1"/>
          </p:cNvSpPr>
          <p:nvPr>
            <p:ph type="body" sz="quarter" idx="22" hasCustomPrompt="1"/>
          </p:nvPr>
        </p:nvSpPr>
        <p:spPr>
          <a:xfrm>
            <a:off x="5710105" y="2711679"/>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41" name="Text Placeholder 23"/>
          <p:cNvSpPr>
            <a:spLocks noGrp="1"/>
          </p:cNvSpPr>
          <p:nvPr>
            <p:ph type="body" sz="quarter" idx="23" hasCustomPrompt="1"/>
          </p:nvPr>
        </p:nvSpPr>
        <p:spPr>
          <a:xfrm>
            <a:off x="6384032" y="170080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42" name="Text Placeholder 23"/>
          <p:cNvSpPr>
            <a:spLocks noGrp="1"/>
          </p:cNvSpPr>
          <p:nvPr>
            <p:ph type="body" sz="quarter" idx="24" hasCustomPrompt="1"/>
          </p:nvPr>
        </p:nvSpPr>
        <p:spPr>
          <a:xfrm>
            <a:off x="6312024" y="2204864"/>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43" name="Text Placeholder 23"/>
          <p:cNvSpPr>
            <a:spLocks noGrp="1"/>
          </p:cNvSpPr>
          <p:nvPr>
            <p:ph type="body" sz="quarter" idx="25" hasCustomPrompt="1"/>
          </p:nvPr>
        </p:nvSpPr>
        <p:spPr>
          <a:xfrm>
            <a:off x="6132004" y="2708920"/>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44" name="Text Placeholder 23"/>
          <p:cNvSpPr>
            <a:spLocks noGrp="1"/>
          </p:cNvSpPr>
          <p:nvPr>
            <p:ph type="body" sz="quarter" idx="26" hasCustomPrompt="1"/>
          </p:nvPr>
        </p:nvSpPr>
        <p:spPr>
          <a:xfrm>
            <a:off x="6592438" y="296357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45" name="Text Placeholder 23"/>
          <p:cNvSpPr>
            <a:spLocks noGrp="1"/>
          </p:cNvSpPr>
          <p:nvPr>
            <p:ph type="body" sz="quarter" idx="27" hasCustomPrompt="1"/>
          </p:nvPr>
        </p:nvSpPr>
        <p:spPr>
          <a:xfrm>
            <a:off x="6960904" y="2584611"/>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46" name="Text Placeholder 23"/>
          <p:cNvSpPr>
            <a:spLocks noGrp="1"/>
          </p:cNvSpPr>
          <p:nvPr>
            <p:ph type="body" sz="quarter" idx="28" hasCustomPrompt="1"/>
          </p:nvPr>
        </p:nvSpPr>
        <p:spPr>
          <a:xfrm>
            <a:off x="7329365" y="2224571"/>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2" name="Text Placeholder 23"/>
          <p:cNvSpPr>
            <a:spLocks noGrp="1"/>
          </p:cNvSpPr>
          <p:nvPr>
            <p:ph type="body" sz="quarter" idx="29" hasCustomPrompt="1"/>
          </p:nvPr>
        </p:nvSpPr>
        <p:spPr>
          <a:xfrm>
            <a:off x="6816080" y="3422561"/>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3" name="Text Placeholder 23"/>
          <p:cNvSpPr>
            <a:spLocks noGrp="1"/>
          </p:cNvSpPr>
          <p:nvPr>
            <p:ph type="body" sz="quarter" idx="30" hasCustomPrompt="1"/>
          </p:nvPr>
        </p:nvSpPr>
        <p:spPr>
          <a:xfrm>
            <a:off x="7329365" y="3284984"/>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4" name="Text Placeholder 23"/>
          <p:cNvSpPr>
            <a:spLocks noGrp="1"/>
          </p:cNvSpPr>
          <p:nvPr>
            <p:ph type="body" sz="quarter" idx="31" hasCustomPrompt="1"/>
          </p:nvPr>
        </p:nvSpPr>
        <p:spPr>
          <a:xfrm>
            <a:off x="7825760" y="314359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6" name="Text Placeholder 23"/>
          <p:cNvSpPr>
            <a:spLocks noGrp="1"/>
          </p:cNvSpPr>
          <p:nvPr>
            <p:ph type="body" sz="quarter" idx="32" hasCustomPrompt="1"/>
          </p:nvPr>
        </p:nvSpPr>
        <p:spPr>
          <a:xfrm>
            <a:off x="6816080" y="3834113"/>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7" name="Text Placeholder 23"/>
          <p:cNvSpPr>
            <a:spLocks noGrp="1"/>
          </p:cNvSpPr>
          <p:nvPr>
            <p:ph type="body" sz="quarter" idx="33" hasCustomPrompt="1"/>
          </p:nvPr>
        </p:nvSpPr>
        <p:spPr>
          <a:xfrm>
            <a:off x="7341521" y="3977316"/>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8" name="Text Placeholder 23"/>
          <p:cNvSpPr>
            <a:spLocks noGrp="1"/>
          </p:cNvSpPr>
          <p:nvPr>
            <p:ph type="body" sz="quarter" idx="34" hasCustomPrompt="1"/>
          </p:nvPr>
        </p:nvSpPr>
        <p:spPr>
          <a:xfrm>
            <a:off x="7849948" y="4077072"/>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9" name="Text Placeholder 23"/>
          <p:cNvSpPr>
            <a:spLocks noGrp="1"/>
          </p:cNvSpPr>
          <p:nvPr>
            <p:ph type="body" sz="quarter" idx="35" hasCustomPrompt="1"/>
          </p:nvPr>
        </p:nvSpPr>
        <p:spPr>
          <a:xfrm>
            <a:off x="6577047" y="429734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0" name="Text Placeholder 23"/>
          <p:cNvSpPr>
            <a:spLocks noGrp="1"/>
          </p:cNvSpPr>
          <p:nvPr>
            <p:ph type="body" sz="quarter" idx="36" hasCustomPrompt="1"/>
          </p:nvPr>
        </p:nvSpPr>
        <p:spPr>
          <a:xfrm>
            <a:off x="6952478" y="465738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1" name="Text Placeholder 23"/>
          <p:cNvSpPr>
            <a:spLocks noGrp="1"/>
          </p:cNvSpPr>
          <p:nvPr>
            <p:ph type="body" sz="quarter" idx="37" hasCustomPrompt="1"/>
          </p:nvPr>
        </p:nvSpPr>
        <p:spPr>
          <a:xfrm>
            <a:off x="7334461" y="502420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2" name="Text Placeholder 23"/>
          <p:cNvSpPr>
            <a:spLocks noGrp="1"/>
          </p:cNvSpPr>
          <p:nvPr>
            <p:ph type="body" sz="quarter" idx="38" hasCustomPrompt="1"/>
          </p:nvPr>
        </p:nvSpPr>
        <p:spPr>
          <a:xfrm>
            <a:off x="6132004" y="4526840"/>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47" name="Text Placeholder 23"/>
          <p:cNvSpPr>
            <a:spLocks noGrp="1"/>
          </p:cNvSpPr>
          <p:nvPr>
            <p:ph type="body" sz="quarter" idx="39" hasCustomPrompt="1"/>
          </p:nvPr>
        </p:nvSpPr>
        <p:spPr>
          <a:xfrm>
            <a:off x="6312024" y="502420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48" name="Text Placeholder 23"/>
          <p:cNvSpPr>
            <a:spLocks noGrp="1"/>
          </p:cNvSpPr>
          <p:nvPr>
            <p:ph type="body" sz="quarter" idx="40" hasCustomPrompt="1"/>
          </p:nvPr>
        </p:nvSpPr>
        <p:spPr>
          <a:xfrm>
            <a:off x="6456040" y="5517232"/>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49" name="Text Placeholder 23"/>
          <p:cNvSpPr>
            <a:spLocks noGrp="1"/>
          </p:cNvSpPr>
          <p:nvPr>
            <p:ph type="body" sz="quarter" idx="41" hasCustomPrompt="1"/>
          </p:nvPr>
        </p:nvSpPr>
        <p:spPr>
          <a:xfrm>
            <a:off x="5021344" y="3843089"/>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50" name="Text Placeholder 23"/>
          <p:cNvSpPr>
            <a:spLocks noGrp="1"/>
          </p:cNvSpPr>
          <p:nvPr>
            <p:ph type="body" sz="quarter" idx="42" hasCustomPrompt="1"/>
          </p:nvPr>
        </p:nvSpPr>
        <p:spPr>
          <a:xfrm>
            <a:off x="4505705" y="4014133"/>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51" name="Text Placeholder 23"/>
          <p:cNvSpPr>
            <a:spLocks noGrp="1"/>
          </p:cNvSpPr>
          <p:nvPr>
            <p:ph type="body" sz="quarter" idx="43" hasCustomPrompt="1"/>
          </p:nvPr>
        </p:nvSpPr>
        <p:spPr>
          <a:xfrm>
            <a:off x="3989259" y="4124355"/>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52" name="Text Placeholder 23"/>
          <p:cNvSpPr>
            <a:spLocks noGrp="1"/>
          </p:cNvSpPr>
          <p:nvPr>
            <p:ph type="body" sz="quarter" idx="44" hasCustomPrompt="1"/>
          </p:nvPr>
        </p:nvSpPr>
        <p:spPr>
          <a:xfrm>
            <a:off x="5258440" y="4290620"/>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53" name="Text Placeholder 23"/>
          <p:cNvSpPr>
            <a:spLocks noGrp="1"/>
          </p:cNvSpPr>
          <p:nvPr>
            <p:ph type="body" sz="quarter" idx="45" hasCustomPrompt="1"/>
          </p:nvPr>
        </p:nvSpPr>
        <p:spPr>
          <a:xfrm>
            <a:off x="4874697" y="465738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54" name="Text Placeholder 23"/>
          <p:cNvSpPr>
            <a:spLocks noGrp="1"/>
          </p:cNvSpPr>
          <p:nvPr>
            <p:ph type="body" sz="quarter" idx="46" hasCustomPrompt="1"/>
          </p:nvPr>
        </p:nvSpPr>
        <p:spPr>
          <a:xfrm>
            <a:off x="4515771" y="502420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55" name="Text Placeholder 23"/>
          <p:cNvSpPr>
            <a:spLocks noGrp="1"/>
          </p:cNvSpPr>
          <p:nvPr>
            <p:ph type="body" sz="quarter" idx="47" hasCustomPrompt="1"/>
          </p:nvPr>
        </p:nvSpPr>
        <p:spPr>
          <a:xfrm>
            <a:off x="5689264" y="455437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56" name="Text Placeholder 23"/>
          <p:cNvSpPr>
            <a:spLocks noGrp="1"/>
          </p:cNvSpPr>
          <p:nvPr>
            <p:ph type="body" sz="quarter" idx="48" hasCustomPrompt="1"/>
          </p:nvPr>
        </p:nvSpPr>
        <p:spPr>
          <a:xfrm>
            <a:off x="5584938" y="503276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57" name="Text Placeholder 23"/>
          <p:cNvSpPr>
            <a:spLocks noGrp="1"/>
          </p:cNvSpPr>
          <p:nvPr>
            <p:ph type="body" sz="quarter" idx="49" hasCustomPrompt="1"/>
          </p:nvPr>
        </p:nvSpPr>
        <p:spPr>
          <a:xfrm>
            <a:off x="5437033" y="5592960"/>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Tree>
    <p:extLst>
      <p:ext uri="{BB962C8B-B14F-4D97-AF65-F5344CB8AC3E}">
        <p14:creationId xmlns:p14="http://schemas.microsoft.com/office/powerpoint/2010/main" val="11261701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Årshjul - Blå">
    <p:spTree>
      <p:nvGrpSpPr>
        <p:cNvPr id="1" name=""/>
        <p:cNvGrpSpPr/>
        <p:nvPr/>
      </p:nvGrpSpPr>
      <p:grpSpPr>
        <a:xfrm>
          <a:off x="0" y="0"/>
          <a:ext cx="0" cy="0"/>
          <a:chOff x="0" y="0"/>
          <a:chExt cx="0" cy="0"/>
        </a:xfrm>
      </p:grpSpPr>
      <p:pic>
        <p:nvPicPr>
          <p:cNvPr id="43" name="Picture 4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08854" y="1523198"/>
            <a:ext cx="4570098" cy="4570098"/>
          </a:xfrm>
          <a:prstGeom prst="rect">
            <a:avLst/>
          </a:prstGeom>
        </p:spPr>
      </p:pic>
      <p:sp>
        <p:nvSpPr>
          <p:cNvPr id="2" name="Title 1"/>
          <p:cNvSpPr>
            <a:spLocks noGrp="1"/>
          </p:cNvSpPr>
          <p:nvPr>
            <p:ph type="title"/>
          </p:nvPr>
        </p:nvSpPr>
        <p:spPr/>
        <p:txBody>
          <a:bodyPr/>
          <a:lstStyle/>
          <a:p>
            <a:r>
              <a:rPr lang="sv-SE"/>
              <a:t>Klicka här för att ändra mall för rubrikformat</a:t>
            </a:r>
            <a:endParaRPr lang="en-US"/>
          </a:p>
        </p:txBody>
      </p:sp>
      <p:sp>
        <p:nvSpPr>
          <p:cNvPr id="3" name="Date Placeholder 2"/>
          <p:cNvSpPr>
            <a:spLocks noGrp="1"/>
          </p:cNvSpPr>
          <p:nvPr>
            <p:ph type="dt" sz="half" idx="10"/>
          </p:nvPr>
        </p:nvSpPr>
        <p:spPr/>
        <p:txBody>
          <a:bodyPr/>
          <a:lstStyle/>
          <a:p>
            <a:r>
              <a:rPr lang="sv-SE" dirty="0"/>
              <a:t>20XX-XX-XX</a:t>
            </a:r>
          </a:p>
        </p:txBody>
      </p:sp>
      <p:sp>
        <p:nvSpPr>
          <p:cNvPr id="4" name="Footer Placeholder 3"/>
          <p:cNvSpPr>
            <a:spLocks noGrp="1"/>
          </p:cNvSpPr>
          <p:nvPr>
            <p:ph type="ftr" sz="quarter" idx="11"/>
          </p:nvPr>
        </p:nvSpPr>
        <p:spPr/>
        <p:txBody>
          <a:bodyPr/>
          <a:lstStyle/>
          <a:p>
            <a:r>
              <a:rPr lang="sv-SE" dirty="0"/>
              <a:t>Skriv eventuell sidfot här</a:t>
            </a:r>
          </a:p>
        </p:txBody>
      </p:sp>
      <p:sp>
        <p:nvSpPr>
          <p:cNvPr id="5" name="Slide Number Placeholder 4"/>
          <p:cNvSpPr>
            <a:spLocks noGrp="1"/>
          </p:cNvSpPr>
          <p:nvPr>
            <p:ph type="sldNum" sz="quarter" idx="12"/>
          </p:nvPr>
        </p:nvSpPr>
        <p:spPr/>
        <p:txBody>
          <a:bodyPr/>
          <a:lstStyle/>
          <a:p>
            <a:fld id="{A1FA3D87-4B78-4D5D-8368-DA3305501A4C}" type="slidenum">
              <a:rPr lang="sv-SE" smtClean="0"/>
              <a:pPr/>
              <a:t>‹#›</a:t>
            </a:fld>
            <a:endParaRPr lang="sv-SE" dirty="0"/>
          </a:p>
        </p:txBody>
      </p:sp>
      <p:sp>
        <p:nvSpPr>
          <p:cNvPr id="7" name="Text Placeholder 23"/>
          <p:cNvSpPr>
            <a:spLocks noGrp="1"/>
          </p:cNvSpPr>
          <p:nvPr>
            <p:ph type="body" sz="quarter" idx="14" hasCustomPrompt="1"/>
          </p:nvPr>
        </p:nvSpPr>
        <p:spPr>
          <a:xfrm>
            <a:off x="4485654" y="328749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8" name="Text Placeholder 23"/>
          <p:cNvSpPr>
            <a:spLocks noGrp="1"/>
          </p:cNvSpPr>
          <p:nvPr>
            <p:ph type="body" sz="quarter" idx="15" hasCustomPrompt="1"/>
          </p:nvPr>
        </p:nvSpPr>
        <p:spPr>
          <a:xfrm>
            <a:off x="5021310" y="3411290"/>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9" name="Text Placeholder 23"/>
          <p:cNvSpPr>
            <a:spLocks noGrp="1"/>
          </p:cNvSpPr>
          <p:nvPr>
            <p:ph type="body" sz="quarter" idx="16" hasCustomPrompt="1"/>
          </p:nvPr>
        </p:nvSpPr>
        <p:spPr>
          <a:xfrm>
            <a:off x="3990914" y="310747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10" name="Text Placeholder 23"/>
          <p:cNvSpPr>
            <a:spLocks noGrp="1"/>
          </p:cNvSpPr>
          <p:nvPr>
            <p:ph type="body" sz="quarter" idx="17" hasCustomPrompt="1"/>
          </p:nvPr>
        </p:nvSpPr>
        <p:spPr>
          <a:xfrm>
            <a:off x="4485654" y="2227085"/>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11" name="Text Placeholder 23"/>
          <p:cNvSpPr>
            <a:spLocks noGrp="1"/>
          </p:cNvSpPr>
          <p:nvPr>
            <p:ph type="body" sz="quarter" idx="18" hasCustomPrompt="1"/>
          </p:nvPr>
        </p:nvSpPr>
        <p:spPr>
          <a:xfrm>
            <a:off x="4865745" y="2587125"/>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12" name="Text Placeholder 23"/>
          <p:cNvSpPr>
            <a:spLocks noGrp="1"/>
          </p:cNvSpPr>
          <p:nvPr>
            <p:ph type="body" sz="quarter" idx="19" hasCustomPrompt="1"/>
          </p:nvPr>
        </p:nvSpPr>
        <p:spPr>
          <a:xfrm>
            <a:off x="5234737" y="2954294"/>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13" name="Text Placeholder 23"/>
          <p:cNvSpPr>
            <a:spLocks noGrp="1"/>
          </p:cNvSpPr>
          <p:nvPr>
            <p:ph type="body" sz="quarter" idx="20" hasCustomPrompt="1"/>
          </p:nvPr>
        </p:nvSpPr>
        <p:spPr>
          <a:xfrm>
            <a:off x="5414757" y="1702945"/>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14" name="Text Placeholder 23"/>
          <p:cNvSpPr>
            <a:spLocks noGrp="1"/>
          </p:cNvSpPr>
          <p:nvPr>
            <p:ph type="body" sz="quarter" idx="21" hasCustomPrompt="1"/>
          </p:nvPr>
        </p:nvSpPr>
        <p:spPr>
          <a:xfrm>
            <a:off x="5518300" y="2210949"/>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15" name="Text Placeholder 23"/>
          <p:cNvSpPr>
            <a:spLocks noGrp="1"/>
          </p:cNvSpPr>
          <p:nvPr>
            <p:ph type="body" sz="quarter" idx="22" hasCustomPrompt="1"/>
          </p:nvPr>
        </p:nvSpPr>
        <p:spPr>
          <a:xfrm>
            <a:off x="5710105" y="2714193"/>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16" name="Text Placeholder 23"/>
          <p:cNvSpPr>
            <a:spLocks noGrp="1"/>
          </p:cNvSpPr>
          <p:nvPr>
            <p:ph type="body" sz="quarter" idx="23" hasCustomPrompt="1"/>
          </p:nvPr>
        </p:nvSpPr>
        <p:spPr>
          <a:xfrm>
            <a:off x="6384032" y="1703322"/>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17" name="Text Placeholder 23"/>
          <p:cNvSpPr>
            <a:spLocks noGrp="1"/>
          </p:cNvSpPr>
          <p:nvPr>
            <p:ph type="body" sz="quarter" idx="24" hasCustomPrompt="1"/>
          </p:nvPr>
        </p:nvSpPr>
        <p:spPr>
          <a:xfrm>
            <a:off x="6312024" y="220737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18" name="Text Placeholder 23"/>
          <p:cNvSpPr>
            <a:spLocks noGrp="1"/>
          </p:cNvSpPr>
          <p:nvPr>
            <p:ph type="body" sz="quarter" idx="25" hasCustomPrompt="1"/>
          </p:nvPr>
        </p:nvSpPr>
        <p:spPr>
          <a:xfrm>
            <a:off x="6132004" y="2711434"/>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19" name="Text Placeholder 23"/>
          <p:cNvSpPr>
            <a:spLocks noGrp="1"/>
          </p:cNvSpPr>
          <p:nvPr>
            <p:ph type="body" sz="quarter" idx="26" hasCustomPrompt="1"/>
          </p:nvPr>
        </p:nvSpPr>
        <p:spPr>
          <a:xfrm>
            <a:off x="6592438" y="2966092"/>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0" name="Text Placeholder 23"/>
          <p:cNvSpPr>
            <a:spLocks noGrp="1"/>
          </p:cNvSpPr>
          <p:nvPr>
            <p:ph type="body" sz="quarter" idx="27" hasCustomPrompt="1"/>
          </p:nvPr>
        </p:nvSpPr>
        <p:spPr>
          <a:xfrm>
            <a:off x="6960904" y="2587125"/>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1" name="Text Placeholder 23"/>
          <p:cNvSpPr>
            <a:spLocks noGrp="1"/>
          </p:cNvSpPr>
          <p:nvPr>
            <p:ph type="body" sz="quarter" idx="28" hasCustomPrompt="1"/>
          </p:nvPr>
        </p:nvSpPr>
        <p:spPr>
          <a:xfrm>
            <a:off x="7329365" y="2227085"/>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2" name="Text Placeholder 23"/>
          <p:cNvSpPr>
            <a:spLocks noGrp="1"/>
          </p:cNvSpPr>
          <p:nvPr>
            <p:ph type="body" sz="quarter" idx="29" hasCustomPrompt="1"/>
          </p:nvPr>
        </p:nvSpPr>
        <p:spPr>
          <a:xfrm>
            <a:off x="6816080" y="3425075"/>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3" name="Text Placeholder 23"/>
          <p:cNvSpPr>
            <a:spLocks noGrp="1"/>
          </p:cNvSpPr>
          <p:nvPr>
            <p:ph type="body" sz="quarter" idx="30" hasCustomPrompt="1"/>
          </p:nvPr>
        </p:nvSpPr>
        <p:spPr>
          <a:xfrm>
            <a:off x="7329365" y="3287498"/>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4" name="Text Placeholder 23"/>
          <p:cNvSpPr>
            <a:spLocks noGrp="1"/>
          </p:cNvSpPr>
          <p:nvPr>
            <p:ph type="body" sz="quarter" idx="31" hasCustomPrompt="1"/>
          </p:nvPr>
        </p:nvSpPr>
        <p:spPr>
          <a:xfrm>
            <a:off x="7825760" y="3146112"/>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5" name="Text Placeholder 23"/>
          <p:cNvSpPr>
            <a:spLocks noGrp="1"/>
          </p:cNvSpPr>
          <p:nvPr>
            <p:ph type="body" sz="quarter" idx="32" hasCustomPrompt="1"/>
          </p:nvPr>
        </p:nvSpPr>
        <p:spPr>
          <a:xfrm>
            <a:off x="6816080" y="3836627"/>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6" name="Text Placeholder 23"/>
          <p:cNvSpPr>
            <a:spLocks noGrp="1"/>
          </p:cNvSpPr>
          <p:nvPr>
            <p:ph type="body" sz="quarter" idx="33" hasCustomPrompt="1"/>
          </p:nvPr>
        </p:nvSpPr>
        <p:spPr>
          <a:xfrm>
            <a:off x="7341521" y="3979830"/>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7" name="Text Placeholder 23"/>
          <p:cNvSpPr>
            <a:spLocks noGrp="1"/>
          </p:cNvSpPr>
          <p:nvPr>
            <p:ph type="body" sz="quarter" idx="34" hasCustomPrompt="1"/>
          </p:nvPr>
        </p:nvSpPr>
        <p:spPr>
          <a:xfrm>
            <a:off x="7849948" y="4079586"/>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8" name="Text Placeholder 23"/>
          <p:cNvSpPr>
            <a:spLocks noGrp="1"/>
          </p:cNvSpPr>
          <p:nvPr>
            <p:ph type="body" sz="quarter" idx="35" hasCustomPrompt="1"/>
          </p:nvPr>
        </p:nvSpPr>
        <p:spPr>
          <a:xfrm>
            <a:off x="6577047" y="4299862"/>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29" name="Text Placeholder 23"/>
          <p:cNvSpPr>
            <a:spLocks noGrp="1"/>
          </p:cNvSpPr>
          <p:nvPr>
            <p:ph type="body" sz="quarter" idx="36" hasCustomPrompt="1"/>
          </p:nvPr>
        </p:nvSpPr>
        <p:spPr>
          <a:xfrm>
            <a:off x="6952478" y="4659902"/>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0" name="Text Placeholder 23"/>
          <p:cNvSpPr>
            <a:spLocks noGrp="1"/>
          </p:cNvSpPr>
          <p:nvPr>
            <p:ph type="body" sz="quarter" idx="37" hasCustomPrompt="1"/>
          </p:nvPr>
        </p:nvSpPr>
        <p:spPr>
          <a:xfrm>
            <a:off x="7334461" y="5026722"/>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1" name="Text Placeholder 23"/>
          <p:cNvSpPr>
            <a:spLocks noGrp="1"/>
          </p:cNvSpPr>
          <p:nvPr>
            <p:ph type="body" sz="quarter" idx="38" hasCustomPrompt="1"/>
          </p:nvPr>
        </p:nvSpPr>
        <p:spPr>
          <a:xfrm>
            <a:off x="6132004" y="4529354"/>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2" name="Text Placeholder 23"/>
          <p:cNvSpPr>
            <a:spLocks noGrp="1"/>
          </p:cNvSpPr>
          <p:nvPr>
            <p:ph type="body" sz="quarter" idx="39" hasCustomPrompt="1"/>
          </p:nvPr>
        </p:nvSpPr>
        <p:spPr>
          <a:xfrm>
            <a:off x="6312024" y="5026722"/>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3" name="Text Placeholder 23"/>
          <p:cNvSpPr>
            <a:spLocks noGrp="1"/>
          </p:cNvSpPr>
          <p:nvPr>
            <p:ph type="body" sz="quarter" idx="40" hasCustomPrompt="1"/>
          </p:nvPr>
        </p:nvSpPr>
        <p:spPr>
          <a:xfrm>
            <a:off x="6456040" y="5519746"/>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4" name="Text Placeholder 23"/>
          <p:cNvSpPr>
            <a:spLocks noGrp="1"/>
          </p:cNvSpPr>
          <p:nvPr>
            <p:ph type="body" sz="quarter" idx="41" hasCustomPrompt="1"/>
          </p:nvPr>
        </p:nvSpPr>
        <p:spPr>
          <a:xfrm>
            <a:off x="5021344" y="3845603"/>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5" name="Text Placeholder 23"/>
          <p:cNvSpPr>
            <a:spLocks noGrp="1"/>
          </p:cNvSpPr>
          <p:nvPr>
            <p:ph type="body" sz="quarter" idx="42" hasCustomPrompt="1"/>
          </p:nvPr>
        </p:nvSpPr>
        <p:spPr>
          <a:xfrm>
            <a:off x="4505705" y="4016647"/>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6" name="Text Placeholder 23"/>
          <p:cNvSpPr>
            <a:spLocks noGrp="1"/>
          </p:cNvSpPr>
          <p:nvPr>
            <p:ph type="body" sz="quarter" idx="43" hasCustomPrompt="1"/>
          </p:nvPr>
        </p:nvSpPr>
        <p:spPr>
          <a:xfrm>
            <a:off x="3989259" y="4126869"/>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7" name="Text Placeholder 23"/>
          <p:cNvSpPr>
            <a:spLocks noGrp="1"/>
          </p:cNvSpPr>
          <p:nvPr>
            <p:ph type="body" sz="quarter" idx="44" hasCustomPrompt="1"/>
          </p:nvPr>
        </p:nvSpPr>
        <p:spPr>
          <a:xfrm>
            <a:off x="5258440" y="4293134"/>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8" name="Text Placeholder 23"/>
          <p:cNvSpPr>
            <a:spLocks noGrp="1"/>
          </p:cNvSpPr>
          <p:nvPr>
            <p:ph type="body" sz="quarter" idx="45" hasCustomPrompt="1"/>
          </p:nvPr>
        </p:nvSpPr>
        <p:spPr>
          <a:xfrm>
            <a:off x="4874697" y="4659902"/>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39" name="Text Placeholder 23"/>
          <p:cNvSpPr>
            <a:spLocks noGrp="1"/>
          </p:cNvSpPr>
          <p:nvPr>
            <p:ph type="body" sz="quarter" idx="46" hasCustomPrompt="1"/>
          </p:nvPr>
        </p:nvSpPr>
        <p:spPr>
          <a:xfrm>
            <a:off x="4515771" y="5026722"/>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40" name="Text Placeholder 23"/>
          <p:cNvSpPr>
            <a:spLocks noGrp="1"/>
          </p:cNvSpPr>
          <p:nvPr>
            <p:ph type="body" sz="quarter" idx="47" hasCustomPrompt="1"/>
          </p:nvPr>
        </p:nvSpPr>
        <p:spPr>
          <a:xfrm>
            <a:off x="5689264" y="4556892"/>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41" name="Text Placeholder 23"/>
          <p:cNvSpPr>
            <a:spLocks noGrp="1"/>
          </p:cNvSpPr>
          <p:nvPr>
            <p:ph type="body" sz="quarter" idx="48" hasCustomPrompt="1"/>
          </p:nvPr>
        </p:nvSpPr>
        <p:spPr>
          <a:xfrm>
            <a:off x="5584938" y="5035282"/>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bg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
        <p:nvSpPr>
          <p:cNvPr id="42" name="Text Placeholder 23"/>
          <p:cNvSpPr>
            <a:spLocks noGrp="1"/>
          </p:cNvSpPr>
          <p:nvPr>
            <p:ph type="body" sz="quarter" idx="49" hasCustomPrompt="1"/>
          </p:nvPr>
        </p:nvSpPr>
        <p:spPr>
          <a:xfrm>
            <a:off x="5437033" y="5595474"/>
            <a:ext cx="360040" cy="360040"/>
          </a:xfrm>
        </p:spPr>
        <p:txBody>
          <a:bodyPr/>
          <a:lstStyle>
            <a:lvl1pPr marL="0" marR="0" indent="0" algn="l" defTabSz="914400" rtl="0" eaLnBrk="1" fontAlgn="auto" latinLnBrk="0" hangingPunct="1">
              <a:lnSpc>
                <a:spcPct val="100000"/>
              </a:lnSpc>
              <a:spcBef>
                <a:spcPct val="20000"/>
              </a:spcBef>
              <a:spcAft>
                <a:spcPts val="600"/>
              </a:spcAft>
              <a:buClrTx/>
              <a:buSzTx/>
              <a:buFont typeface="Arial" panose="020B0604020202020204" pitchFamily="34" charset="0"/>
              <a:buNone/>
              <a:tabLst/>
              <a:defRPr sz="800">
                <a:solidFill>
                  <a:schemeClr val="tx1"/>
                </a:solidFill>
              </a:defRPr>
            </a:lvl1pPr>
          </a:lstStyle>
          <a:p>
            <a:pPr algn="l"/>
            <a:r>
              <a:rPr lang="en-US" sz="500" kern="1200" dirty="0" err="1">
                <a:solidFill>
                  <a:schemeClr val="tx1"/>
                </a:solidFill>
                <a:latin typeface="+mn-lt"/>
                <a:ea typeface="+mn-ea"/>
                <a:cs typeface="+mn-cs"/>
              </a:rPr>
              <a:t>Lorem</a:t>
            </a:r>
            <a:r>
              <a:rPr lang="en-US" sz="500" kern="1200" dirty="0">
                <a:solidFill>
                  <a:schemeClr val="tx1"/>
                </a:solidFill>
                <a:latin typeface="+mn-lt"/>
                <a:ea typeface="+mn-ea"/>
                <a:cs typeface="+mn-cs"/>
              </a:rPr>
              <a:t> </a:t>
            </a:r>
            <a:r>
              <a:rPr lang="en-US" sz="500" kern="1200" dirty="0" err="1">
                <a:solidFill>
                  <a:schemeClr val="tx1"/>
                </a:solidFill>
                <a:latin typeface="+mn-lt"/>
                <a:ea typeface="+mn-ea"/>
                <a:cs typeface="+mn-cs"/>
              </a:rPr>
              <a:t>ipsum</a:t>
            </a:r>
            <a:endParaRPr lang="en-US" sz="500" dirty="0">
              <a:latin typeface="Arial" charset="0"/>
              <a:ea typeface="Arial" charset="0"/>
              <a:cs typeface="Arial" charset="0"/>
            </a:endParaRPr>
          </a:p>
          <a:p>
            <a:pPr algn="l"/>
            <a:endParaRPr lang="en-US" sz="500" dirty="0">
              <a:latin typeface="Arial" charset="0"/>
              <a:ea typeface="Arial" charset="0"/>
              <a:cs typeface="Arial" charset="0"/>
            </a:endParaRPr>
          </a:p>
        </p:txBody>
      </p:sp>
    </p:spTree>
    <p:extLst>
      <p:ext uri="{BB962C8B-B14F-4D97-AF65-F5344CB8AC3E}">
        <p14:creationId xmlns:p14="http://schemas.microsoft.com/office/powerpoint/2010/main" val="118620470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609600" y="457200"/>
            <a:ext cx="10972800" cy="831600"/>
          </a:xfrm>
          <a:prstGeom prst="rect">
            <a:avLst/>
          </a:prstGeom>
        </p:spPr>
        <p:txBody>
          <a:bodyPr vert="horz" lIns="0" tIns="0" rIns="0" bIns="0" rtlCol="0" anchor="t" anchorCtr="0">
            <a:noAutofit/>
          </a:bodyPr>
          <a:lstStyle/>
          <a:p>
            <a:r>
              <a:rPr lang="sv-SE" dirty="0"/>
              <a:t>Klicka här för att ändra format</a:t>
            </a:r>
          </a:p>
        </p:txBody>
      </p:sp>
      <p:sp>
        <p:nvSpPr>
          <p:cNvPr id="3" name="Platshållare för text 2"/>
          <p:cNvSpPr>
            <a:spLocks noGrp="1"/>
          </p:cNvSpPr>
          <p:nvPr>
            <p:ph type="body" idx="1"/>
          </p:nvPr>
        </p:nvSpPr>
        <p:spPr>
          <a:xfrm>
            <a:off x="609600" y="1440001"/>
            <a:ext cx="9710869" cy="4294050"/>
          </a:xfrm>
          <a:prstGeom prst="rect">
            <a:avLst/>
          </a:prstGeom>
        </p:spPr>
        <p:txBody>
          <a:bodyPr vert="horz" lIns="0" tIns="0" rIns="0" bIns="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p:cNvSpPr>
            <a:spLocks noGrp="1"/>
          </p:cNvSpPr>
          <p:nvPr>
            <p:ph type="dt" sz="half" idx="2"/>
          </p:nvPr>
        </p:nvSpPr>
        <p:spPr>
          <a:xfrm>
            <a:off x="10526400" y="6186018"/>
            <a:ext cx="1056000" cy="144000"/>
          </a:xfrm>
          <a:prstGeom prst="rect">
            <a:avLst/>
          </a:prstGeom>
        </p:spPr>
        <p:txBody>
          <a:bodyPr vert="horz" lIns="0" tIns="0" rIns="0" bIns="0" rtlCol="0" anchor="ctr"/>
          <a:lstStyle>
            <a:lvl1pPr algn="r">
              <a:defRPr sz="800">
                <a:solidFill>
                  <a:schemeClr val="tx1"/>
                </a:solidFill>
              </a:defRPr>
            </a:lvl1pPr>
          </a:lstStyle>
          <a:p>
            <a:r>
              <a:rPr lang="sv-SE" dirty="0"/>
              <a:t>20XX-XX-XX</a:t>
            </a:r>
          </a:p>
        </p:txBody>
      </p:sp>
      <p:sp>
        <p:nvSpPr>
          <p:cNvPr id="5" name="Platshållare för sidfot 4"/>
          <p:cNvSpPr>
            <a:spLocks noGrp="1"/>
          </p:cNvSpPr>
          <p:nvPr>
            <p:ph type="ftr" sz="quarter" idx="3"/>
          </p:nvPr>
        </p:nvSpPr>
        <p:spPr>
          <a:xfrm>
            <a:off x="2904000" y="6325501"/>
            <a:ext cx="6384000" cy="144000"/>
          </a:xfrm>
          <a:prstGeom prst="rect">
            <a:avLst/>
          </a:prstGeom>
        </p:spPr>
        <p:txBody>
          <a:bodyPr vert="horz" lIns="0" tIns="0" rIns="0" bIns="0" rtlCol="0" anchor="ctr"/>
          <a:lstStyle>
            <a:lvl1pPr algn="ctr">
              <a:defRPr sz="800">
                <a:solidFill>
                  <a:schemeClr val="tx1"/>
                </a:solidFill>
              </a:defRPr>
            </a:lvl1pPr>
          </a:lstStyle>
          <a:p>
            <a:r>
              <a:rPr lang="sv-SE" dirty="0"/>
              <a:t>Skriv eventuell sidfot här</a:t>
            </a:r>
          </a:p>
        </p:txBody>
      </p:sp>
      <p:sp>
        <p:nvSpPr>
          <p:cNvPr id="6" name="Platshållare för bildnummer 5"/>
          <p:cNvSpPr>
            <a:spLocks noGrp="1"/>
          </p:cNvSpPr>
          <p:nvPr>
            <p:ph type="sldNum" sz="quarter" idx="4"/>
          </p:nvPr>
        </p:nvSpPr>
        <p:spPr>
          <a:xfrm>
            <a:off x="10910400" y="6325501"/>
            <a:ext cx="672000" cy="144000"/>
          </a:xfrm>
          <a:prstGeom prst="rect">
            <a:avLst/>
          </a:prstGeom>
        </p:spPr>
        <p:txBody>
          <a:bodyPr vert="horz" lIns="0" tIns="0" rIns="0" bIns="0" rtlCol="0" anchor="ctr"/>
          <a:lstStyle>
            <a:lvl1pPr algn="r">
              <a:defRPr sz="800">
                <a:solidFill>
                  <a:schemeClr val="tx1"/>
                </a:solidFill>
              </a:defRPr>
            </a:lvl1pPr>
          </a:lstStyle>
          <a:p>
            <a:fld id="{A1FA3D87-4B78-4D5D-8368-DA3305501A4C}" type="slidenum">
              <a:rPr lang="sv-SE" smtClean="0"/>
              <a:pPr/>
              <a:t>‹#›</a:t>
            </a:fld>
            <a:endParaRPr lang="sv-SE" dirty="0"/>
          </a:p>
        </p:txBody>
      </p:sp>
      <p:pic>
        <p:nvPicPr>
          <p:cNvPr id="7" name="Bildobjekt 6" descr="Logo Stockholms Stad"/>
          <p:cNvPicPr>
            <a:picLocks noGrp="1" noRot="1" noChangeAspect="1" noMove="1" noResize="1" noEditPoints="1" noAdjustHandles="1" noChangeArrowheads="1" noChangeShapeType="1" noCrop="1"/>
          </p:cNvPicPr>
          <p:nvPr userDrawn="1"/>
        </p:nvPicPr>
        <p:blipFill>
          <a:blip r:embed="rId24" cstate="print">
            <a:extLst>
              <a:ext uri="{28A0092B-C50C-407E-A947-70E740481C1C}">
                <a14:useLocalDpi xmlns:a14="http://schemas.microsoft.com/office/drawing/2010/main" val="0"/>
              </a:ext>
            </a:extLst>
          </a:blip>
          <a:stretch>
            <a:fillRect/>
          </a:stretch>
        </p:blipFill>
        <p:spPr>
          <a:xfrm>
            <a:off x="623392" y="6125548"/>
            <a:ext cx="1367161" cy="468000"/>
          </a:xfrm>
          <a:prstGeom prst="rect">
            <a:avLst/>
          </a:prstGeom>
        </p:spPr>
      </p:pic>
    </p:spTree>
    <p:extLst>
      <p:ext uri="{BB962C8B-B14F-4D97-AF65-F5344CB8AC3E}">
        <p14:creationId xmlns:p14="http://schemas.microsoft.com/office/powerpoint/2010/main" val="3388487928"/>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66" r:id="rId3"/>
    <p:sldLayoutId id="2147483657" r:id="rId4"/>
    <p:sldLayoutId id="2147483658" r:id="rId5"/>
    <p:sldLayoutId id="2147483659" r:id="rId6"/>
    <p:sldLayoutId id="2147483660" r:id="rId7"/>
    <p:sldLayoutId id="2147483650" r:id="rId8"/>
    <p:sldLayoutId id="2147483652" r:id="rId9"/>
    <p:sldLayoutId id="2147483664" r:id="rId10"/>
    <p:sldLayoutId id="2147483665" r:id="rId11"/>
    <p:sldLayoutId id="2147483668" r:id="rId12"/>
    <p:sldLayoutId id="2147483667" r:id="rId13"/>
    <p:sldLayoutId id="2147483653" r:id="rId14"/>
    <p:sldLayoutId id="2147483654" r:id="rId15"/>
    <p:sldLayoutId id="2147483655" r:id="rId16"/>
    <p:sldLayoutId id="2147483651" r:id="rId17"/>
    <p:sldLayoutId id="2147483661" r:id="rId18"/>
    <p:sldLayoutId id="2147483662" r:id="rId19"/>
    <p:sldLayoutId id="2147483663" r:id="rId20"/>
    <p:sldLayoutId id="2147483669" r:id="rId21"/>
    <p:sldLayoutId id="2147483670" r:id="rId22"/>
  </p:sldLayoutIdLst>
  <p:hf sldNum="0" hdr="0" ftr="0" dt="0"/>
  <p:txStyles>
    <p:titleStyle>
      <a:lvl1pPr algn="l" defTabSz="914400" rtl="0" eaLnBrk="1" latinLnBrk="0" hangingPunct="1">
        <a:spcBef>
          <a:spcPct val="0"/>
        </a:spcBef>
        <a:buNone/>
        <a:defRPr sz="3000" b="1" kern="1200">
          <a:solidFill>
            <a:schemeClr val="tx1"/>
          </a:solidFill>
          <a:latin typeface="+mj-lt"/>
          <a:ea typeface="+mj-ea"/>
          <a:cs typeface="+mj-cs"/>
        </a:defRPr>
      </a:lvl1pPr>
    </p:titleStyle>
    <p:bodyStyle>
      <a:lvl1pPr marL="180000" indent="-180000" algn="l" defTabSz="914400" rtl="0" eaLnBrk="1" latinLnBrk="0" hangingPunct="1">
        <a:spcBef>
          <a:spcPct val="20000"/>
        </a:spcBef>
        <a:spcAft>
          <a:spcPts val="600"/>
        </a:spcAft>
        <a:buFont typeface="Arial" panose="020B0604020202020204" pitchFamily="34" charset="0"/>
        <a:buChar char="•"/>
        <a:defRPr sz="2000" kern="1200">
          <a:solidFill>
            <a:schemeClr val="tx1"/>
          </a:solidFill>
          <a:latin typeface="+mn-lt"/>
          <a:ea typeface="+mn-ea"/>
          <a:cs typeface="+mn-cs"/>
        </a:defRPr>
      </a:lvl1pPr>
      <a:lvl2pPr marL="398463" indent="-219075" algn="l" defTabSz="914400" rtl="0" eaLnBrk="1" latinLnBrk="0" hangingPunct="1">
        <a:spcBef>
          <a:spcPct val="20000"/>
        </a:spcBef>
        <a:spcAft>
          <a:spcPts val="300"/>
        </a:spcAft>
        <a:buFont typeface="Arial" panose="020B0604020202020204" pitchFamily="34" charset="0"/>
        <a:buChar char="–"/>
        <a:defRPr sz="2000" kern="1200">
          <a:solidFill>
            <a:schemeClr val="tx1"/>
          </a:solidFill>
          <a:latin typeface="+mn-lt"/>
          <a:ea typeface="+mn-ea"/>
          <a:cs typeface="+mn-cs"/>
        </a:defRPr>
      </a:lvl2pPr>
      <a:lvl3pPr marL="584200" indent="-195263" algn="l" defTabSz="914400" rtl="0" eaLnBrk="1" latinLnBrk="0" hangingPunct="1">
        <a:spcBef>
          <a:spcPct val="20000"/>
        </a:spcBef>
        <a:spcAft>
          <a:spcPts val="300"/>
        </a:spcAft>
        <a:buFont typeface="Arial" panose="020B0604020202020204" pitchFamily="34" charset="0"/>
        <a:buChar char="•"/>
        <a:defRPr sz="2000" kern="1200">
          <a:solidFill>
            <a:schemeClr val="tx1"/>
          </a:solidFill>
          <a:latin typeface="+mn-lt"/>
          <a:ea typeface="+mn-ea"/>
          <a:cs typeface="+mn-cs"/>
        </a:defRPr>
      </a:lvl3pPr>
      <a:lvl4pPr marL="812800" indent="-211138" algn="l" defTabSz="914400" rtl="0" eaLnBrk="1" latinLnBrk="0" hangingPunct="1">
        <a:spcBef>
          <a:spcPct val="20000"/>
        </a:spcBef>
        <a:spcAft>
          <a:spcPts val="300"/>
        </a:spcAft>
        <a:buFont typeface="Arial" panose="020B0604020202020204" pitchFamily="34" charset="0"/>
        <a:buChar char="–"/>
        <a:defRPr sz="2000" kern="1200">
          <a:solidFill>
            <a:schemeClr val="tx1"/>
          </a:solidFill>
          <a:latin typeface="+mn-lt"/>
          <a:ea typeface="+mn-ea"/>
          <a:cs typeface="+mn-cs"/>
        </a:defRPr>
      </a:lvl4pPr>
      <a:lvl5pPr marL="1008063" indent="-212725"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p:cNvSpPr>
            <a:spLocks noGrp="1"/>
          </p:cNvSpPr>
          <p:nvPr>
            <p:ph type="ctrTitle"/>
          </p:nvPr>
        </p:nvSpPr>
        <p:spPr/>
        <p:txBody>
          <a:bodyPr/>
          <a:lstStyle/>
          <a:p>
            <a:r>
              <a:rPr lang="sv-SE" dirty="0"/>
              <a:t>Information om IT-prislistan 2027</a:t>
            </a:r>
          </a:p>
        </p:txBody>
      </p:sp>
      <p:sp>
        <p:nvSpPr>
          <p:cNvPr id="5" name="Underrubrik 4"/>
          <p:cNvSpPr>
            <a:spLocks noGrp="1"/>
          </p:cNvSpPr>
          <p:nvPr>
            <p:ph type="body" sz="quarter" idx="10"/>
          </p:nvPr>
        </p:nvSpPr>
        <p:spPr/>
        <p:txBody>
          <a:bodyPr/>
          <a:lstStyle/>
          <a:p>
            <a:endParaRPr lang="sv-SE" b="1" dirty="0">
              <a:latin typeface="Arial Narrow" panose="020B0606020202030204" pitchFamily="34" charset="0"/>
            </a:endParaRPr>
          </a:p>
          <a:p>
            <a:r>
              <a:rPr lang="sv-SE" b="1" dirty="0">
                <a:latin typeface="Arial Narrow" panose="020B0606020202030204" pitchFamily="34" charset="0"/>
              </a:rPr>
              <a:t>Dnr: </a:t>
            </a:r>
            <a:r>
              <a:rPr lang="sv-SE" b="1" dirty="0">
                <a:highlight>
                  <a:srgbClr val="FFFF00"/>
                </a:highlight>
                <a:latin typeface="Arial Narrow" panose="020B0606020202030204" pitchFamily="34" charset="0"/>
              </a:rPr>
              <a:t>KS 2026/[XXXX]</a:t>
            </a:r>
          </a:p>
          <a:p>
            <a:pPr marL="180975" indent="-180975">
              <a:buFont typeface="Arial" panose="020B0604020202020204" pitchFamily="34" charset="0"/>
              <a:buChar char="•"/>
            </a:pPr>
            <a:endParaRPr lang="sv-SE" sz="2000" b="1" dirty="0">
              <a:latin typeface="Arial Narrow" panose="020B0606020202030204" pitchFamily="34" charset="0"/>
            </a:endParaRPr>
          </a:p>
          <a:p>
            <a:pPr marL="180975" indent="-180975">
              <a:buFont typeface="Arial" panose="020B0604020202020204" pitchFamily="34" charset="0"/>
              <a:buChar char="•"/>
            </a:pPr>
            <a:endParaRPr lang="sv-SE" sz="2000" dirty="0">
              <a:solidFill>
                <a:schemeClr val="tx1"/>
              </a:solidFill>
              <a:latin typeface="Arial Narrow" panose="020B0606020202030204" pitchFamily="34" charset="0"/>
            </a:endParaRPr>
          </a:p>
          <a:p>
            <a:endParaRPr lang="sv-SE" dirty="0"/>
          </a:p>
        </p:txBody>
      </p:sp>
    </p:spTree>
    <p:extLst>
      <p:ext uri="{BB962C8B-B14F-4D97-AF65-F5344CB8AC3E}">
        <p14:creationId xmlns:p14="http://schemas.microsoft.com/office/powerpoint/2010/main" val="1042101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Om dokumentet</a:t>
            </a:r>
          </a:p>
        </p:txBody>
      </p:sp>
      <p:sp>
        <p:nvSpPr>
          <p:cNvPr id="3" name="Rectangle 2"/>
          <p:cNvSpPr/>
          <p:nvPr/>
        </p:nvSpPr>
        <p:spPr>
          <a:xfrm>
            <a:off x="612648" y="1371600"/>
            <a:ext cx="3657600" cy="22014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95528" y="1536192"/>
            <a:ext cx="3291840" cy="1415772"/>
          </a:xfrm>
          <a:prstGeom prst="rect">
            <a:avLst/>
          </a:prstGeom>
          <a:noFill/>
        </p:spPr>
        <p:txBody>
          <a:bodyPr wrap="square">
            <a:spAutoFit/>
          </a:bodyPr>
          <a:lstStyle/>
          <a:p>
            <a:pPr>
              <a:spcAft>
                <a:spcPts val="600"/>
              </a:spcAft>
            </a:pPr>
            <a:r>
              <a:rPr sz="1600" b="1" i="0" dirty="0">
                <a:latin typeface="Arial Narrow"/>
              </a:rPr>
              <a:t>Vad </a:t>
            </a:r>
            <a:r>
              <a:rPr sz="1600" b="1" i="0" dirty="0" err="1">
                <a:latin typeface="Arial Narrow"/>
              </a:rPr>
              <a:t>är</a:t>
            </a:r>
            <a:r>
              <a:rPr sz="1600" b="1" i="0" dirty="0">
                <a:latin typeface="Arial Narrow"/>
              </a:rPr>
              <a:t> IT-</a:t>
            </a:r>
            <a:r>
              <a:rPr sz="1600" b="1" i="0" dirty="0" err="1">
                <a:latin typeface="Arial Narrow"/>
              </a:rPr>
              <a:t>prislistan</a:t>
            </a:r>
            <a:r>
              <a:rPr sz="1600" b="1" i="0" dirty="0">
                <a:latin typeface="Arial Narrow"/>
              </a:rPr>
              <a:t>?</a:t>
            </a:r>
          </a:p>
          <a:p>
            <a:r>
              <a:rPr sz="1300" b="0" i="0" dirty="0">
                <a:latin typeface="Arial Narrow"/>
              </a:rPr>
              <a:t>IT-</a:t>
            </a:r>
            <a:r>
              <a:rPr sz="1300" b="0" i="0" dirty="0" err="1">
                <a:latin typeface="Arial Narrow"/>
              </a:rPr>
              <a:t>prislistan</a:t>
            </a:r>
            <a:r>
              <a:rPr sz="1300" b="0" i="0" dirty="0">
                <a:latin typeface="Arial Narrow"/>
              </a:rPr>
              <a:t> </a:t>
            </a:r>
            <a:r>
              <a:rPr lang="sv-SE" sz="1300" b="0" i="0" dirty="0">
                <a:latin typeface="Arial Narrow"/>
              </a:rPr>
              <a:t>avser</a:t>
            </a:r>
            <a:r>
              <a:rPr sz="1300" b="0" i="0" dirty="0">
                <a:latin typeface="Arial Narrow"/>
              </a:rPr>
              <a:t> </a:t>
            </a:r>
            <a:r>
              <a:rPr sz="1300" b="0" i="0" dirty="0" err="1">
                <a:latin typeface="Arial Narrow"/>
              </a:rPr>
              <a:t>centrala</a:t>
            </a:r>
            <a:r>
              <a:rPr sz="1300" b="0" i="0" dirty="0">
                <a:latin typeface="Arial Narrow"/>
              </a:rPr>
              <a:t> it-</a:t>
            </a:r>
            <a:r>
              <a:rPr sz="1300" b="0" i="0" dirty="0" err="1">
                <a:latin typeface="Arial Narrow"/>
              </a:rPr>
              <a:t>kostnader</a:t>
            </a:r>
            <a:r>
              <a:rPr sz="1300" b="0" i="0" dirty="0">
                <a:latin typeface="Arial Narrow"/>
              </a:rPr>
              <a:t> för </a:t>
            </a:r>
            <a:r>
              <a:rPr sz="1300" b="0" i="0" dirty="0" err="1">
                <a:latin typeface="Arial Narrow"/>
              </a:rPr>
              <a:t>gemensamt</a:t>
            </a:r>
            <a:r>
              <a:rPr sz="1300" b="0" i="0" dirty="0">
                <a:latin typeface="Arial Narrow"/>
              </a:rPr>
              <a:t> it-stöd till </a:t>
            </a:r>
            <a:r>
              <a:rPr lang="sv-SE" sz="1300" b="0" i="0" dirty="0">
                <a:latin typeface="Arial Narrow"/>
              </a:rPr>
              <a:t>stadens </a:t>
            </a:r>
            <a:r>
              <a:rPr lang="sv-SE" sz="1300" dirty="0">
                <a:latin typeface="Arial Narrow"/>
              </a:rPr>
              <a:t>bolag och förvaltningar. </a:t>
            </a:r>
          </a:p>
          <a:p>
            <a:endParaRPr lang="sv-SE" sz="1300" b="0" i="0" dirty="0">
              <a:latin typeface="Arial Narrow"/>
            </a:endParaRPr>
          </a:p>
          <a:p>
            <a:r>
              <a:rPr lang="sv-SE" sz="1300" b="0" i="0" dirty="0">
                <a:latin typeface="Arial Narrow"/>
              </a:rPr>
              <a:t>IT-prislistan beslutas med stadens budget.</a:t>
            </a:r>
            <a:endParaRPr sz="1300" b="0" i="0" dirty="0">
              <a:latin typeface="Arial Narrow"/>
            </a:endParaRPr>
          </a:p>
        </p:txBody>
      </p:sp>
      <p:sp>
        <p:nvSpPr>
          <p:cNvPr id="5" name="Rectangle 4"/>
          <p:cNvSpPr/>
          <p:nvPr/>
        </p:nvSpPr>
        <p:spPr>
          <a:xfrm>
            <a:off x="4453128" y="1371600"/>
            <a:ext cx="3657600" cy="22014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4636008" y="1536192"/>
            <a:ext cx="3291840" cy="1415772"/>
          </a:xfrm>
          <a:prstGeom prst="rect">
            <a:avLst/>
          </a:prstGeom>
          <a:noFill/>
        </p:spPr>
        <p:txBody>
          <a:bodyPr wrap="square">
            <a:spAutoFit/>
          </a:bodyPr>
          <a:lstStyle/>
          <a:p>
            <a:pPr>
              <a:spcAft>
                <a:spcPts val="600"/>
              </a:spcAft>
            </a:pPr>
            <a:r>
              <a:rPr sz="1600" b="1" i="0" dirty="0">
                <a:latin typeface="Arial Narrow"/>
              </a:rPr>
              <a:t>Vem </a:t>
            </a:r>
            <a:r>
              <a:rPr sz="1600" b="1" i="0" dirty="0" err="1">
                <a:latin typeface="Arial Narrow"/>
              </a:rPr>
              <a:t>är</a:t>
            </a:r>
            <a:r>
              <a:rPr sz="1600" b="1" i="0" dirty="0">
                <a:latin typeface="Arial Narrow"/>
              </a:rPr>
              <a:t> </a:t>
            </a:r>
            <a:r>
              <a:rPr sz="1600" b="1" i="0" dirty="0" err="1">
                <a:latin typeface="Arial Narrow"/>
              </a:rPr>
              <a:t>dokumentet</a:t>
            </a:r>
            <a:r>
              <a:rPr sz="1600" b="1" i="0" dirty="0">
                <a:latin typeface="Arial Narrow"/>
              </a:rPr>
              <a:t> till för?</a:t>
            </a:r>
          </a:p>
          <a:p>
            <a:r>
              <a:rPr sz="1300" b="0" i="0" dirty="0" err="1">
                <a:latin typeface="Arial Narrow"/>
              </a:rPr>
              <a:t>Ekonomer</a:t>
            </a:r>
            <a:r>
              <a:rPr sz="1300" b="0" i="0" dirty="0">
                <a:latin typeface="Arial Narrow"/>
              </a:rPr>
              <a:t>, it-</a:t>
            </a:r>
            <a:r>
              <a:rPr sz="1300" b="0" i="0" dirty="0" err="1">
                <a:latin typeface="Arial Narrow"/>
              </a:rPr>
              <a:t>ansvariga</a:t>
            </a:r>
            <a:r>
              <a:rPr sz="1300" b="0" i="0" dirty="0">
                <a:latin typeface="Arial Narrow"/>
              </a:rPr>
              <a:t> och </a:t>
            </a:r>
            <a:r>
              <a:rPr sz="1300" b="0" i="0" dirty="0" err="1">
                <a:latin typeface="Arial Narrow"/>
              </a:rPr>
              <a:t>andra</a:t>
            </a:r>
            <a:r>
              <a:rPr sz="1300" b="0" i="0" dirty="0">
                <a:latin typeface="Arial Narrow"/>
              </a:rPr>
              <a:t> </a:t>
            </a:r>
            <a:r>
              <a:rPr sz="1300" b="0" i="0" dirty="0" err="1">
                <a:latin typeface="Arial Narrow"/>
              </a:rPr>
              <a:t>som</a:t>
            </a:r>
            <a:r>
              <a:rPr sz="1300" b="0" i="0" dirty="0">
                <a:latin typeface="Arial Narrow"/>
              </a:rPr>
              <a:t> </a:t>
            </a:r>
            <a:r>
              <a:rPr sz="1300" b="0" i="0" dirty="0" err="1">
                <a:latin typeface="Arial Narrow"/>
              </a:rPr>
              <a:t>följer</a:t>
            </a:r>
            <a:r>
              <a:rPr sz="1300" b="0" i="0" dirty="0">
                <a:latin typeface="Arial Narrow"/>
              </a:rPr>
              <a:t> </a:t>
            </a:r>
            <a:r>
              <a:rPr sz="1300" b="0" i="0" dirty="0" err="1">
                <a:latin typeface="Arial Narrow"/>
              </a:rPr>
              <a:t>upp</a:t>
            </a:r>
            <a:r>
              <a:rPr sz="1300" b="0" i="0" dirty="0">
                <a:latin typeface="Arial Narrow"/>
              </a:rPr>
              <a:t> och </a:t>
            </a:r>
            <a:r>
              <a:rPr sz="1300" b="0" i="0" dirty="0" err="1">
                <a:latin typeface="Arial Narrow"/>
              </a:rPr>
              <a:t>analyserar</a:t>
            </a:r>
            <a:r>
              <a:rPr sz="1300" b="0" i="0" dirty="0">
                <a:latin typeface="Arial Narrow"/>
              </a:rPr>
              <a:t> </a:t>
            </a:r>
            <a:r>
              <a:rPr sz="1300" b="0" i="0" dirty="0" err="1">
                <a:latin typeface="Arial Narrow"/>
              </a:rPr>
              <a:t>stadens</a:t>
            </a:r>
            <a:r>
              <a:rPr sz="1300" b="0" i="0" dirty="0">
                <a:latin typeface="Arial Narrow"/>
              </a:rPr>
              <a:t> </a:t>
            </a:r>
            <a:r>
              <a:rPr sz="1300" b="0" i="0" dirty="0" err="1">
                <a:latin typeface="Arial Narrow"/>
              </a:rPr>
              <a:t>centrala</a:t>
            </a:r>
            <a:r>
              <a:rPr sz="1300" b="0" i="0" dirty="0">
                <a:latin typeface="Arial Narrow"/>
              </a:rPr>
              <a:t> it-</a:t>
            </a:r>
            <a:r>
              <a:rPr sz="1300" b="0" i="0" dirty="0" err="1">
                <a:latin typeface="Arial Narrow"/>
              </a:rPr>
              <a:t>kostnader</a:t>
            </a:r>
            <a:r>
              <a:rPr sz="1300" b="0" i="0" dirty="0">
                <a:latin typeface="Arial Narrow"/>
              </a:rPr>
              <a:t>. </a:t>
            </a:r>
            <a:endParaRPr lang="sv-SE" sz="1300" b="0" i="0" dirty="0">
              <a:latin typeface="Arial Narrow"/>
            </a:endParaRPr>
          </a:p>
          <a:p>
            <a:endParaRPr lang="sv-SE" sz="1300" dirty="0">
              <a:latin typeface="Arial Narrow"/>
            </a:endParaRPr>
          </a:p>
          <a:p>
            <a:r>
              <a:rPr sz="1300" b="0" i="0" dirty="0" err="1">
                <a:latin typeface="Arial Narrow"/>
              </a:rPr>
              <a:t>Dokumentet</a:t>
            </a:r>
            <a:r>
              <a:rPr sz="1300" b="0" i="0" dirty="0">
                <a:latin typeface="Arial Narrow"/>
              </a:rPr>
              <a:t> </a:t>
            </a:r>
            <a:r>
              <a:rPr sz="1300" b="0" i="0" dirty="0" err="1">
                <a:latin typeface="Arial Narrow"/>
              </a:rPr>
              <a:t>förklarar</a:t>
            </a:r>
            <a:r>
              <a:rPr sz="1300" b="0" i="0" dirty="0">
                <a:latin typeface="Arial Narrow"/>
              </a:rPr>
              <a:t> </a:t>
            </a:r>
            <a:r>
              <a:rPr sz="1300" b="0" i="0" dirty="0" err="1">
                <a:latin typeface="Arial Narrow"/>
              </a:rPr>
              <a:t>kostnadsbilden</a:t>
            </a:r>
            <a:r>
              <a:rPr sz="1300" b="0" i="0" dirty="0">
                <a:latin typeface="Arial Narrow"/>
              </a:rPr>
              <a:t>, </a:t>
            </a:r>
            <a:r>
              <a:rPr sz="1300" b="0" i="0" dirty="0" err="1">
                <a:latin typeface="Arial Narrow"/>
              </a:rPr>
              <a:t>objekten</a:t>
            </a:r>
            <a:r>
              <a:rPr sz="1300" b="0" i="0" dirty="0">
                <a:latin typeface="Arial Narrow"/>
              </a:rPr>
              <a:t> och </a:t>
            </a:r>
            <a:r>
              <a:rPr sz="1300" b="0" i="0" dirty="0" err="1">
                <a:latin typeface="Arial Narrow"/>
              </a:rPr>
              <a:t>förändringar</a:t>
            </a:r>
            <a:r>
              <a:rPr sz="1300" b="0" i="0" dirty="0">
                <a:latin typeface="Arial Narrow"/>
              </a:rPr>
              <a:t> </a:t>
            </a:r>
            <a:r>
              <a:rPr sz="1300" b="0" i="0" dirty="0" err="1">
                <a:latin typeface="Arial Narrow"/>
              </a:rPr>
              <a:t>från</a:t>
            </a:r>
            <a:r>
              <a:rPr sz="1300" b="0" i="0" dirty="0">
                <a:latin typeface="Arial Narrow"/>
              </a:rPr>
              <a:t> </a:t>
            </a:r>
            <a:r>
              <a:rPr sz="1300" b="0" i="0" dirty="0" err="1">
                <a:latin typeface="Arial Narrow"/>
              </a:rPr>
              <a:t>föregående</a:t>
            </a:r>
            <a:r>
              <a:rPr sz="1300" b="0" i="0" dirty="0">
                <a:latin typeface="Arial Narrow"/>
              </a:rPr>
              <a:t> </a:t>
            </a:r>
            <a:r>
              <a:rPr sz="1300" b="0" i="0" dirty="0" err="1">
                <a:latin typeface="Arial Narrow"/>
              </a:rPr>
              <a:t>år</a:t>
            </a:r>
            <a:r>
              <a:rPr sz="1300" b="0" i="0" dirty="0">
                <a:latin typeface="Arial Narrow"/>
              </a:rPr>
              <a:t>.</a:t>
            </a:r>
          </a:p>
        </p:txBody>
      </p:sp>
      <p:sp>
        <p:nvSpPr>
          <p:cNvPr id="7" name="Rectangle 6"/>
          <p:cNvSpPr/>
          <p:nvPr/>
        </p:nvSpPr>
        <p:spPr>
          <a:xfrm>
            <a:off x="612648" y="3703320"/>
            <a:ext cx="365760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54964" y="3867911"/>
            <a:ext cx="3291840" cy="2062103"/>
          </a:xfrm>
          <a:prstGeom prst="rect">
            <a:avLst/>
          </a:prstGeom>
          <a:noFill/>
        </p:spPr>
        <p:txBody>
          <a:bodyPr wrap="square">
            <a:spAutoFit/>
          </a:bodyPr>
          <a:lstStyle/>
          <a:p>
            <a:pPr>
              <a:spcAft>
                <a:spcPts val="600"/>
              </a:spcAft>
            </a:pPr>
            <a:r>
              <a:rPr sz="1600" b="1" i="0" dirty="0">
                <a:latin typeface="Arial Narrow"/>
              </a:rPr>
              <a:t>Hur </a:t>
            </a:r>
            <a:r>
              <a:rPr sz="1600" b="1" i="0" dirty="0" err="1">
                <a:latin typeface="Arial Narrow"/>
              </a:rPr>
              <a:t>fördelas</a:t>
            </a:r>
            <a:r>
              <a:rPr sz="1600" b="1" i="0" dirty="0">
                <a:latin typeface="Arial Narrow"/>
              </a:rPr>
              <a:t> och </a:t>
            </a:r>
            <a:r>
              <a:rPr sz="1600" b="1" i="0" dirty="0" err="1">
                <a:latin typeface="Arial Narrow"/>
              </a:rPr>
              <a:t>faktureras</a:t>
            </a:r>
            <a:r>
              <a:rPr sz="1600" b="1" i="0" dirty="0">
                <a:latin typeface="Arial Narrow"/>
              </a:rPr>
              <a:t> </a:t>
            </a:r>
            <a:r>
              <a:rPr sz="1600" b="1" i="0" dirty="0" err="1">
                <a:latin typeface="Arial Narrow"/>
              </a:rPr>
              <a:t>kostnaderna</a:t>
            </a:r>
            <a:r>
              <a:rPr sz="1600" b="1" i="0" dirty="0">
                <a:latin typeface="Arial Narrow"/>
              </a:rPr>
              <a:t>?</a:t>
            </a:r>
          </a:p>
          <a:p>
            <a:r>
              <a:rPr lang="sv-SE" sz="1300" dirty="0">
                <a:latin typeface="Arial Narrow"/>
              </a:rPr>
              <a:t>Kostnaderna för v</a:t>
            </a:r>
            <a:r>
              <a:rPr sz="1300" b="0" i="0" dirty="0" err="1">
                <a:latin typeface="Arial Narrow"/>
              </a:rPr>
              <a:t>arje</a:t>
            </a:r>
            <a:r>
              <a:rPr sz="1300" b="0" i="0" dirty="0">
                <a:latin typeface="Arial Narrow"/>
              </a:rPr>
              <a:t> </a:t>
            </a:r>
            <a:r>
              <a:rPr sz="1300" b="0" i="0" dirty="0" err="1">
                <a:latin typeface="Arial Narrow"/>
              </a:rPr>
              <a:t>objekt</a:t>
            </a:r>
            <a:r>
              <a:rPr sz="1300" b="0" i="0" dirty="0">
                <a:latin typeface="Arial Narrow"/>
              </a:rPr>
              <a:t> </a:t>
            </a:r>
            <a:r>
              <a:rPr sz="1300" b="0" i="0" dirty="0" err="1">
                <a:latin typeface="Arial Narrow"/>
              </a:rPr>
              <a:t>fördelas</a:t>
            </a:r>
            <a:r>
              <a:rPr sz="1300" b="0" i="0" dirty="0">
                <a:latin typeface="Arial Narrow"/>
              </a:rPr>
              <a:t> </a:t>
            </a:r>
            <a:r>
              <a:rPr lang="sv-SE" sz="1300" b="0" i="0" dirty="0">
                <a:latin typeface="Arial Narrow"/>
              </a:rPr>
              <a:t>utifrån</a:t>
            </a:r>
            <a:r>
              <a:rPr sz="1300" b="0" i="0" dirty="0">
                <a:latin typeface="Arial Narrow"/>
              </a:rPr>
              <a:t> </a:t>
            </a:r>
            <a:r>
              <a:rPr sz="1300" b="0" i="0" dirty="0" err="1">
                <a:latin typeface="Arial Narrow"/>
              </a:rPr>
              <a:t>eg</a:t>
            </a:r>
            <a:r>
              <a:rPr lang="sv-SE" sz="1300" b="0" i="0" dirty="0" err="1">
                <a:latin typeface="Arial Narrow"/>
              </a:rPr>
              <a:t>na</a:t>
            </a:r>
            <a:r>
              <a:rPr sz="1300" b="0" i="0" dirty="0">
                <a:latin typeface="Arial Narrow"/>
              </a:rPr>
              <a:t> </a:t>
            </a:r>
            <a:r>
              <a:rPr sz="1300" b="0" i="0" dirty="0" err="1">
                <a:latin typeface="Arial Narrow"/>
              </a:rPr>
              <a:t>fördelningsnyck</a:t>
            </a:r>
            <a:r>
              <a:rPr lang="sv-SE" sz="1300" b="0" i="0" dirty="0">
                <a:latin typeface="Arial Narrow"/>
              </a:rPr>
              <a:t>lar</a:t>
            </a:r>
            <a:r>
              <a:rPr sz="1300" b="0" i="0" dirty="0">
                <a:latin typeface="Arial Narrow"/>
              </a:rPr>
              <a:t>. </a:t>
            </a:r>
            <a:r>
              <a:rPr lang="sv-SE" sz="1300" b="0" i="0" dirty="0" err="1">
                <a:latin typeface="Arial Narrow"/>
              </a:rPr>
              <a:t>Datan</a:t>
            </a:r>
            <a:r>
              <a:rPr lang="sv-SE" sz="1300" b="0" i="0" dirty="0">
                <a:latin typeface="Arial Narrow"/>
              </a:rPr>
              <a:t> till fördelningsnycklarna läses i de flesta fall</a:t>
            </a:r>
            <a:r>
              <a:rPr sz="1300" b="0" i="0" dirty="0">
                <a:latin typeface="Arial Narrow"/>
              </a:rPr>
              <a:t> av per </a:t>
            </a:r>
            <a:r>
              <a:rPr lang="sv-SE" sz="1300" dirty="0">
                <a:latin typeface="Arial Narrow"/>
              </a:rPr>
              <a:t>2026-08-30.</a:t>
            </a:r>
            <a:r>
              <a:rPr sz="1300" b="0" i="0" dirty="0">
                <a:latin typeface="Arial Narrow"/>
              </a:rPr>
              <a:t> </a:t>
            </a:r>
            <a:endParaRPr lang="sv-SE" sz="1300" b="0" i="0" dirty="0">
              <a:latin typeface="Arial Narrow"/>
            </a:endParaRPr>
          </a:p>
          <a:p>
            <a:endParaRPr lang="sv-SE" sz="1300" dirty="0">
              <a:latin typeface="Arial Narrow"/>
            </a:endParaRPr>
          </a:p>
          <a:p>
            <a:r>
              <a:rPr sz="1300" b="0" i="0" dirty="0" err="1">
                <a:latin typeface="Arial Narrow"/>
              </a:rPr>
              <a:t>Kostnaderna</a:t>
            </a:r>
            <a:r>
              <a:rPr sz="1300" b="0" i="0" dirty="0">
                <a:latin typeface="Arial Narrow"/>
              </a:rPr>
              <a:t> </a:t>
            </a:r>
            <a:r>
              <a:rPr sz="1300" b="0" i="0" dirty="0" err="1">
                <a:latin typeface="Arial Narrow"/>
              </a:rPr>
              <a:t>faktureras</a:t>
            </a:r>
            <a:r>
              <a:rPr sz="1300" b="0" i="0" dirty="0">
                <a:latin typeface="Arial Narrow"/>
              </a:rPr>
              <a:t> </a:t>
            </a:r>
            <a:r>
              <a:rPr lang="sv-SE" sz="1300" b="0" i="0" dirty="0">
                <a:latin typeface="Arial Narrow"/>
              </a:rPr>
              <a:t>sedan </a:t>
            </a:r>
            <a:r>
              <a:rPr sz="1300" b="0" i="0" dirty="0" err="1">
                <a:latin typeface="Arial Narrow"/>
              </a:rPr>
              <a:t>samlat</a:t>
            </a:r>
            <a:r>
              <a:rPr sz="1300" b="0" i="0" dirty="0">
                <a:latin typeface="Arial Narrow"/>
              </a:rPr>
              <a:t> </a:t>
            </a:r>
            <a:r>
              <a:rPr sz="1300" b="0" i="0" dirty="0" err="1">
                <a:latin typeface="Arial Narrow"/>
              </a:rPr>
              <a:t>från</a:t>
            </a:r>
            <a:r>
              <a:rPr sz="1300" b="0" i="0" dirty="0">
                <a:latin typeface="Arial Narrow"/>
              </a:rPr>
              <a:t> </a:t>
            </a:r>
            <a:r>
              <a:rPr sz="1300" b="0" i="0" dirty="0" err="1">
                <a:latin typeface="Arial Narrow"/>
              </a:rPr>
              <a:t>stadsledningskontoret</a:t>
            </a:r>
            <a:r>
              <a:rPr sz="1300" b="0" i="0" dirty="0">
                <a:latin typeface="Arial Narrow"/>
              </a:rPr>
              <a:t> </a:t>
            </a:r>
            <a:r>
              <a:rPr sz="1300" b="0" i="0" dirty="0" err="1">
                <a:latin typeface="Arial Narrow"/>
              </a:rPr>
              <a:t>i</a:t>
            </a:r>
            <a:r>
              <a:rPr sz="1300" b="0" i="0" dirty="0">
                <a:latin typeface="Arial Narrow"/>
              </a:rPr>
              <a:t> </a:t>
            </a:r>
            <a:r>
              <a:rPr sz="1300" b="0" i="0" dirty="0" err="1">
                <a:latin typeface="Arial Narrow"/>
              </a:rPr>
              <a:t>januari</a:t>
            </a:r>
            <a:r>
              <a:rPr sz="1300" b="0" i="0" dirty="0">
                <a:latin typeface="Arial Narrow"/>
              </a:rPr>
              <a:t> 2027</a:t>
            </a:r>
            <a:r>
              <a:rPr lang="sv-SE" sz="1300" b="0" i="0" dirty="0">
                <a:latin typeface="Arial Narrow"/>
              </a:rPr>
              <a:t> (en faktura per förvaltning/bolag)</a:t>
            </a:r>
            <a:r>
              <a:rPr sz="1300" b="0" i="0" dirty="0">
                <a:latin typeface="Arial Narrow"/>
              </a:rPr>
              <a:t>.</a:t>
            </a:r>
          </a:p>
        </p:txBody>
      </p:sp>
      <p:sp>
        <p:nvSpPr>
          <p:cNvPr id="9" name="Rectangle 8"/>
          <p:cNvSpPr/>
          <p:nvPr/>
        </p:nvSpPr>
        <p:spPr>
          <a:xfrm>
            <a:off x="4453128" y="3703320"/>
            <a:ext cx="365760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695444" y="3867911"/>
            <a:ext cx="3291840" cy="2015936"/>
          </a:xfrm>
          <a:prstGeom prst="rect">
            <a:avLst/>
          </a:prstGeom>
          <a:noFill/>
        </p:spPr>
        <p:txBody>
          <a:bodyPr wrap="square">
            <a:spAutoFit/>
          </a:bodyPr>
          <a:lstStyle/>
          <a:p>
            <a:pPr>
              <a:spcAft>
                <a:spcPts val="600"/>
              </a:spcAft>
            </a:pPr>
            <a:r>
              <a:rPr sz="1600" b="1" i="0" dirty="0">
                <a:latin typeface="Arial Narrow"/>
              </a:rPr>
              <a:t>Var </a:t>
            </a:r>
            <a:r>
              <a:rPr sz="1600" b="1" i="0" dirty="0" err="1">
                <a:latin typeface="Arial Narrow"/>
              </a:rPr>
              <a:t>finns</a:t>
            </a:r>
            <a:r>
              <a:rPr sz="1600" b="1" i="0" dirty="0">
                <a:latin typeface="Arial Narrow"/>
              </a:rPr>
              <a:t> </a:t>
            </a:r>
            <a:r>
              <a:rPr lang="sv-SE" sz="1600" b="1" dirty="0">
                <a:latin typeface="Arial Narrow"/>
              </a:rPr>
              <a:t>dokumenten</a:t>
            </a:r>
            <a:r>
              <a:rPr sz="1600" b="1" i="0" dirty="0">
                <a:latin typeface="Arial Narrow"/>
              </a:rPr>
              <a:t>?</a:t>
            </a:r>
          </a:p>
          <a:p>
            <a:r>
              <a:rPr sz="1300" b="0" i="0" dirty="0" err="1">
                <a:latin typeface="Arial Narrow"/>
              </a:rPr>
              <a:t>Dokumenten</a:t>
            </a:r>
            <a:r>
              <a:rPr lang="sv-SE" sz="1300" b="0" i="0" dirty="0">
                <a:latin typeface="Arial Narrow"/>
              </a:rPr>
              <a:t> för IT-prislistan</a:t>
            </a:r>
            <a:r>
              <a:rPr sz="1300" b="0" i="0" dirty="0">
                <a:latin typeface="Arial Narrow"/>
              </a:rPr>
              <a:t> </a:t>
            </a:r>
            <a:r>
              <a:rPr sz="1300" b="0" i="0" dirty="0" err="1">
                <a:latin typeface="Arial Narrow"/>
              </a:rPr>
              <a:t>publiceras</a:t>
            </a:r>
            <a:r>
              <a:rPr sz="1300" b="0" i="0" dirty="0">
                <a:latin typeface="Arial Narrow"/>
              </a:rPr>
              <a:t> </a:t>
            </a:r>
            <a:r>
              <a:rPr lang="sv-SE" sz="1300" b="0" i="0" dirty="0">
                <a:latin typeface="Arial Narrow"/>
              </a:rPr>
              <a:t>samlat </a:t>
            </a:r>
            <a:r>
              <a:rPr sz="1300" b="0" i="0" dirty="0" err="1">
                <a:latin typeface="Arial Narrow"/>
              </a:rPr>
              <a:t>på</a:t>
            </a:r>
            <a:r>
              <a:rPr sz="1300" b="0" i="0" dirty="0">
                <a:latin typeface="Arial Narrow"/>
              </a:rPr>
              <a:t> </a:t>
            </a:r>
            <a:r>
              <a:rPr sz="1300" b="0" i="0" dirty="0" err="1">
                <a:latin typeface="Arial Narrow"/>
              </a:rPr>
              <a:t>intranätet</a:t>
            </a:r>
            <a:r>
              <a:rPr sz="1300" b="0" i="0" dirty="0">
                <a:latin typeface="Arial Narrow"/>
              </a:rPr>
              <a:t> under Ekonomi &gt; It-</a:t>
            </a:r>
            <a:r>
              <a:rPr sz="1300" b="0" i="0" dirty="0" err="1">
                <a:latin typeface="Arial Narrow"/>
              </a:rPr>
              <a:t>ekonomi</a:t>
            </a:r>
            <a:r>
              <a:rPr sz="1300" b="0" i="0" dirty="0">
                <a:latin typeface="Arial Narrow"/>
              </a:rPr>
              <a:t> och it-</a:t>
            </a:r>
            <a:r>
              <a:rPr sz="1300" b="0" i="0" dirty="0" err="1">
                <a:latin typeface="Arial Narrow"/>
              </a:rPr>
              <a:t>prislista</a:t>
            </a:r>
            <a:r>
              <a:rPr sz="1300" b="0" i="0" dirty="0">
                <a:latin typeface="Arial Narrow"/>
              </a:rPr>
              <a:t>.</a:t>
            </a:r>
            <a:endParaRPr lang="sv-SE" sz="1300" b="0" i="0" dirty="0">
              <a:latin typeface="Arial Narrow"/>
            </a:endParaRPr>
          </a:p>
          <a:p>
            <a:endParaRPr lang="sv-SE" sz="1300" dirty="0">
              <a:latin typeface="Arial Narrow"/>
            </a:endParaRPr>
          </a:p>
          <a:p>
            <a:r>
              <a:rPr lang="sv-SE" sz="1300" b="0" i="0" dirty="0">
                <a:latin typeface="Arial Narrow"/>
              </a:rPr>
              <a:t>Siffrorna </a:t>
            </a:r>
            <a:r>
              <a:rPr lang="sv-SE" sz="1300" dirty="0">
                <a:latin typeface="Arial Narrow"/>
              </a:rPr>
              <a:t>per objekt och data för fördelningsnycklarna presenteras också mer ingående i Beräkningsmallen för IT-prislistan. </a:t>
            </a:r>
          </a:p>
          <a:p>
            <a:endParaRPr sz="1300" b="0" i="0" dirty="0">
              <a:latin typeface="Arial Narrow"/>
            </a:endParaRPr>
          </a:p>
        </p:txBody>
      </p:sp>
      <p:sp>
        <p:nvSpPr>
          <p:cNvPr id="11" name="Rectangle 10"/>
          <p:cNvSpPr/>
          <p:nvPr/>
        </p:nvSpPr>
        <p:spPr>
          <a:xfrm>
            <a:off x="8412480" y="1371599"/>
            <a:ext cx="3154680" cy="4617721"/>
          </a:xfrm>
          <a:prstGeom prst="rect">
            <a:avLst/>
          </a:prstGeom>
          <a:solidFill>
            <a:srgbClr val="E2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595360" y="1536192"/>
            <a:ext cx="2834640" cy="4114800"/>
          </a:xfrm>
          <a:prstGeom prst="rect">
            <a:avLst/>
          </a:prstGeom>
          <a:noFill/>
        </p:spPr>
        <p:txBody>
          <a:bodyPr wrap="square">
            <a:spAutoFit/>
          </a:bodyPr>
          <a:lstStyle/>
          <a:p>
            <a:pPr>
              <a:spcAft>
                <a:spcPts val="1000"/>
              </a:spcAft>
            </a:pPr>
            <a:r>
              <a:rPr sz="1600" b="1" i="0">
                <a:latin typeface="Arial Narrow"/>
              </a:rPr>
              <a:t>Innehåll</a:t>
            </a:r>
          </a:p>
          <a:p>
            <a:pPr>
              <a:spcAft>
                <a:spcPts val="800"/>
              </a:spcAft>
            </a:pPr>
            <a:r>
              <a:rPr sz="1400" b="1" i="0">
                <a:solidFill>
                  <a:srgbClr val="A85AD1"/>
                </a:solidFill>
                <a:latin typeface="Arial Narrow"/>
              </a:rPr>
              <a:t>1  </a:t>
            </a:r>
            <a:r>
              <a:rPr sz="1400" b="0" i="0">
                <a:latin typeface="Arial Narrow"/>
              </a:rPr>
              <a:t>IT-prislistan 2027 i korthet</a:t>
            </a:r>
          </a:p>
          <a:p>
            <a:pPr>
              <a:spcAft>
                <a:spcPts val="800"/>
              </a:spcAft>
            </a:pPr>
            <a:r>
              <a:rPr sz="1400" b="1" i="0">
                <a:solidFill>
                  <a:srgbClr val="A85AD1"/>
                </a:solidFill>
                <a:latin typeface="Arial Narrow"/>
              </a:rPr>
              <a:t>2  </a:t>
            </a:r>
            <a:r>
              <a:rPr sz="1400" b="0" i="0">
                <a:latin typeface="Arial Narrow"/>
              </a:rPr>
              <a:t>Förändringar jämfört med 2026</a:t>
            </a:r>
          </a:p>
          <a:p>
            <a:pPr>
              <a:spcAft>
                <a:spcPts val="800"/>
              </a:spcAft>
            </a:pPr>
            <a:r>
              <a:rPr sz="1400" b="1" i="0">
                <a:solidFill>
                  <a:srgbClr val="A85AD1"/>
                </a:solidFill>
                <a:latin typeface="Arial Narrow"/>
              </a:rPr>
              <a:t>3  </a:t>
            </a:r>
            <a:r>
              <a:rPr sz="1400" b="0" i="0">
                <a:latin typeface="Arial Narrow"/>
              </a:rPr>
              <a:t>Så fördelas kostnaderna</a:t>
            </a:r>
          </a:p>
          <a:p>
            <a:pPr>
              <a:spcAft>
                <a:spcPts val="800"/>
              </a:spcAft>
            </a:pPr>
            <a:r>
              <a:rPr sz="1400" b="1" i="0">
                <a:solidFill>
                  <a:srgbClr val="A85AD1"/>
                </a:solidFill>
                <a:latin typeface="Arial Narrow"/>
              </a:rPr>
              <a:t>4  </a:t>
            </a:r>
            <a:r>
              <a:rPr sz="1400" b="0" i="0">
                <a:latin typeface="Arial Narrow"/>
              </a:rPr>
              <a:t>Så påverkar ni er kostnad</a:t>
            </a:r>
          </a:p>
          <a:p>
            <a:pPr>
              <a:spcAft>
                <a:spcPts val="800"/>
              </a:spcAft>
            </a:pPr>
            <a:r>
              <a:rPr sz="1400" b="1" i="0">
                <a:solidFill>
                  <a:srgbClr val="A85AD1"/>
                </a:solidFill>
                <a:latin typeface="Arial Narrow"/>
              </a:rPr>
              <a:t>5  </a:t>
            </a:r>
            <a:r>
              <a:rPr sz="1400" b="0" i="0">
                <a:latin typeface="Arial Narrow"/>
              </a:rPr>
              <a:t>Objekten i IT-prislistan</a:t>
            </a:r>
          </a:p>
          <a:p>
            <a:pPr>
              <a:spcAft>
                <a:spcPts val="800"/>
              </a:spcAft>
            </a:pPr>
            <a:r>
              <a:rPr sz="1400" b="1" i="0">
                <a:solidFill>
                  <a:srgbClr val="A85AD1"/>
                </a:solidFill>
                <a:latin typeface="Arial Narrow"/>
              </a:rPr>
              <a:t>6  </a:t>
            </a:r>
            <a:r>
              <a:rPr sz="1400" b="0" i="0">
                <a:latin typeface="Arial Narrow"/>
              </a:rPr>
              <a:t>Kostnad per objekt</a:t>
            </a:r>
          </a:p>
        </p:txBody>
      </p:sp>
      <p:sp>
        <p:nvSpPr>
          <p:cNvPr id="13" name="TextBox 12"/>
          <p:cNvSpPr txBox="1"/>
          <p:nvPr/>
        </p:nvSpPr>
        <p:spPr>
          <a:xfrm>
            <a:off x="612648" y="6133296"/>
            <a:ext cx="10972800" cy="320040"/>
          </a:xfrm>
          <a:prstGeom prst="rect">
            <a:avLst/>
          </a:prstGeom>
          <a:noFill/>
        </p:spPr>
        <p:txBody>
          <a:bodyPr wrap="square">
            <a:spAutoFit/>
          </a:bodyPr>
          <a:lstStyle/>
          <a:p>
            <a:r>
              <a:rPr sz="1100" b="0" i="0">
                <a:solidFill>
                  <a:srgbClr val="595959"/>
                </a:solidFill>
                <a:latin typeface="Arial Narrow"/>
              </a:rPr>
              <a:t>Intranätet: https://intranat.stockholm.se/stod-i-arbetet/ekonomi/it-ekonomi-och-it-prislista/?f_id=110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IT-prislistan 2027 i korthet</a:t>
            </a:r>
          </a:p>
        </p:txBody>
      </p:sp>
      <p:sp>
        <p:nvSpPr>
          <p:cNvPr id="3" name="Rectangle 2"/>
          <p:cNvSpPr/>
          <p:nvPr/>
        </p:nvSpPr>
        <p:spPr>
          <a:xfrm>
            <a:off x="612648" y="1371600"/>
            <a:ext cx="35204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95528" y="1481328"/>
            <a:ext cx="3200400" cy="1600200"/>
          </a:xfrm>
          <a:prstGeom prst="rect">
            <a:avLst/>
          </a:prstGeom>
          <a:noFill/>
        </p:spPr>
        <p:txBody>
          <a:bodyPr wrap="square">
            <a:spAutoFit/>
          </a:bodyPr>
          <a:lstStyle/>
          <a:p>
            <a:r>
              <a:rPr sz="3600" b="1" i="0">
                <a:solidFill>
                  <a:srgbClr val="A85AD1"/>
                </a:solidFill>
                <a:latin typeface="Arial Narrow"/>
              </a:rPr>
              <a:t>912 mnkr</a:t>
            </a:r>
          </a:p>
          <a:p>
            <a:pPr>
              <a:spcAft>
                <a:spcPts val="200"/>
              </a:spcAft>
            </a:pPr>
            <a:r>
              <a:rPr sz="1500" b="1" i="0">
                <a:latin typeface="Arial Narrow"/>
              </a:rPr>
              <a:t>IT-prislistan 2027</a:t>
            </a:r>
          </a:p>
          <a:p>
            <a:r>
              <a:rPr sz="1300" b="0" i="0">
                <a:solidFill>
                  <a:srgbClr val="595959"/>
                </a:solidFill>
                <a:latin typeface="Arial Narrow"/>
              </a:rPr>
              <a:t>858 mnkr 2026 (+6,3 %)</a:t>
            </a:r>
          </a:p>
        </p:txBody>
      </p:sp>
      <p:sp>
        <p:nvSpPr>
          <p:cNvPr id="5" name="Rectangle 4"/>
          <p:cNvSpPr/>
          <p:nvPr/>
        </p:nvSpPr>
        <p:spPr>
          <a:xfrm>
            <a:off x="4315968" y="1371600"/>
            <a:ext cx="35204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4498848" y="1481328"/>
            <a:ext cx="3200400" cy="1600200"/>
          </a:xfrm>
          <a:prstGeom prst="rect">
            <a:avLst/>
          </a:prstGeom>
          <a:noFill/>
        </p:spPr>
        <p:txBody>
          <a:bodyPr wrap="square">
            <a:spAutoFit/>
          </a:bodyPr>
          <a:lstStyle/>
          <a:p>
            <a:r>
              <a:rPr sz="3600" b="1" i="0">
                <a:solidFill>
                  <a:srgbClr val="A85AD1"/>
                </a:solidFill>
                <a:latin typeface="Arial Narrow"/>
              </a:rPr>
              <a:t>19 232 kr</a:t>
            </a:r>
          </a:p>
          <a:p>
            <a:pPr>
              <a:spcAft>
                <a:spcPts val="200"/>
              </a:spcAft>
            </a:pPr>
            <a:r>
              <a:rPr sz="1500" b="1" i="0">
                <a:latin typeface="Arial Narrow"/>
              </a:rPr>
              <a:t>Kostnad per anställd 2027</a:t>
            </a:r>
          </a:p>
          <a:p>
            <a:r>
              <a:rPr sz="1300" b="0" i="0">
                <a:solidFill>
                  <a:srgbClr val="595959"/>
                </a:solidFill>
                <a:latin typeface="Arial Narrow"/>
              </a:rPr>
              <a:t>19 798 kr 2026 (−2,9 %)</a:t>
            </a:r>
          </a:p>
        </p:txBody>
      </p:sp>
      <p:sp>
        <p:nvSpPr>
          <p:cNvPr id="7" name="Rectangle 6"/>
          <p:cNvSpPr/>
          <p:nvPr/>
        </p:nvSpPr>
        <p:spPr>
          <a:xfrm>
            <a:off x="8019288" y="1371600"/>
            <a:ext cx="35204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02167" y="1481328"/>
            <a:ext cx="3200400" cy="1600200"/>
          </a:xfrm>
          <a:prstGeom prst="rect">
            <a:avLst/>
          </a:prstGeom>
          <a:noFill/>
        </p:spPr>
        <p:txBody>
          <a:bodyPr wrap="square">
            <a:spAutoFit/>
          </a:bodyPr>
          <a:lstStyle/>
          <a:p>
            <a:r>
              <a:rPr sz="3600" b="1" i="0">
                <a:solidFill>
                  <a:srgbClr val="A85AD1"/>
                </a:solidFill>
                <a:latin typeface="Arial Narrow"/>
              </a:rPr>
              <a:t>47 413</a:t>
            </a:r>
          </a:p>
          <a:p>
            <a:pPr>
              <a:spcAft>
                <a:spcPts val="200"/>
              </a:spcAft>
            </a:pPr>
            <a:r>
              <a:rPr sz="1500" b="1" i="0">
                <a:latin typeface="Arial Narrow"/>
              </a:rPr>
              <a:t>Anställda 2027</a:t>
            </a:r>
          </a:p>
          <a:p>
            <a:r>
              <a:rPr sz="1300" b="0" i="0">
                <a:solidFill>
                  <a:srgbClr val="595959"/>
                </a:solidFill>
                <a:latin typeface="Arial Narrow"/>
              </a:rPr>
              <a:t>43 335 2026 (+9,4 %)</a:t>
            </a:r>
          </a:p>
        </p:txBody>
      </p:sp>
      <p:sp>
        <p:nvSpPr>
          <p:cNvPr id="9" name="TextBox 8"/>
          <p:cNvSpPr txBox="1"/>
          <p:nvPr/>
        </p:nvSpPr>
        <p:spPr>
          <a:xfrm>
            <a:off x="521208" y="3469000"/>
            <a:ext cx="7315200" cy="320040"/>
          </a:xfrm>
          <a:prstGeom prst="rect">
            <a:avLst/>
          </a:prstGeom>
          <a:noFill/>
        </p:spPr>
        <p:txBody>
          <a:bodyPr wrap="square">
            <a:spAutoFit/>
          </a:bodyPr>
          <a:lstStyle/>
          <a:p>
            <a:r>
              <a:rPr sz="1200" b="0" i="1">
                <a:latin typeface="Arial Narrow"/>
              </a:rPr>
              <a:t>Tabell: IT-prislistan och kostnad per anställd 2025–2027</a:t>
            </a:r>
          </a:p>
        </p:txBody>
      </p:sp>
      <p:graphicFrame>
        <p:nvGraphicFramePr>
          <p:cNvPr id="10" name="Table 9"/>
          <p:cNvGraphicFramePr>
            <a:graphicFrameLocks noGrp="1"/>
          </p:cNvGraphicFramePr>
          <p:nvPr>
            <p:extLst>
              <p:ext uri="{D42A27DB-BD31-4B8C-83A1-F6EECF244321}">
                <p14:modId xmlns:p14="http://schemas.microsoft.com/office/powerpoint/2010/main" val="2750320691"/>
              </p:ext>
            </p:extLst>
          </p:nvPr>
        </p:nvGraphicFramePr>
        <p:xfrm>
          <a:off x="612648" y="3749039"/>
          <a:ext cx="10972800" cy="1499040"/>
        </p:xfrm>
        <a:graphic>
          <a:graphicData uri="http://schemas.openxmlformats.org/drawingml/2006/table">
            <a:tbl>
              <a:tblPr/>
              <a:tblGrid>
                <a:gridCol w="10058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365760">
                <a:tc>
                  <a:txBody>
                    <a:bodyPr/>
                    <a:lstStyle/>
                    <a:p>
                      <a:r>
                        <a:rPr sz="1200" b="1" i="0">
                          <a:solidFill>
                            <a:srgbClr val="000000"/>
                          </a:solidFill>
                          <a:latin typeface="Arial Narrow"/>
                        </a:rPr>
                        <a:t>År</a:t>
                      </a:r>
                    </a:p>
                  </a:txBody>
                  <a:tcPr marL="36000" marR="36000" marT="18000" marB="18000">
                    <a:lnL>
                      <a:noFill/>
                    </a:lnL>
                    <a:lnR>
                      <a:noFill/>
                    </a:lnR>
                    <a:lnT>
                      <a:noFill/>
                    </a:lnT>
                    <a:lnB w="6350">
                      <a:solidFill>
                        <a:srgbClr val="A85AD1"/>
                      </a:solidFill>
                    </a:lnB>
                    <a:solidFill>
                      <a:srgbClr val="E2C8F0"/>
                    </a:solidFill>
                  </a:tcPr>
                </a:tc>
                <a:tc>
                  <a:txBody>
                    <a:bodyPr/>
                    <a:lstStyle/>
                    <a:p>
                      <a:pPr algn="r"/>
                      <a:r>
                        <a:rPr sz="1200" b="1" i="0" dirty="0">
                          <a:solidFill>
                            <a:srgbClr val="000000"/>
                          </a:solidFill>
                          <a:latin typeface="Arial Narrow"/>
                        </a:rPr>
                        <a:t>IT-</a:t>
                      </a:r>
                      <a:r>
                        <a:rPr sz="1200" b="1" i="0" dirty="0" err="1">
                          <a:solidFill>
                            <a:srgbClr val="000000"/>
                          </a:solidFill>
                          <a:latin typeface="Arial Narrow"/>
                        </a:rPr>
                        <a:t>prislistan</a:t>
                      </a:r>
                      <a:r>
                        <a:rPr sz="1200" b="1" i="0" dirty="0">
                          <a:solidFill>
                            <a:srgbClr val="000000"/>
                          </a:solidFill>
                          <a:latin typeface="Arial Narrow"/>
                        </a:rPr>
                        <a:t> </a:t>
                      </a:r>
                      <a:br>
                        <a:rPr lang="sv-SE" sz="1200" b="1" i="0" dirty="0">
                          <a:solidFill>
                            <a:srgbClr val="000000"/>
                          </a:solidFill>
                          <a:latin typeface="Arial Narrow"/>
                        </a:rPr>
                      </a:br>
                      <a:r>
                        <a:rPr sz="1200" b="1" i="0" dirty="0" err="1">
                          <a:solidFill>
                            <a:srgbClr val="000000"/>
                          </a:solidFill>
                          <a:latin typeface="Arial Narrow"/>
                        </a:rPr>
                        <a:t>totalt</a:t>
                      </a:r>
                      <a:r>
                        <a:rPr sz="1200" b="1" i="0" dirty="0">
                          <a:solidFill>
                            <a:srgbClr val="000000"/>
                          </a:solidFill>
                          <a:latin typeface="Arial Narrow"/>
                        </a:rPr>
                        <a:t> (</a:t>
                      </a:r>
                      <a:r>
                        <a:rPr sz="1200" b="1" i="0" dirty="0" err="1">
                          <a:solidFill>
                            <a:srgbClr val="000000"/>
                          </a:solidFill>
                          <a:latin typeface="Arial Narrow"/>
                        </a:rPr>
                        <a:t>kr</a:t>
                      </a:r>
                      <a:r>
                        <a:rPr sz="1200" b="1" i="0" dirty="0">
                          <a:solidFill>
                            <a:srgbClr val="000000"/>
                          </a:solidFill>
                          <a:latin typeface="Arial Narrow"/>
                        </a:rPr>
                        <a:t>)</a:t>
                      </a:r>
                    </a:p>
                  </a:txBody>
                  <a:tcPr marL="36000" marR="36000" marT="18000" marB="18000">
                    <a:lnL>
                      <a:noFill/>
                    </a:lnL>
                    <a:lnR>
                      <a:noFill/>
                    </a:lnR>
                    <a:lnT>
                      <a:noFill/>
                    </a:lnT>
                    <a:lnB w="6350">
                      <a:solidFill>
                        <a:srgbClr val="A85AD1"/>
                      </a:solidFill>
                    </a:lnB>
                    <a:solidFill>
                      <a:srgbClr val="E2C8F0"/>
                    </a:solidFill>
                  </a:tcPr>
                </a:tc>
                <a:tc>
                  <a:txBody>
                    <a:bodyPr/>
                    <a:lstStyle/>
                    <a:p>
                      <a:pPr algn="r"/>
                      <a:r>
                        <a:rPr sz="1200" b="1" i="0" dirty="0" err="1">
                          <a:solidFill>
                            <a:srgbClr val="000000"/>
                          </a:solidFill>
                          <a:latin typeface="Arial Narrow"/>
                        </a:rPr>
                        <a:t>Totalt</a:t>
                      </a:r>
                      <a:r>
                        <a:rPr sz="1200" b="1" i="0" dirty="0">
                          <a:solidFill>
                            <a:srgbClr val="000000"/>
                          </a:solidFill>
                          <a:latin typeface="Arial Narrow"/>
                        </a:rPr>
                        <a:t> </a:t>
                      </a:r>
                      <a:r>
                        <a:rPr sz="1200" b="1" i="0" dirty="0" err="1">
                          <a:solidFill>
                            <a:srgbClr val="000000"/>
                          </a:solidFill>
                          <a:latin typeface="Arial Narrow"/>
                        </a:rPr>
                        <a:t>exkl</a:t>
                      </a:r>
                      <a:r>
                        <a:rPr sz="1200" b="1" i="0" dirty="0">
                          <a:solidFill>
                            <a:srgbClr val="000000"/>
                          </a:solidFill>
                          <a:latin typeface="Arial Narrow"/>
                        </a:rPr>
                        <a:t>. </a:t>
                      </a:r>
                      <a:r>
                        <a:rPr sz="1200" b="1" i="0" dirty="0" err="1">
                          <a:solidFill>
                            <a:srgbClr val="000000"/>
                          </a:solidFill>
                          <a:latin typeface="Arial Narrow"/>
                        </a:rPr>
                        <a:t>jämförelsestörande</a:t>
                      </a:r>
                      <a:r>
                        <a:rPr sz="1200" b="1" i="0" dirty="0">
                          <a:solidFill>
                            <a:srgbClr val="000000"/>
                          </a:solidFill>
                          <a:latin typeface="Arial Narrow"/>
                        </a:rPr>
                        <a:t> </a:t>
                      </a:r>
                      <a:br>
                        <a:rPr lang="sv-SE" sz="1200" b="1" i="0" dirty="0">
                          <a:solidFill>
                            <a:srgbClr val="000000"/>
                          </a:solidFill>
                          <a:latin typeface="Arial Narrow"/>
                        </a:rPr>
                      </a:br>
                      <a:r>
                        <a:rPr sz="1200" b="1" i="0" dirty="0">
                          <a:solidFill>
                            <a:srgbClr val="000000"/>
                          </a:solidFill>
                          <a:latin typeface="Arial Narrow"/>
                        </a:rPr>
                        <a:t>poster (</a:t>
                      </a:r>
                      <a:r>
                        <a:rPr sz="1200" b="1" i="0" dirty="0" err="1">
                          <a:solidFill>
                            <a:srgbClr val="000000"/>
                          </a:solidFill>
                          <a:latin typeface="Arial Narrow"/>
                        </a:rPr>
                        <a:t>kr</a:t>
                      </a:r>
                      <a:r>
                        <a:rPr sz="1200" b="1" i="0" dirty="0">
                          <a:solidFill>
                            <a:srgbClr val="000000"/>
                          </a:solidFill>
                          <a:latin typeface="Arial Narrow"/>
                        </a:rPr>
                        <a:t>)</a:t>
                      </a:r>
                    </a:p>
                  </a:txBody>
                  <a:tcPr marL="36000" marR="36000" marT="18000" marB="18000">
                    <a:lnL>
                      <a:noFill/>
                    </a:lnL>
                    <a:lnR>
                      <a:noFill/>
                    </a:lnR>
                    <a:lnT>
                      <a:noFill/>
                    </a:lnT>
                    <a:lnB w="6350">
                      <a:solidFill>
                        <a:srgbClr val="A85AD1"/>
                      </a:solidFill>
                    </a:lnB>
                    <a:solidFill>
                      <a:srgbClr val="E2C8F0"/>
                    </a:solidFill>
                  </a:tcPr>
                </a:tc>
                <a:tc>
                  <a:txBody>
                    <a:bodyPr/>
                    <a:lstStyle/>
                    <a:p>
                      <a:pPr algn="r"/>
                      <a:r>
                        <a:rPr sz="1200" b="1" i="0">
                          <a:solidFill>
                            <a:srgbClr val="000000"/>
                          </a:solidFill>
                          <a:latin typeface="Arial Narrow"/>
                        </a:rPr>
                        <a:t>Anställda (antal)</a:t>
                      </a:r>
                    </a:p>
                  </a:txBody>
                  <a:tcPr marL="36000" marR="36000" marT="18000" marB="18000">
                    <a:lnL>
                      <a:noFill/>
                    </a:lnL>
                    <a:lnR>
                      <a:noFill/>
                    </a:lnR>
                    <a:lnT>
                      <a:noFill/>
                    </a:lnT>
                    <a:lnB w="6350">
                      <a:solidFill>
                        <a:srgbClr val="A85AD1"/>
                      </a:solidFill>
                    </a:lnB>
                    <a:solidFill>
                      <a:srgbClr val="E2C8F0"/>
                    </a:solidFill>
                  </a:tcPr>
                </a:tc>
                <a:tc>
                  <a:txBody>
                    <a:bodyPr/>
                    <a:lstStyle/>
                    <a:p>
                      <a:pPr algn="r"/>
                      <a:r>
                        <a:rPr sz="1200" b="1" i="0">
                          <a:solidFill>
                            <a:srgbClr val="000000"/>
                          </a:solidFill>
                          <a:latin typeface="Arial Narrow"/>
                        </a:rPr>
                        <a:t>Kostnad per anställd (kr)</a:t>
                      </a:r>
                    </a:p>
                  </a:txBody>
                  <a:tcPr marL="36000" marR="36000" marT="18000" marB="18000">
                    <a:lnL>
                      <a:noFill/>
                    </a:lnL>
                    <a:lnR>
                      <a:noFill/>
                    </a:lnR>
                    <a:lnT>
                      <a:noFill/>
                    </a:lnT>
                    <a:lnB w="6350">
                      <a:solidFill>
                        <a:srgbClr val="A85AD1"/>
                      </a:solidFill>
                    </a:lnB>
                    <a:solidFill>
                      <a:srgbClr val="E2C8F0"/>
                    </a:solidFill>
                  </a:tcPr>
                </a:tc>
                <a:tc>
                  <a:txBody>
                    <a:bodyPr/>
                    <a:lstStyle/>
                    <a:p>
                      <a:pPr algn="r"/>
                      <a:r>
                        <a:rPr sz="1200" b="1" i="0">
                          <a:solidFill>
                            <a:srgbClr val="000000"/>
                          </a:solidFill>
                          <a:latin typeface="Arial Narrow"/>
                        </a:rPr>
                        <a:t>Kostnad per anställd exkl. jämförelsestörande poster (kr)</a:t>
                      </a:r>
                    </a:p>
                  </a:txBody>
                  <a:tcPr marL="36000" marR="36000" marT="18000" marB="18000">
                    <a:lnL>
                      <a:noFill/>
                    </a:lnL>
                    <a:lnR>
                      <a:noFill/>
                    </a:lnR>
                    <a:lnT>
                      <a:noFill/>
                    </a:lnT>
                    <a:lnB w="6350">
                      <a:solidFill>
                        <a:srgbClr val="A85AD1"/>
                      </a:solidFill>
                    </a:lnB>
                    <a:solidFill>
                      <a:srgbClr val="E2C8F0"/>
                    </a:solidFill>
                  </a:tcPr>
                </a:tc>
                <a:extLst>
                  <a:ext uri="{0D108BD9-81ED-4DB2-BD59-A6C34878D82A}">
                    <a16:rowId xmlns:a16="http://schemas.microsoft.com/office/drawing/2014/main" val="10000"/>
                  </a:ext>
                </a:extLst>
              </a:tr>
              <a:tr h="365760">
                <a:tc>
                  <a:txBody>
                    <a:bodyPr/>
                    <a:lstStyle/>
                    <a:p>
                      <a:r>
                        <a:rPr sz="1300" b="1" i="0">
                          <a:solidFill>
                            <a:srgbClr val="000000"/>
                          </a:solidFill>
                          <a:latin typeface="Arial Narrow"/>
                        </a:rPr>
                        <a:t>2027</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a:r>
                        <a:rPr sz="1300" b="0" i="0">
                          <a:solidFill>
                            <a:srgbClr val="000000"/>
                          </a:solidFill>
                          <a:latin typeface="Arial Narrow"/>
                        </a:rPr>
                        <a:t>911 834 578</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a:r>
                        <a:rPr sz="1300" b="0" i="0">
                          <a:solidFill>
                            <a:srgbClr val="000000"/>
                          </a:solidFill>
                          <a:latin typeface="Arial Narrow"/>
                        </a:rPr>
                        <a:t>881 001 578</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a:r>
                        <a:rPr sz="1300" b="0" i="0">
                          <a:solidFill>
                            <a:srgbClr val="000000"/>
                          </a:solidFill>
                          <a:latin typeface="Arial Narrow"/>
                        </a:rPr>
                        <a:t>47 413</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a:r>
                        <a:rPr sz="1300" b="0" i="0">
                          <a:solidFill>
                            <a:srgbClr val="000000"/>
                          </a:solidFill>
                          <a:latin typeface="Arial Narrow"/>
                        </a:rPr>
                        <a:t>19 232</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a:r>
                        <a:rPr sz="1300" b="0" i="0">
                          <a:solidFill>
                            <a:srgbClr val="000000"/>
                          </a:solidFill>
                          <a:latin typeface="Arial Narrow"/>
                        </a:rPr>
                        <a:t>18 581</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10001"/>
                  </a:ext>
                </a:extLst>
              </a:tr>
              <a:tr h="365760">
                <a:tc>
                  <a:txBody>
                    <a:bodyPr/>
                    <a:lstStyle/>
                    <a:p>
                      <a:r>
                        <a:rPr sz="1300" b="1" i="0">
                          <a:solidFill>
                            <a:srgbClr val="000000"/>
                          </a:solidFill>
                          <a:latin typeface="Arial Narrow"/>
                        </a:rPr>
                        <a:t>2026</a:t>
                      </a:r>
                    </a:p>
                  </a:txBody>
                  <a:tcPr marL="36000" marR="36000" marT="18000" marB="18000">
                    <a:lnL>
                      <a:noFill/>
                    </a:lnL>
                    <a:lnR>
                      <a:noFill/>
                    </a:lnR>
                    <a:lnT>
                      <a:noFill/>
                    </a:lnT>
                    <a:lnB>
                      <a:noFill/>
                    </a:lnB>
                    <a:noFill/>
                  </a:tcPr>
                </a:tc>
                <a:tc>
                  <a:txBody>
                    <a:bodyPr/>
                    <a:lstStyle/>
                    <a:p>
                      <a:pPr algn="r"/>
                      <a:r>
                        <a:rPr sz="1300" b="0" i="0">
                          <a:solidFill>
                            <a:srgbClr val="000000"/>
                          </a:solidFill>
                          <a:latin typeface="Arial Narrow"/>
                        </a:rPr>
                        <a:t>857 955 738</a:t>
                      </a:r>
                    </a:p>
                  </a:txBody>
                  <a:tcPr marL="36000" marR="36000" marT="18000" marB="18000">
                    <a:lnL>
                      <a:noFill/>
                    </a:lnL>
                    <a:lnR>
                      <a:noFill/>
                    </a:lnR>
                    <a:lnT>
                      <a:noFill/>
                    </a:lnT>
                    <a:lnB>
                      <a:noFill/>
                    </a:lnB>
                    <a:noFill/>
                  </a:tcPr>
                </a:tc>
                <a:tc>
                  <a:txBody>
                    <a:bodyPr/>
                    <a:lstStyle/>
                    <a:p>
                      <a:pPr algn="r"/>
                      <a:r>
                        <a:rPr sz="1300" b="0" i="0">
                          <a:solidFill>
                            <a:srgbClr val="000000"/>
                          </a:solidFill>
                          <a:latin typeface="Arial Narrow"/>
                        </a:rPr>
                        <a:t>826 135 079</a:t>
                      </a:r>
                    </a:p>
                  </a:txBody>
                  <a:tcPr marL="36000" marR="36000" marT="18000" marB="18000">
                    <a:lnL>
                      <a:noFill/>
                    </a:lnL>
                    <a:lnR>
                      <a:noFill/>
                    </a:lnR>
                    <a:lnT>
                      <a:noFill/>
                    </a:lnT>
                    <a:lnB>
                      <a:noFill/>
                    </a:lnB>
                    <a:noFill/>
                  </a:tcPr>
                </a:tc>
                <a:tc>
                  <a:txBody>
                    <a:bodyPr/>
                    <a:lstStyle/>
                    <a:p>
                      <a:pPr algn="r"/>
                      <a:r>
                        <a:rPr sz="1300" b="0" i="0">
                          <a:solidFill>
                            <a:srgbClr val="000000"/>
                          </a:solidFill>
                          <a:latin typeface="Arial Narrow"/>
                        </a:rPr>
                        <a:t>43 335</a:t>
                      </a:r>
                    </a:p>
                  </a:txBody>
                  <a:tcPr marL="36000" marR="36000" marT="18000" marB="18000">
                    <a:lnL>
                      <a:noFill/>
                    </a:lnL>
                    <a:lnR>
                      <a:noFill/>
                    </a:lnR>
                    <a:lnT>
                      <a:noFill/>
                    </a:lnT>
                    <a:lnB>
                      <a:noFill/>
                    </a:lnB>
                    <a:noFill/>
                  </a:tcPr>
                </a:tc>
                <a:tc>
                  <a:txBody>
                    <a:bodyPr/>
                    <a:lstStyle/>
                    <a:p>
                      <a:pPr algn="r"/>
                      <a:r>
                        <a:rPr sz="1300" b="0" i="0">
                          <a:solidFill>
                            <a:srgbClr val="000000"/>
                          </a:solidFill>
                          <a:latin typeface="Arial Narrow"/>
                        </a:rPr>
                        <a:t>19 798</a:t>
                      </a:r>
                    </a:p>
                  </a:txBody>
                  <a:tcPr marL="36000" marR="36000" marT="18000" marB="18000">
                    <a:lnL>
                      <a:noFill/>
                    </a:lnL>
                    <a:lnR>
                      <a:noFill/>
                    </a:lnR>
                    <a:lnT>
                      <a:noFill/>
                    </a:lnT>
                    <a:lnB>
                      <a:noFill/>
                    </a:lnB>
                    <a:noFill/>
                  </a:tcPr>
                </a:tc>
                <a:tc>
                  <a:txBody>
                    <a:bodyPr/>
                    <a:lstStyle/>
                    <a:p>
                      <a:pPr algn="r"/>
                      <a:r>
                        <a:rPr sz="1300" b="0" i="0">
                          <a:solidFill>
                            <a:srgbClr val="000000"/>
                          </a:solidFill>
                          <a:latin typeface="Arial Narrow"/>
                        </a:rPr>
                        <a:t>19 064</a:t>
                      </a:r>
                    </a:p>
                  </a:txBody>
                  <a:tcPr marL="36000" marR="36000" marT="18000" marB="18000">
                    <a:lnL>
                      <a:noFill/>
                    </a:lnL>
                    <a:lnR>
                      <a:noFill/>
                    </a:lnR>
                    <a:lnT>
                      <a:noFill/>
                    </a:lnT>
                    <a:lnB>
                      <a:noFill/>
                    </a:lnB>
                    <a:noFill/>
                  </a:tcPr>
                </a:tc>
                <a:extLst>
                  <a:ext uri="{0D108BD9-81ED-4DB2-BD59-A6C34878D82A}">
                    <a16:rowId xmlns:a16="http://schemas.microsoft.com/office/drawing/2014/main" val="10002"/>
                  </a:ext>
                </a:extLst>
              </a:tr>
              <a:tr h="365760">
                <a:tc>
                  <a:txBody>
                    <a:bodyPr/>
                    <a:lstStyle/>
                    <a:p>
                      <a:r>
                        <a:rPr sz="1300" b="1" i="0">
                          <a:solidFill>
                            <a:srgbClr val="000000"/>
                          </a:solidFill>
                          <a:latin typeface="Arial Narrow"/>
                        </a:rPr>
                        <a:t>2025</a:t>
                      </a:r>
                    </a:p>
                  </a:txBody>
                  <a:tcPr marL="36000" marR="36000" marT="18000" marB="18000">
                    <a:lnL>
                      <a:noFill/>
                    </a:lnL>
                    <a:lnR>
                      <a:noFill/>
                    </a:lnR>
                    <a:lnT>
                      <a:noFill/>
                    </a:lnT>
                    <a:lnB>
                      <a:noFill/>
                    </a:lnB>
                    <a:solidFill>
                      <a:srgbClr val="D9D9D9"/>
                    </a:solidFill>
                  </a:tcPr>
                </a:tc>
                <a:tc>
                  <a:txBody>
                    <a:bodyPr/>
                    <a:lstStyle/>
                    <a:p>
                      <a:pPr algn="r"/>
                      <a:r>
                        <a:rPr sz="1300" b="0" i="0">
                          <a:solidFill>
                            <a:srgbClr val="000000"/>
                          </a:solidFill>
                          <a:latin typeface="Arial Narrow"/>
                        </a:rPr>
                        <a:t>800 597 811</a:t>
                      </a:r>
                    </a:p>
                  </a:txBody>
                  <a:tcPr marL="36000" marR="36000" marT="18000" marB="18000">
                    <a:lnL>
                      <a:noFill/>
                    </a:lnL>
                    <a:lnR>
                      <a:noFill/>
                    </a:lnR>
                    <a:lnT>
                      <a:noFill/>
                    </a:lnT>
                    <a:lnB>
                      <a:noFill/>
                    </a:lnB>
                    <a:solidFill>
                      <a:srgbClr val="D9D9D9"/>
                    </a:solidFill>
                  </a:tcPr>
                </a:tc>
                <a:tc>
                  <a:txBody>
                    <a:bodyPr/>
                    <a:lstStyle/>
                    <a:p>
                      <a:pPr algn="r"/>
                      <a:r>
                        <a:rPr sz="1300" b="0" i="0">
                          <a:solidFill>
                            <a:srgbClr val="000000"/>
                          </a:solidFill>
                          <a:latin typeface="Arial Narrow"/>
                        </a:rPr>
                        <a:t>800 597 811</a:t>
                      </a:r>
                    </a:p>
                  </a:txBody>
                  <a:tcPr marL="36000" marR="36000" marT="18000" marB="18000">
                    <a:lnL>
                      <a:noFill/>
                    </a:lnL>
                    <a:lnR>
                      <a:noFill/>
                    </a:lnR>
                    <a:lnT>
                      <a:noFill/>
                    </a:lnT>
                    <a:lnB>
                      <a:noFill/>
                    </a:lnB>
                    <a:solidFill>
                      <a:srgbClr val="D9D9D9"/>
                    </a:solidFill>
                  </a:tcPr>
                </a:tc>
                <a:tc>
                  <a:txBody>
                    <a:bodyPr/>
                    <a:lstStyle/>
                    <a:p>
                      <a:pPr algn="r"/>
                      <a:r>
                        <a:rPr sz="1300" b="0" i="0">
                          <a:solidFill>
                            <a:srgbClr val="000000"/>
                          </a:solidFill>
                          <a:latin typeface="Arial Narrow"/>
                        </a:rPr>
                        <a:t>44 042</a:t>
                      </a:r>
                    </a:p>
                  </a:txBody>
                  <a:tcPr marL="36000" marR="36000" marT="18000" marB="18000">
                    <a:lnL>
                      <a:noFill/>
                    </a:lnL>
                    <a:lnR>
                      <a:noFill/>
                    </a:lnR>
                    <a:lnT>
                      <a:noFill/>
                    </a:lnT>
                    <a:lnB>
                      <a:noFill/>
                    </a:lnB>
                    <a:solidFill>
                      <a:srgbClr val="D9D9D9"/>
                    </a:solidFill>
                  </a:tcPr>
                </a:tc>
                <a:tc>
                  <a:txBody>
                    <a:bodyPr/>
                    <a:lstStyle/>
                    <a:p>
                      <a:pPr algn="r"/>
                      <a:r>
                        <a:rPr sz="1300" b="0" i="0">
                          <a:solidFill>
                            <a:srgbClr val="000000"/>
                          </a:solidFill>
                          <a:latin typeface="Arial Narrow"/>
                        </a:rPr>
                        <a:t>18 178</a:t>
                      </a:r>
                    </a:p>
                  </a:txBody>
                  <a:tcPr marL="36000" marR="36000" marT="18000" marB="18000">
                    <a:lnL>
                      <a:noFill/>
                    </a:lnL>
                    <a:lnR>
                      <a:noFill/>
                    </a:lnR>
                    <a:lnT>
                      <a:noFill/>
                    </a:lnT>
                    <a:lnB>
                      <a:noFill/>
                    </a:lnB>
                    <a:solidFill>
                      <a:srgbClr val="D9D9D9"/>
                    </a:solidFill>
                  </a:tcPr>
                </a:tc>
                <a:tc>
                  <a:txBody>
                    <a:bodyPr/>
                    <a:lstStyle/>
                    <a:p>
                      <a:pPr algn="r"/>
                      <a:r>
                        <a:rPr sz="1300" b="0" i="0" dirty="0">
                          <a:solidFill>
                            <a:srgbClr val="000000"/>
                          </a:solidFill>
                          <a:latin typeface="Arial Narrow"/>
                        </a:rPr>
                        <a:t>18 178</a:t>
                      </a:r>
                    </a:p>
                  </a:txBody>
                  <a:tcPr marL="36000" marR="36000" marT="18000" marB="18000">
                    <a:lnL>
                      <a:noFill/>
                    </a:lnL>
                    <a:lnR>
                      <a:noFill/>
                    </a:lnR>
                    <a:lnT>
                      <a:noFill/>
                    </a:lnT>
                    <a:lnB>
                      <a:noFill/>
                    </a:lnB>
                    <a:solidFill>
                      <a:srgbClr val="D9D9D9"/>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12648" y="5623560"/>
            <a:ext cx="10881360" cy="548640"/>
          </a:xfrm>
          <a:prstGeom prst="rect">
            <a:avLst/>
          </a:prstGeom>
          <a:noFill/>
        </p:spPr>
        <p:txBody>
          <a:bodyPr wrap="square">
            <a:spAutoFit/>
          </a:bodyPr>
          <a:lstStyle/>
          <a:p>
            <a:r>
              <a:rPr sz="1100" b="0" i="1">
                <a:latin typeface="Arial Narrow"/>
              </a:rPr>
              <a:t>Kostnad per anställd är IT-prislistans totala kostnad delad med antalet anställda i stadens förvaltningar och bolag. Jämförelsestörande poster är kostnader som har tillkommit eller flyttats in i prislistan och som gör åren svåra att jämföra direkt (se nästa bild).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1CB256E-FC72-451D-A3C1-AF97C414C184}"/>
              </a:ext>
            </a:extLst>
          </p:cNvPr>
          <p:cNvSpPr>
            <a:spLocks noGrp="1"/>
          </p:cNvSpPr>
          <p:nvPr>
            <p:ph type="ctrTitle"/>
          </p:nvPr>
        </p:nvSpPr>
        <p:spPr/>
        <p:txBody>
          <a:bodyPr/>
          <a:lstStyle/>
          <a:p>
            <a:r>
              <a:rPr lang="sv-SE" dirty="0"/>
              <a:t>Förändringar jämfört med 2026</a:t>
            </a:r>
          </a:p>
        </p:txBody>
      </p:sp>
      <p:sp>
        <p:nvSpPr>
          <p:cNvPr id="3" name="Kort ökning"/>
          <p:cNvSpPr/>
          <p:nvPr/>
        </p:nvSpPr>
        <p:spPr>
          <a:xfrm>
            <a:off x="612648" y="1371600"/>
            <a:ext cx="3520440" cy="1325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 ökning"/>
          <p:cNvSpPr txBox="1"/>
          <p:nvPr/>
        </p:nvSpPr>
        <p:spPr>
          <a:xfrm>
            <a:off x="795528" y="1481328"/>
            <a:ext cx="3154680" cy="1143000"/>
          </a:xfrm>
          <a:prstGeom prst="rect">
            <a:avLst/>
          </a:prstGeom>
          <a:noFill/>
        </p:spPr>
        <p:txBody>
          <a:bodyPr wrap="square" anchor="t" lIns="0" rIns="0" tIns="0" bIns="0">
            <a:spAutoFit/>
          </a:bodyPr>
          <a:lstStyle/>
          <a:p>
            <a:pPr>
              <a:spcAft>
                <a:spcPts val="0"/>
              </a:spcAft>
            </a:pPr>
            <a:r>
              <a:rPr sz="3200" b="1" i="0">
                <a:solidFill>
                  <a:srgbClr val="A85AD1"/>
                </a:solidFill>
                <a:latin typeface="Arial Narrow"/>
              </a:rPr>
              <a:t>+54 mnkr</a:t>
            </a:r>
          </a:p>
          <a:p>
            <a:pPr>
              <a:spcAft>
                <a:spcPts val="200"/>
              </a:spcAft>
            </a:pPr>
            <a:r>
              <a:rPr sz="1500" b="1" i="0">
                <a:solidFill>
                  <a:srgbClr val="000000"/>
                </a:solidFill>
                <a:latin typeface="Arial Narrow"/>
              </a:rPr>
              <a:t>Ökning jämfört med 2026</a:t>
            </a:r>
          </a:p>
          <a:p>
            <a:pPr>
              <a:spcAft>
                <a:spcPts val="0"/>
              </a:spcAft>
            </a:pPr>
            <a:r>
              <a:rPr sz="1300" b="0" i="0">
                <a:solidFill>
                  <a:srgbClr val="595959"/>
                </a:solidFill>
                <a:latin typeface="Arial Narrow"/>
              </a:rPr>
              <a:t>858 → 912 mnkr (+6,3 %)</a:t>
            </a:r>
          </a:p>
        </p:txBody>
      </p:sp>
      <p:sp>
        <p:nvSpPr>
          <p:cNvPr id="5" name="Kort jämförelsestörande"/>
          <p:cNvSpPr/>
          <p:nvPr/>
        </p:nvSpPr>
        <p:spPr>
          <a:xfrm>
            <a:off x="612648" y="2834640"/>
            <a:ext cx="3520440" cy="1325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jämförelsestörande"/>
          <p:cNvSpPr txBox="1"/>
          <p:nvPr/>
        </p:nvSpPr>
        <p:spPr>
          <a:xfrm>
            <a:off x="795528" y="2944368"/>
            <a:ext cx="3154680" cy="1143000"/>
          </a:xfrm>
          <a:prstGeom prst="rect">
            <a:avLst/>
          </a:prstGeom>
          <a:noFill/>
        </p:spPr>
        <p:txBody>
          <a:bodyPr wrap="square" anchor="t" lIns="0" rIns="0" tIns="0" bIns="0">
            <a:spAutoFit/>
          </a:bodyPr>
          <a:lstStyle/>
          <a:p>
            <a:pPr>
              <a:spcAft>
                <a:spcPts val="0"/>
              </a:spcAft>
            </a:pPr>
            <a:r>
              <a:rPr sz="3200" b="1" i="0">
                <a:solidFill>
                  <a:srgbClr val="A85AD1"/>
                </a:solidFill>
                <a:latin typeface="Arial Narrow"/>
              </a:rPr>
              <a:t>+2,7 %</a:t>
            </a:r>
          </a:p>
          <a:p>
            <a:pPr>
              <a:spcAft>
                <a:spcPts val="200"/>
              </a:spcAft>
            </a:pPr>
            <a:r>
              <a:rPr sz="1500" b="1" i="0">
                <a:solidFill>
                  <a:srgbClr val="000000"/>
                </a:solidFill>
                <a:latin typeface="Arial Narrow"/>
              </a:rPr>
              <a:t>Exkl. jämförelsestörande poster*</a:t>
            </a:r>
          </a:p>
          <a:p>
            <a:pPr>
              <a:spcAft>
                <a:spcPts val="0"/>
              </a:spcAft>
            </a:pPr>
            <a:r>
              <a:rPr sz="1300" b="0" i="0">
                <a:solidFill>
                  <a:srgbClr val="595959"/>
                </a:solidFill>
                <a:latin typeface="Arial Narrow"/>
              </a:rPr>
              <a:t>31 mnkr av ökningen är jämförelsestörande</a:t>
            </a:r>
          </a:p>
        </p:txBody>
      </p:sp>
      <p:sp>
        <p:nvSpPr>
          <p:cNvPr id="7" name="Kort förklaring"/>
          <p:cNvSpPr/>
          <p:nvPr/>
        </p:nvSpPr>
        <p:spPr>
          <a:xfrm>
            <a:off x="612648" y="4297680"/>
            <a:ext cx="352044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förklaring"/>
          <p:cNvSpPr txBox="1"/>
          <p:nvPr/>
        </p:nvSpPr>
        <p:spPr>
          <a:xfrm>
            <a:off x="795528" y="4407408"/>
            <a:ext cx="3154680" cy="1554480"/>
          </a:xfrm>
          <a:prstGeom prst="rect">
            <a:avLst/>
          </a:prstGeom>
          <a:noFill/>
        </p:spPr>
        <p:txBody>
          <a:bodyPr wrap="square" anchor="t" lIns="0" rIns="0" tIns="0" bIns="0">
            <a:spAutoFit/>
          </a:bodyPr>
          <a:lstStyle/>
          <a:p>
            <a:pPr>
              <a:spcAft>
                <a:spcPts val="400"/>
              </a:spcAft>
            </a:pPr>
            <a:r>
              <a:rPr sz="1500" b="1" i="0">
                <a:solidFill>
                  <a:srgbClr val="000000"/>
                </a:solidFill>
                <a:latin typeface="Arial Narrow"/>
              </a:rPr>
              <a:t>Vad driver ökningen?</a:t>
            </a:r>
          </a:p>
          <a:p>
            <a:pPr marL="171450" indent="-171450">
              <a:spcAft>
                <a:spcPts val="200"/>
              </a:spcAft>
              <a:buFont typeface="Arial"/>
              <a:buChar char="•"/>
            </a:pPr>
            <a:r>
              <a:rPr sz="1300" b="0" i="0">
                <a:solidFill>
                  <a:srgbClr val="000000"/>
                </a:solidFill>
                <a:latin typeface="Arial Narrow"/>
              </a:rPr>
              <a:t>Licenser och säkerhet</a:t>
            </a:r>
          </a:p>
          <a:p>
            <a:pPr marL="171450" indent="-171450">
              <a:spcAft>
                <a:spcPts val="200"/>
              </a:spcAft>
              <a:buFont typeface="Arial"/>
              <a:buChar char="•"/>
            </a:pPr>
            <a:r>
              <a:rPr sz="1300" b="0" i="0">
                <a:solidFill>
                  <a:srgbClr val="000000"/>
                </a:solidFill>
                <a:latin typeface="Arial Narrow"/>
              </a:rPr>
              <a:t>Molntjänster</a:t>
            </a:r>
          </a:p>
          <a:p>
            <a:pPr marL="171450" indent="-171450">
              <a:spcAft>
                <a:spcPts val="200"/>
              </a:spcAft>
              <a:buFont typeface="Arial"/>
              <a:buChar char="•"/>
            </a:pPr>
            <a:r>
              <a:rPr sz="1300" b="0" i="0">
                <a:solidFill>
                  <a:srgbClr val="000000"/>
                </a:solidFill>
                <a:latin typeface="Arial Narrow"/>
              </a:rPr>
              <a:t>Livscykelhantering i systemobjekten</a:t>
            </a:r>
          </a:p>
          <a:p>
            <a:pPr marL="171450" indent="-171450">
              <a:spcAft>
                <a:spcPts val="0"/>
              </a:spcAft>
              <a:buFont typeface="Arial"/>
              <a:buChar char="•"/>
            </a:pPr>
            <a:r>
              <a:rPr sz="1300" b="0" i="0">
                <a:solidFill>
                  <a:srgbClr val="000000"/>
                </a:solidFill>
                <a:latin typeface="Arial Narrow"/>
              </a:rPr>
              <a:t>Kapacitetsutökning i stadens kärnnät</a:t>
            </a:r>
          </a:p>
        </p:txBody>
      </p:sp>
      <p:sp>
        <p:nvSpPr>
          <p:cNvPr id="9" name="Kort diagram"/>
          <p:cNvSpPr/>
          <p:nvPr/>
        </p:nvSpPr>
        <p:spPr>
          <a:xfrm>
            <a:off x="4315968" y="1371600"/>
            <a:ext cx="722376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Diagramrubrik"/>
          <p:cNvSpPr txBox="1"/>
          <p:nvPr/>
        </p:nvSpPr>
        <p:spPr>
          <a:xfrm>
            <a:off x="4544568" y="1481328"/>
            <a:ext cx="6766560" cy="320040"/>
          </a:xfrm>
          <a:prstGeom prst="rect">
            <a:avLst/>
          </a:prstGeom>
          <a:noFill/>
        </p:spPr>
        <p:txBody>
          <a:bodyPr wrap="square" anchor="t" lIns="0" rIns="0" tIns="0" bIns="0">
            <a:spAutoFit/>
          </a:bodyPr>
          <a:lstStyle/>
          <a:p>
            <a:pPr>
              <a:spcAft>
                <a:spcPts val="0"/>
              </a:spcAft>
            </a:pPr>
            <a:r>
              <a:rPr sz="1500" b="1" i="0">
                <a:solidFill>
                  <a:srgbClr val="000000"/>
                </a:solidFill>
                <a:latin typeface="Arial Narrow"/>
              </a:rPr>
              <a:t>Från 2026 till 2027 – större förändringar (mnkr)</a:t>
            </a:r>
          </a:p>
        </p:txBody>
      </p:sp>
      <p:graphicFrame>
        <p:nvGraphicFramePr>
          <p:cNvPr id="11" name="Diagram förändringar"/>
          <p:cNvGraphicFramePr>
            <a:graphicFrameLocks noGrp="1"/>
          </p:cNvGraphicFramePr>
          <p:nvPr/>
        </p:nvGraphicFramePr>
        <p:xfrm>
          <a:off x="4453128" y="1874519"/>
          <a:ext cx="6858000" cy="4023360"/>
        </p:xfrm>
        <a:graphic>
          <a:graphicData uri="http://schemas.openxmlformats.org/drawingml/2006/chart">
            <c:chart xmlns:c="http://schemas.openxmlformats.org/drawingml/2006/chart" r:id="rId2"/>
          </a:graphicData>
        </a:graphic>
      </p:graphicFrame>
      <p:sp>
        <p:nvSpPr>
          <p:cNvPr id="12" name="Fotnot"/>
          <p:cNvSpPr txBox="1"/>
          <p:nvPr/>
        </p:nvSpPr>
        <p:spPr>
          <a:xfrm>
            <a:off x="612648" y="6144768"/>
            <a:ext cx="10972800" cy="411480"/>
          </a:xfrm>
          <a:prstGeom prst="rect">
            <a:avLst/>
          </a:prstGeom>
          <a:noFill/>
        </p:spPr>
        <p:txBody>
          <a:bodyPr wrap="square" anchor="t" lIns="0" rIns="0" tIns="0" bIns="0">
            <a:spAutoFit/>
          </a:bodyPr>
          <a:lstStyle/>
          <a:p>
            <a:pPr>
              <a:spcAft>
                <a:spcPts val="0"/>
              </a:spcAft>
            </a:pPr>
            <a:r>
              <a:rPr sz="1000" b="0" i="1">
                <a:solidFill>
                  <a:srgbClr val="595959"/>
                </a:solidFill>
                <a:latin typeface="Arial Narrow"/>
              </a:rPr>
              <a:t>*) Jämförelsestörande poster: nya eller flyttade kostnader som gör 2027 och 2026 svåra att jämföra direkt. Diagrammets axel börjar vid 840 mnkr för att förändringarna ska synas.</a:t>
            </a:r>
          </a:p>
        </p:txBody>
      </p:sp>
    </p:spTree>
    <p:extLst>
      <p:ext uri="{BB962C8B-B14F-4D97-AF65-F5344CB8AC3E}">
        <p14:creationId xmlns:p14="http://schemas.microsoft.com/office/powerpoint/2010/main" val="781963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Så fördelas kostnaderna</a:t>
            </a:r>
          </a:p>
        </p:txBody>
      </p:sp>
      <p:sp>
        <p:nvSpPr>
          <p:cNvPr id="3" name="TextBox 2"/>
          <p:cNvSpPr txBox="1"/>
          <p:nvPr/>
        </p:nvSpPr>
        <p:spPr>
          <a:xfrm>
            <a:off x="612648" y="1280160"/>
            <a:ext cx="10881360" cy="646331"/>
          </a:xfrm>
          <a:prstGeom prst="rect">
            <a:avLst/>
          </a:prstGeom>
          <a:noFill/>
        </p:spPr>
        <p:txBody>
          <a:bodyPr wrap="square">
            <a:spAutoFit/>
          </a:bodyPr>
          <a:lstStyle/>
          <a:p>
            <a:r>
              <a:rPr lang="sv-SE" sz="1800" b="1" i="0" dirty="0">
                <a:latin typeface="Arial Narrow"/>
              </a:rPr>
              <a:t>Kostnaden för varje objekt fördelas med en eller flera fördelningsnycklar. Bolagets eller förvaltningens kostnad beror både på objektets totalkostnad och på fördelningsnyckeln – där möjligheten att påverka varierar. </a:t>
            </a:r>
            <a:endParaRPr sz="1800" b="1" i="0" dirty="0">
              <a:latin typeface="Arial Narrow"/>
            </a:endParaRPr>
          </a:p>
        </p:txBody>
      </p:sp>
      <p:sp>
        <p:nvSpPr>
          <p:cNvPr id="4" name="Rectangle 3"/>
          <p:cNvSpPr/>
          <p:nvPr/>
        </p:nvSpPr>
        <p:spPr>
          <a:xfrm>
            <a:off x="612648" y="2240280"/>
            <a:ext cx="3933748" cy="548640"/>
          </a:xfrm>
          <a:prstGeom prst="rect">
            <a:avLst/>
          </a:prstGeom>
          <a:solidFill>
            <a:srgbClr val="A85A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dirty="0" err="1">
                <a:solidFill>
                  <a:srgbClr val="FFFFFF"/>
                </a:solidFill>
                <a:latin typeface="Arial Narrow"/>
              </a:rPr>
              <a:t>Hög</a:t>
            </a:r>
            <a:r>
              <a:rPr lang="sv-SE" sz="1400" b="1" i="0" dirty="0">
                <a:solidFill>
                  <a:srgbClr val="FFFFFF"/>
                </a:solidFill>
                <a:latin typeface="Arial Narrow"/>
              </a:rPr>
              <a:t>re</a:t>
            </a:r>
            <a:r>
              <a:rPr sz="1400" b="1" i="0" dirty="0">
                <a:solidFill>
                  <a:srgbClr val="FFFFFF"/>
                </a:solidFill>
                <a:latin typeface="Arial Narrow"/>
              </a:rPr>
              <a:t>  36 %</a:t>
            </a:r>
          </a:p>
        </p:txBody>
      </p:sp>
      <p:sp>
        <p:nvSpPr>
          <p:cNvPr id="5" name="Rectangle 4"/>
          <p:cNvSpPr/>
          <p:nvPr/>
        </p:nvSpPr>
        <p:spPr>
          <a:xfrm>
            <a:off x="4546396" y="2240280"/>
            <a:ext cx="2513228" cy="548640"/>
          </a:xfrm>
          <a:prstGeom prst="rect">
            <a:avLst/>
          </a:prstGeom>
          <a:solidFill>
            <a:srgbClr val="E2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00000"/>
                </a:solidFill>
                <a:latin typeface="Arial Narrow"/>
              </a:rPr>
              <a:t>Medel  23 %</a:t>
            </a:r>
          </a:p>
        </p:txBody>
      </p:sp>
      <p:sp>
        <p:nvSpPr>
          <p:cNvPr id="6" name="Rectangle 5"/>
          <p:cNvSpPr/>
          <p:nvPr/>
        </p:nvSpPr>
        <p:spPr>
          <a:xfrm>
            <a:off x="7059624" y="2240280"/>
            <a:ext cx="4480103" cy="54864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sz="1400" b="1" i="0" dirty="0">
                <a:solidFill>
                  <a:srgbClr val="000000"/>
                </a:solidFill>
                <a:latin typeface="Arial Narrow"/>
              </a:rPr>
              <a:t>Lägre</a:t>
            </a:r>
            <a:r>
              <a:rPr sz="1400" b="1" i="0" dirty="0">
                <a:solidFill>
                  <a:srgbClr val="000000"/>
                </a:solidFill>
                <a:latin typeface="Arial Narrow"/>
              </a:rPr>
              <a:t>  41 %</a:t>
            </a:r>
          </a:p>
        </p:txBody>
      </p:sp>
      <p:sp>
        <p:nvSpPr>
          <p:cNvPr id="7" name="Rectangle 6"/>
          <p:cNvSpPr/>
          <p:nvPr/>
        </p:nvSpPr>
        <p:spPr>
          <a:xfrm>
            <a:off x="612648" y="3017520"/>
            <a:ext cx="3520440"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49808" y="3108960"/>
            <a:ext cx="3246120" cy="1564531"/>
          </a:xfrm>
          <a:prstGeom prst="rect">
            <a:avLst/>
          </a:prstGeom>
          <a:noFill/>
        </p:spPr>
        <p:txBody>
          <a:bodyPr wrap="square">
            <a:spAutoFit/>
          </a:bodyPr>
          <a:lstStyle/>
          <a:p>
            <a:pPr>
              <a:spcAft>
                <a:spcPts val="400"/>
              </a:spcAft>
            </a:pPr>
            <a:r>
              <a:rPr sz="1500" b="1" i="0" dirty="0" err="1">
                <a:latin typeface="Arial Narrow"/>
              </a:rPr>
              <a:t>Hög</a:t>
            </a:r>
            <a:r>
              <a:rPr lang="sv-SE" sz="1500" b="1" i="0" dirty="0">
                <a:latin typeface="Arial Narrow"/>
              </a:rPr>
              <a:t>re</a:t>
            </a:r>
            <a:r>
              <a:rPr sz="1500" b="1" i="0" dirty="0">
                <a:latin typeface="Arial Narrow"/>
              </a:rPr>
              <a:t> </a:t>
            </a:r>
            <a:r>
              <a:rPr sz="1500" b="1" i="0" dirty="0" err="1">
                <a:latin typeface="Arial Narrow"/>
              </a:rPr>
              <a:t>påverkbarhet</a:t>
            </a:r>
            <a:r>
              <a:rPr sz="1500" b="0" i="0" dirty="0">
                <a:solidFill>
                  <a:srgbClr val="595959"/>
                </a:solidFill>
                <a:latin typeface="Arial Narrow"/>
              </a:rPr>
              <a:t>  325 mnkr</a:t>
            </a:r>
            <a:r>
              <a:rPr sz="1500" b="0" i="0" dirty="0" err="1">
                <a:solidFill>
                  <a:srgbClr val="595959"/>
                </a:solidFill>
                <a:latin typeface="Arial Narrow"/>
              </a:rPr>
              <a:t/>
            </a:r>
            <a:endParaRPr sz="1500" b="0" i="0" dirty="0">
              <a:solidFill>
                <a:srgbClr val="595959"/>
              </a:solidFill>
              <a:latin typeface="Arial Narrow"/>
            </a:endParaRPr>
          </a:p>
          <a:p>
            <a:pPr>
              <a:spcAft>
                <a:spcPts val="400"/>
              </a:spcAft>
            </a:pPr>
            <a:r>
              <a:rPr sz="1200" b="1" i="0" dirty="0" err="1">
                <a:latin typeface="Arial Narrow"/>
              </a:rPr>
              <a:t>Fördelas</a:t>
            </a:r>
            <a:r>
              <a:rPr sz="1200" b="1" i="0" dirty="0">
                <a:latin typeface="Arial Narrow"/>
              </a:rPr>
              <a:t> </a:t>
            </a:r>
            <a:r>
              <a:rPr sz="1200" b="1" i="0" dirty="0" err="1">
                <a:latin typeface="Arial Narrow"/>
              </a:rPr>
              <a:t>på</a:t>
            </a:r>
            <a:r>
              <a:rPr sz="1200" b="1" i="0" dirty="0">
                <a:latin typeface="Arial Narrow"/>
              </a:rPr>
              <a:t>: </a:t>
            </a:r>
            <a:r>
              <a:rPr sz="1200" b="0" i="0" dirty="0" err="1">
                <a:latin typeface="Arial Narrow"/>
              </a:rPr>
              <a:t>Användarkonton</a:t>
            </a:r>
            <a:r>
              <a:rPr sz="1200" b="0" i="0" dirty="0">
                <a:latin typeface="Arial Narrow"/>
              </a:rPr>
              <a:t>, </a:t>
            </a:r>
            <a:r>
              <a:rPr sz="1200" b="0" i="0" dirty="0" err="1">
                <a:latin typeface="Arial Narrow"/>
              </a:rPr>
              <a:t>datorer</a:t>
            </a:r>
            <a:r>
              <a:rPr sz="1200" b="0" i="0" dirty="0">
                <a:latin typeface="Arial Narrow"/>
              </a:rPr>
              <a:t> och licenser</a:t>
            </a:r>
          </a:p>
          <a:p>
            <a:pPr>
              <a:spcAft>
                <a:spcPts val="600"/>
              </a:spcAft>
            </a:pPr>
            <a:r>
              <a:rPr sz="1200" b="0" i="0" dirty="0" err="1">
                <a:latin typeface="Arial Narrow"/>
              </a:rPr>
              <a:t>När</a:t>
            </a:r>
            <a:r>
              <a:rPr sz="1200" b="0" i="0" dirty="0">
                <a:latin typeface="Arial Narrow"/>
              </a:rPr>
              <a:t> </a:t>
            </a:r>
            <a:r>
              <a:rPr sz="1200" b="0" i="0" dirty="0" err="1">
                <a:latin typeface="Arial Narrow"/>
              </a:rPr>
              <a:t>volymen</a:t>
            </a:r>
            <a:r>
              <a:rPr sz="1200" b="0" i="0" dirty="0">
                <a:latin typeface="Arial Narrow"/>
              </a:rPr>
              <a:t> </a:t>
            </a:r>
            <a:r>
              <a:rPr sz="1200" b="0" i="0" dirty="0" err="1">
                <a:latin typeface="Arial Narrow"/>
              </a:rPr>
              <a:t>minskar</a:t>
            </a:r>
            <a:r>
              <a:rPr sz="1200" b="0" i="0" dirty="0">
                <a:latin typeface="Arial Narrow"/>
              </a:rPr>
              <a:t> </a:t>
            </a:r>
            <a:r>
              <a:rPr sz="1200" b="0" i="0" dirty="0" err="1">
                <a:latin typeface="Arial Narrow"/>
              </a:rPr>
              <a:t>sjunker</a:t>
            </a:r>
            <a:r>
              <a:rPr sz="1200" b="0" i="0" dirty="0">
                <a:latin typeface="Arial Narrow"/>
              </a:rPr>
              <a:t> </a:t>
            </a:r>
            <a:r>
              <a:rPr sz="1200" b="0" i="0" dirty="0" err="1">
                <a:latin typeface="Arial Narrow"/>
              </a:rPr>
              <a:t>både</a:t>
            </a:r>
            <a:r>
              <a:rPr sz="1200" b="0" i="0" dirty="0">
                <a:latin typeface="Arial Narrow"/>
              </a:rPr>
              <a:t> er och </a:t>
            </a:r>
            <a:r>
              <a:rPr sz="1200" b="0" i="0" dirty="0" err="1">
                <a:latin typeface="Arial Narrow"/>
              </a:rPr>
              <a:t>stadens</a:t>
            </a:r>
            <a:r>
              <a:rPr sz="1200" b="0" i="0" dirty="0">
                <a:latin typeface="Arial Narrow"/>
              </a:rPr>
              <a:t> </a:t>
            </a:r>
            <a:r>
              <a:rPr sz="1200" b="0" i="0" dirty="0" err="1">
                <a:latin typeface="Arial Narrow"/>
              </a:rPr>
              <a:t>kostnad</a:t>
            </a:r>
            <a:r>
              <a:rPr sz="1200" b="0" i="0" dirty="0">
                <a:latin typeface="Arial Narrow"/>
              </a:rPr>
              <a:t>.</a:t>
            </a:r>
          </a:p>
          <a:p>
            <a:r>
              <a:rPr sz="1100" b="0" i="0" dirty="0" err="1">
                <a:solidFill>
                  <a:srgbClr val="595959"/>
                </a:solidFill>
                <a:latin typeface="Arial Narrow"/>
              </a:rPr>
              <a:t>Arbetsplatslicenser</a:t>
            </a:r>
            <a:r>
              <a:rPr sz="1100" b="0" i="0" dirty="0">
                <a:solidFill>
                  <a:srgbClr val="595959"/>
                </a:solidFill>
                <a:latin typeface="Arial Narrow"/>
              </a:rPr>
              <a:t>, </a:t>
            </a:r>
            <a:r>
              <a:rPr sz="1100" b="0" i="0" dirty="0" err="1">
                <a:solidFill>
                  <a:srgbClr val="595959"/>
                </a:solidFill>
                <a:latin typeface="Arial Narrow"/>
              </a:rPr>
              <a:t>Arbetsplatssystem</a:t>
            </a:r>
            <a:r>
              <a:rPr sz="1100" b="0" i="0" dirty="0">
                <a:solidFill>
                  <a:srgbClr val="595959"/>
                </a:solidFill>
                <a:latin typeface="Arial Narrow"/>
              </a:rPr>
              <a:t>, </a:t>
            </a:r>
            <a:r>
              <a:rPr sz="1100" b="0" i="0" dirty="0" err="1">
                <a:solidFill>
                  <a:srgbClr val="595959"/>
                </a:solidFill>
                <a:latin typeface="Arial Narrow"/>
              </a:rPr>
              <a:t>Servicedesk och portal</a:t>
            </a:r>
            <a:r>
              <a:rPr sz="1100" b="0" i="0" dirty="0">
                <a:solidFill>
                  <a:srgbClr val="595959"/>
                </a:solidFill>
                <a:latin typeface="Arial Narrow"/>
              </a:rPr>
              <a:t/>
            </a:r>
            <a:r>
              <a:rPr sz="1100" b="0" i="0" dirty="0" err="1">
                <a:solidFill>
                  <a:srgbClr val="595959"/>
                </a:solidFill>
                <a:latin typeface="Arial Narrow"/>
              </a:rPr>
              <a:t/>
            </a:r>
            <a:r>
              <a:rPr sz="1100" b="0" i="0" dirty="0">
                <a:solidFill>
                  <a:srgbClr val="595959"/>
                </a:solidFill>
                <a:latin typeface="Arial Narrow"/>
              </a:rPr>
              <a:t/>
            </a:r>
            <a:r>
              <a:rPr sz="1100" b="0" i="0" dirty="0" err="1">
                <a:solidFill>
                  <a:srgbClr val="595959"/>
                </a:solidFill>
                <a:latin typeface="Arial Narrow"/>
              </a:rPr>
              <a:t/>
            </a:r>
            <a:r>
              <a:rPr sz="1100" b="0" i="0" dirty="0">
                <a:solidFill>
                  <a:srgbClr val="595959"/>
                </a:solidFill>
                <a:latin typeface="Arial Narrow"/>
              </a:rPr>
              <a:t>, </a:t>
            </a:r>
            <a:r>
              <a:rPr sz="1100" b="0" i="0" dirty="0" err="1">
                <a:solidFill>
                  <a:srgbClr val="595959"/>
                </a:solidFill>
                <a:latin typeface="Arial Narrow"/>
              </a:rPr>
              <a:t>Centrala</a:t>
            </a:r>
            <a:r>
              <a:rPr sz="1100" b="0" i="0" dirty="0">
                <a:solidFill>
                  <a:srgbClr val="595959"/>
                </a:solidFill>
                <a:latin typeface="Arial Narrow"/>
              </a:rPr>
              <a:t> </a:t>
            </a:r>
            <a:r>
              <a:rPr sz="1100" b="0" i="0" dirty="0" err="1">
                <a:solidFill>
                  <a:srgbClr val="595959"/>
                </a:solidFill>
                <a:latin typeface="Arial Narrow"/>
              </a:rPr>
              <a:t>leverantörskostnader</a:t>
            </a:r>
            <a:r>
              <a:rPr sz="1100" b="0" i="0" dirty="0">
                <a:solidFill>
                  <a:srgbClr val="595959"/>
                </a:solidFill>
                <a:latin typeface="Arial Narrow"/>
              </a:rPr>
              <a:t> (</a:t>
            </a:r>
            <a:r>
              <a:rPr sz="1100" b="0" i="0" dirty="0" err="1">
                <a:solidFill>
                  <a:srgbClr val="595959"/>
                </a:solidFill>
                <a:latin typeface="Arial Narrow"/>
              </a:rPr>
              <a:t>delvis</a:t>
            </a:r>
            <a:r>
              <a:rPr sz="1100" b="0" i="0" dirty="0">
                <a:solidFill>
                  <a:srgbClr val="595959"/>
                </a:solidFill>
                <a:latin typeface="Arial Narrow"/>
              </a:rPr>
              <a:t>).</a:t>
            </a:r>
          </a:p>
        </p:txBody>
      </p:sp>
      <p:sp>
        <p:nvSpPr>
          <p:cNvPr id="9" name="Rectangle 8"/>
          <p:cNvSpPr/>
          <p:nvPr/>
        </p:nvSpPr>
        <p:spPr>
          <a:xfrm>
            <a:off x="4315968" y="3017520"/>
            <a:ext cx="3520440"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53128" y="3108960"/>
            <a:ext cx="3246120" cy="1749197"/>
          </a:xfrm>
          <a:prstGeom prst="rect">
            <a:avLst/>
          </a:prstGeom>
          <a:noFill/>
        </p:spPr>
        <p:txBody>
          <a:bodyPr wrap="square">
            <a:spAutoFit/>
          </a:bodyPr>
          <a:lstStyle/>
          <a:p>
            <a:pPr>
              <a:spcAft>
                <a:spcPts val="400"/>
              </a:spcAft>
            </a:pPr>
            <a:r>
              <a:rPr sz="1500" b="1" i="0" dirty="0" err="1">
                <a:latin typeface="Arial Narrow"/>
              </a:rPr>
              <a:t>Medel</a:t>
            </a:r>
            <a:r>
              <a:rPr sz="1500" b="1" i="0" dirty="0">
                <a:latin typeface="Arial Narrow"/>
              </a:rPr>
              <a:t> </a:t>
            </a:r>
            <a:r>
              <a:rPr sz="1500" b="1" i="0" dirty="0" err="1">
                <a:latin typeface="Arial Narrow"/>
              </a:rPr>
              <a:t>påverkbarhet</a:t>
            </a:r>
            <a:r>
              <a:rPr sz="1500" b="0" i="0" dirty="0">
                <a:solidFill>
                  <a:srgbClr val="595959"/>
                </a:solidFill>
                <a:latin typeface="Arial Narrow"/>
              </a:rPr>
              <a:t>  212 mnkr</a:t>
            </a:r>
            <a:r>
              <a:rPr sz="1500" b="0" i="0" dirty="0" err="1">
                <a:solidFill>
                  <a:srgbClr val="595959"/>
                </a:solidFill>
                <a:latin typeface="Arial Narrow"/>
              </a:rPr>
              <a:t/>
            </a:r>
            <a:endParaRPr sz="1500" b="0" i="0" dirty="0">
              <a:solidFill>
                <a:srgbClr val="595959"/>
              </a:solidFill>
              <a:latin typeface="Arial Narrow"/>
            </a:endParaRPr>
          </a:p>
          <a:p>
            <a:pPr>
              <a:spcAft>
                <a:spcPts val="400"/>
              </a:spcAft>
            </a:pPr>
            <a:r>
              <a:rPr sz="1200" b="1" i="0" dirty="0" err="1">
                <a:latin typeface="Arial Narrow"/>
              </a:rPr>
              <a:t>Fördelas</a:t>
            </a:r>
            <a:r>
              <a:rPr sz="1200" b="1" i="0" dirty="0">
                <a:latin typeface="Arial Narrow"/>
              </a:rPr>
              <a:t> </a:t>
            </a:r>
            <a:r>
              <a:rPr sz="1200" b="1" i="0" dirty="0" err="1">
                <a:latin typeface="Arial Narrow"/>
              </a:rPr>
              <a:t>på</a:t>
            </a:r>
            <a:r>
              <a:rPr sz="1200" b="1" i="0" dirty="0">
                <a:latin typeface="Arial Narrow"/>
              </a:rPr>
              <a:t>: </a:t>
            </a:r>
            <a:r>
              <a:rPr sz="1200" b="0" i="0" dirty="0" err="1">
                <a:latin typeface="Arial Narrow"/>
              </a:rPr>
              <a:t>Användare</a:t>
            </a:r>
            <a:r>
              <a:rPr sz="1200" b="0" i="0" dirty="0">
                <a:latin typeface="Arial Narrow"/>
              </a:rPr>
              <a:t>, </a:t>
            </a:r>
            <a:r>
              <a:rPr sz="1200" b="0" i="0" dirty="0" err="1">
                <a:latin typeface="Arial Narrow"/>
              </a:rPr>
              <a:t>transaktioner</a:t>
            </a:r>
            <a:r>
              <a:rPr sz="1200" b="0" i="0" dirty="0">
                <a:latin typeface="Arial Narrow"/>
              </a:rPr>
              <a:t> och </a:t>
            </a:r>
            <a:r>
              <a:rPr sz="1200" b="0" i="0" dirty="0" err="1">
                <a:latin typeface="Arial Narrow"/>
              </a:rPr>
              <a:t>användning</a:t>
            </a:r>
            <a:endParaRPr sz="1200" b="0" i="0" dirty="0">
              <a:latin typeface="Arial Narrow"/>
            </a:endParaRPr>
          </a:p>
          <a:p>
            <a:pPr>
              <a:spcAft>
                <a:spcPts val="600"/>
              </a:spcAft>
            </a:pPr>
            <a:r>
              <a:rPr sz="1200" b="0" i="0" dirty="0" err="1">
                <a:latin typeface="Arial Narrow"/>
              </a:rPr>
              <a:t>Påverkas</a:t>
            </a:r>
            <a:r>
              <a:rPr sz="1200" b="0" i="0" dirty="0">
                <a:latin typeface="Arial Narrow"/>
              </a:rPr>
              <a:t> </a:t>
            </a:r>
            <a:r>
              <a:rPr lang="sv-SE" sz="1200" b="0" i="0" dirty="0">
                <a:latin typeface="Arial Narrow"/>
              </a:rPr>
              <a:t>ex. </a:t>
            </a:r>
            <a:r>
              <a:rPr sz="1200" b="0" i="0" dirty="0" err="1">
                <a:latin typeface="Arial Narrow"/>
              </a:rPr>
              <a:t>genom</a:t>
            </a:r>
            <a:r>
              <a:rPr sz="1200" b="0" i="0" dirty="0">
                <a:latin typeface="Arial Narrow"/>
              </a:rPr>
              <a:t> </a:t>
            </a:r>
            <a:r>
              <a:rPr sz="1200" b="0" i="0" dirty="0" err="1">
                <a:latin typeface="Arial Narrow"/>
              </a:rPr>
              <a:t>att</a:t>
            </a:r>
            <a:r>
              <a:rPr sz="1200" b="0" i="0" dirty="0">
                <a:latin typeface="Arial Narrow"/>
              </a:rPr>
              <a:t> </a:t>
            </a:r>
            <a:r>
              <a:rPr sz="1200" b="0" i="0" dirty="0" err="1">
                <a:latin typeface="Arial Narrow"/>
              </a:rPr>
              <a:t>rensa</a:t>
            </a:r>
            <a:r>
              <a:rPr sz="1200" b="0" i="0" dirty="0">
                <a:latin typeface="Arial Narrow"/>
              </a:rPr>
              <a:t> </a:t>
            </a:r>
            <a:r>
              <a:rPr sz="1200" b="0" i="0" dirty="0" err="1">
                <a:latin typeface="Arial Narrow"/>
              </a:rPr>
              <a:t>användare</a:t>
            </a:r>
            <a:r>
              <a:rPr sz="1200" b="0" i="0" dirty="0">
                <a:latin typeface="Arial Narrow"/>
              </a:rPr>
              <a:t> och </a:t>
            </a:r>
            <a:r>
              <a:rPr sz="1200" b="0" i="0" dirty="0" err="1">
                <a:latin typeface="Arial Narrow"/>
              </a:rPr>
              <a:t>hålla</a:t>
            </a:r>
            <a:r>
              <a:rPr sz="1200" b="0" i="0" dirty="0">
                <a:latin typeface="Arial Narrow"/>
              </a:rPr>
              <a:t> </a:t>
            </a:r>
            <a:r>
              <a:rPr sz="1200" b="0" i="0" dirty="0" err="1">
                <a:latin typeface="Arial Narrow"/>
              </a:rPr>
              <a:t>nere</a:t>
            </a:r>
            <a:r>
              <a:rPr sz="1200" b="0" i="0" dirty="0">
                <a:latin typeface="Arial Narrow"/>
              </a:rPr>
              <a:t> </a:t>
            </a:r>
            <a:r>
              <a:rPr sz="1200" b="0" i="0" dirty="0" err="1">
                <a:latin typeface="Arial Narrow"/>
              </a:rPr>
              <a:t>antalet</a:t>
            </a:r>
            <a:r>
              <a:rPr sz="1200" b="0" i="0" dirty="0">
                <a:latin typeface="Arial Narrow"/>
              </a:rPr>
              <a:t> </a:t>
            </a:r>
            <a:r>
              <a:rPr sz="1200" b="0" i="0" dirty="0" err="1">
                <a:latin typeface="Arial Narrow"/>
              </a:rPr>
              <a:t>transaktioner</a:t>
            </a:r>
            <a:r>
              <a:rPr sz="1200" b="0" i="0" dirty="0">
                <a:latin typeface="Arial Narrow"/>
              </a:rPr>
              <a:t>.</a:t>
            </a:r>
          </a:p>
          <a:p>
            <a:r>
              <a:rPr sz="1100" b="0" i="0" dirty="0">
                <a:solidFill>
                  <a:srgbClr val="595959"/>
                </a:solidFill>
                <a:latin typeface="Arial Narrow"/>
              </a:rPr>
              <a:t>Agresso, Inköp, </a:t>
            </a:r>
            <a:r>
              <a:rPr sz="1100" b="0" i="0" dirty="0" err="1">
                <a:solidFill>
                  <a:srgbClr val="595959"/>
                </a:solidFill>
                <a:latin typeface="Arial Narrow"/>
              </a:rPr>
              <a:t>Beslutsstöd</a:t>
            </a:r>
            <a:r>
              <a:rPr sz="1100" b="0" i="0" dirty="0">
                <a:solidFill>
                  <a:srgbClr val="595959"/>
                </a:solidFill>
                <a:latin typeface="Arial Narrow"/>
              </a:rPr>
              <a:t> och </a:t>
            </a:r>
            <a:r>
              <a:rPr sz="1100" b="0" i="0" dirty="0" err="1">
                <a:solidFill>
                  <a:srgbClr val="595959"/>
                </a:solidFill>
                <a:latin typeface="Arial Narrow"/>
              </a:rPr>
              <a:t>statistik</a:t>
            </a:r>
            <a:r>
              <a:rPr sz="1100" b="0" i="0" dirty="0">
                <a:solidFill>
                  <a:srgbClr val="595959"/>
                </a:solidFill>
                <a:latin typeface="Arial Narrow"/>
              </a:rPr>
              <a:t>, Hypergene, LOIS, SGIS, </a:t>
            </a:r>
            <a:r>
              <a:rPr sz="1100" b="0" i="0" dirty="0" err="1">
                <a:solidFill>
                  <a:srgbClr val="595959"/>
                </a:solidFill>
                <a:latin typeface="Arial Narrow"/>
              </a:rPr>
              <a:t>Nationella</a:t>
            </a:r>
            <a:r>
              <a:rPr sz="1100" b="0" i="0" dirty="0">
                <a:solidFill>
                  <a:srgbClr val="595959"/>
                </a:solidFill>
                <a:latin typeface="Arial Narrow"/>
              </a:rPr>
              <a:t> e-</a:t>
            </a:r>
            <a:r>
              <a:rPr sz="1100" b="0" i="0" dirty="0" err="1">
                <a:solidFill>
                  <a:srgbClr val="595959"/>
                </a:solidFill>
                <a:latin typeface="Arial Narrow"/>
              </a:rPr>
              <a:t>hälsotjänster</a:t>
            </a:r>
            <a:r>
              <a:rPr sz="1100" b="0" i="0" dirty="0">
                <a:solidFill>
                  <a:srgbClr val="595959"/>
                </a:solidFill>
                <a:latin typeface="Arial Narrow"/>
              </a:rPr>
              <a:t>, </a:t>
            </a:r>
            <a:r>
              <a:rPr sz="1100" b="0" i="0" dirty="0" err="1">
                <a:solidFill>
                  <a:srgbClr val="595959"/>
                </a:solidFill>
                <a:latin typeface="Arial Narrow"/>
              </a:rPr>
              <a:t>Digitala</a:t>
            </a:r>
            <a:r>
              <a:rPr sz="1100" b="0" i="0" dirty="0">
                <a:solidFill>
                  <a:srgbClr val="595959"/>
                </a:solidFill>
                <a:latin typeface="Arial Narrow"/>
              </a:rPr>
              <a:t> </a:t>
            </a:r>
            <a:r>
              <a:rPr sz="1100" b="0" i="0" dirty="0" err="1">
                <a:solidFill>
                  <a:srgbClr val="595959"/>
                </a:solidFill>
                <a:latin typeface="Arial Narrow"/>
              </a:rPr>
              <a:t>stöd</a:t>
            </a:r>
            <a:r>
              <a:rPr sz="1100" b="0" i="0" dirty="0">
                <a:solidFill>
                  <a:srgbClr val="595959"/>
                </a:solidFill>
                <a:latin typeface="Arial Narrow"/>
              </a:rPr>
              <a:t> för </a:t>
            </a:r>
            <a:r>
              <a:rPr sz="1100" b="0" i="0" dirty="0" err="1">
                <a:solidFill>
                  <a:srgbClr val="595959"/>
                </a:solidFill>
                <a:latin typeface="Arial Narrow"/>
              </a:rPr>
              <a:t>pedagogisk</a:t>
            </a:r>
            <a:r>
              <a:rPr sz="1100" b="0" i="0" dirty="0">
                <a:solidFill>
                  <a:srgbClr val="595959"/>
                </a:solidFill>
                <a:latin typeface="Arial Narrow"/>
              </a:rPr>
              <a:t> </a:t>
            </a:r>
            <a:r>
              <a:rPr sz="1100" b="0" i="0" dirty="0" err="1">
                <a:solidFill>
                  <a:srgbClr val="595959"/>
                </a:solidFill>
                <a:latin typeface="Arial Narrow"/>
              </a:rPr>
              <a:t>verksamhet</a:t>
            </a:r>
            <a:r>
              <a:rPr sz="1100" b="0" i="0" dirty="0">
                <a:solidFill>
                  <a:srgbClr val="595959"/>
                </a:solidFill>
                <a:latin typeface="Arial Narrow"/>
              </a:rPr>
              <a:t>, </a:t>
            </a:r>
            <a:r>
              <a:rPr sz="1100" b="0" i="0" dirty="0" err="1">
                <a:solidFill>
                  <a:srgbClr val="595959"/>
                </a:solidFill>
                <a:latin typeface="Arial Narrow"/>
              </a:rPr>
              <a:t>Löne</a:t>
            </a:r>
            <a:r>
              <a:rPr sz="1100" b="0" i="0" dirty="0">
                <a:solidFill>
                  <a:srgbClr val="595959"/>
                </a:solidFill>
                <a:latin typeface="Arial Narrow"/>
              </a:rPr>
              <a:t>- och PA-system (</a:t>
            </a:r>
            <a:r>
              <a:rPr sz="1100" b="0" i="0" dirty="0" err="1">
                <a:solidFill>
                  <a:srgbClr val="595959"/>
                </a:solidFill>
                <a:latin typeface="Arial Narrow"/>
              </a:rPr>
              <a:t>Medvind</a:t>
            </a:r>
            <a:r>
              <a:rPr sz="1100" b="0" i="0" dirty="0">
                <a:solidFill>
                  <a:srgbClr val="595959"/>
                </a:solidFill>
                <a:latin typeface="Arial Narrow"/>
              </a:rPr>
              <a:t>).</a:t>
            </a:r>
          </a:p>
        </p:txBody>
      </p:sp>
      <p:sp>
        <p:nvSpPr>
          <p:cNvPr id="11" name="Rectangle 10"/>
          <p:cNvSpPr/>
          <p:nvPr/>
        </p:nvSpPr>
        <p:spPr>
          <a:xfrm>
            <a:off x="8019288" y="3017520"/>
            <a:ext cx="3520440"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156448" y="3108960"/>
            <a:ext cx="3246120" cy="2441694"/>
          </a:xfrm>
          <a:prstGeom prst="rect">
            <a:avLst/>
          </a:prstGeom>
          <a:noFill/>
        </p:spPr>
        <p:txBody>
          <a:bodyPr wrap="square">
            <a:spAutoFit/>
          </a:bodyPr>
          <a:lstStyle/>
          <a:p>
            <a:pPr>
              <a:spcAft>
                <a:spcPts val="400"/>
              </a:spcAft>
            </a:pPr>
            <a:r>
              <a:rPr lang="sv-SE" sz="1500" b="1" i="0" dirty="0">
                <a:latin typeface="Arial Narrow"/>
              </a:rPr>
              <a:t>Lägre</a:t>
            </a:r>
            <a:r>
              <a:rPr sz="1500" b="1" i="0" dirty="0">
                <a:latin typeface="Arial Narrow"/>
              </a:rPr>
              <a:t> </a:t>
            </a:r>
            <a:r>
              <a:rPr sz="1500" b="1" i="0" dirty="0" err="1">
                <a:latin typeface="Arial Narrow"/>
              </a:rPr>
              <a:t>påverkbarhet</a:t>
            </a:r>
            <a:r>
              <a:rPr sz="1500" b="0" i="0" dirty="0">
                <a:solidFill>
                  <a:srgbClr val="595959"/>
                </a:solidFill>
                <a:latin typeface="Arial Narrow"/>
              </a:rPr>
              <a:t>  375 mnkr</a:t>
            </a:r>
            <a:r>
              <a:rPr sz="1500" b="0" i="0" dirty="0" err="1">
                <a:solidFill>
                  <a:srgbClr val="595959"/>
                </a:solidFill>
                <a:latin typeface="Arial Narrow"/>
              </a:rPr>
              <a:t/>
            </a:r>
            <a:endParaRPr sz="1500" b="0" i="0" dirty="0">
              <a:solidFill>
                <a:srgbClr val="595959"/>
              </a:solidFill>
              <a:latin typeface="Arial Narrow"/>
            </a:endParaRPr>
          </a:p>
          <a:p>
            <a:pPr>
              <a:spcAft>
                <a:spcPts val="400"/>
              </a:spcAft>
            </a:pPr>
            <a:r>
              <a:rPr sz="1200" b="1" i="0" dirty="0" err="1">
                <a:latin typeface="Arial Narrow"/>
              </a:rPr>
              <a:t>Fördelas</a:t>
            </a:r>
            <a:r>
              <a:rPr sz="1200" b="1" i="0" dirty="0">
                <a:latin typeface="Arial Narrow"/>
              </a:rPr>
              <a:t> </a:t>
            </a:r>
            <a:r>
              <a:rPr sz="1200" b="1" i="0" dirty="0" err="1">
                <a:latin typeface="Arial Narrow"/>
              </a:rPr>
              <a:t>på</a:t>
            </a:r>
            <a:r>
              <a:rPr sz="1200" b="1" i="0" dirty="0">
                <a:latin typeface="Arial Narrow"/>
              </a:rPr>
              <a:t>: </a:t>
            </a:r>
            <a:r>
              <a:rPr sz="1200" b="0" i="0" dirty="0" err="1">
                <a:latin typeface="Arial Narrow"/>
              </a:rPr>
              <a:t>Anställda</a:t>
            </a:r>
            <a:r>
              <a:rPr sz="1200" b="0" i="0" dirty="0">
                <a:latin typeface="Arial Narrow"/>
              </a:rPr>
              <a:t>, </a:t>
            </a:r>
            <a:r>
              <a:rPr sz="1200" b="0" i="0" dirty="0" err="1">
                <a:latin typeface="Arial Narrow"/>
              </a:rPr>
              <a:t>elever</a:t>
            </a:r>
            <a:r>
              <a:rPr sz="1200" b="0" i="0" dirty="0">
                <a:latin typeface="Arial Narrow"/>
              </a:rPr>
              <a:t>, budget, </a:t>
            </a:r>
            <a:r>
              <a:rPr sz="1200" b="0" i="0" dirty="0" err="1">
                <a:latin typeface="Arial Narrow"/>
              </a:rPr>
              <a:t>historik</a:t>
            </a:r>
            <a:r>
              <a:rPr sz="1200" b="0" i="0" dirty="0">
                <a:latin typeface="Arial Narrow"/>
              </a:rPr>
              <a:t> </a:t>
            </a:r>
            <a:r>
              <a:rPr sz="1200" b="0" i="0" dirty="0" err="1">
                <a:latin typeface="Arial Narrow"/>
              </a:rPr>
              <a:t>eller</a:t>
            </a:r>
            <a:r>
              <a:rPr sz="1200" b="0" i="0" dirty="0">
                <a:latin typeface="Arial Narrow"/>
              </a:rPr>
              <a:t> fast </a:t>
            </a:r>
            <a:r>
              <a:rPr sz="1200" b="0" i="0" dirty="0" err="1">
                <a:latin typeface="Arial Narrow"/>
              </a:rPr>
              <a:t>belopp</a:t>
            </a:r>
            <a:endParaRPr sz="1200" b="0" i="0" dirty="0">
              <a:latin typeface="Arial Narrow"/>
            </a:endParaRPr>
          </a:p>
          <a:p>
            <a:pPr>
              <a:spcAft>
                <a:spcPts val="600"/>
              </a:spcAft>
            </a:pPr>
            <a:r>
              <a:rPr sz="1200" b="0" i="0" dirty="0" err="1">
                <a:latin typeface="Arial Narrow"/>
              </a:rPr>
              <a:t>Egna</a:t>
            </a:r>
            <a:r>
              <a:rPr sz="1200" b="0" i="0" dirty="0">
                <a:latin typeface="Arial Narrow"/>
              </a:rPr>
              <a:t> </a:t>
            </a:r>
            <a:r>
              <a:rPr sz="1200" b="0" i="0" dirty="0" err="1">
                <a:latin typeface="Arial Narrow"/>
              </a:rPr>
              <a:t>åtgärder</a:t>
            </a:r>
            <a:r>
              <a:rPr sz="1200" b="0" i="0" dirty="0">
                <a:latin typeface="Arial Narrow"/>
              </a:rPr>
              <a:t> </a:t>
            </a:r>
            <a:r>
              <a:rPr sz="1200" b="0" i="0" dirty="0" err="1">
                <a:latin typeface="Arial Narrow"/>
              </a:rPr>
              <a:t>flyttar</a:t>
            </a:r>
            <a:r>
              <a:rPr sz="1200" b="0" i="0" dirty="0">
                <a:latin typeface="Arial Narrow"/>
              </a:rPr>
              <a:t> </a:t>
            </a:r>
            <a:r>
              <a:rPr sz="1200" b="0" i="0" dirty="0" err="1">
                <a:latin typeface="Arial Narrow"/>
              </a:rPr>
              <a:t>kostnad</a:t>
            </a:r>
            <a:r>
              <a:rPr sz="1200" b="0" i="0" dirty="0">
                <a:latin typeface="Arial Narrow"/>
              </a:rPr>
              <a:t> </a:t>
            </a:r>
            <a:r>
              <a:rPr sz="1200" b="0" i="0" dirty="0" err="1">
                <a:latin typeface="Arial Narrow"/>
              </a:rPr>
              <a:t>mellan</a:t>
            </a:r>
            <a:r>
              <a:rPr sz="1200" b="0" i="0" dirty="0">
                <a:latin typeface="Arial Narrow"/>
              </a:rPr>
              <a:t> </a:t>
            </a:r>
            <a:r>
              <a:rPr sz="1200" b="0" i="0" dirty="0" err="1">
                <a:latin typeface="Arial Narrow"/>
              </a:rPr>
              <a:t>bolag</a:t>
            </a:r>
            <a:r>
              <a:rPr sz="1200" b="0" i="0" dirty="0">
                <a:latin typeface="Arial Narrow"/>
              </a:rPr>
              <a:t> och </a:t>
            </a:r>
            <a:r>
              <a:rPr sz="1200" b="0" i="0" dirty="0" err="1">
                <a:latin typeface="Arial Narrow"/>
              </a:rPr>
              <a:t>förvaltningar</a:t>
            </a:r>
            <a:r>
              <a:rPr sz="1200" b="0" i="0" dirty="0">
                <a:latin typeface="Arial Narrow"/>
              </a:rPr>
              <a:t>. </a:t>
            </a:r>
            <a:r>
              <a:rPr sz="1200" b="0" i="0" dirty="0" err="1">
                <a:latin typeface="Arial Narrow"/>
              </a:rPr>
              <a:t>Påverkan</a:t>
            </a:r>
            <a:r>
              <a:rPr sz="1200" b="0" i="0" dirty="0">
                <a:latin typeface="Arial Narrow"/>
              </a:rPr>
              <a:t> </a:t>
            </a:r>
            <a:r>
              <a:rPr sz="1200" b="0" i="0" dirty="0" err="1">
                <a:latin typeface="Arial Narrow"/>
              </a:rPr>
              <a:t>sker</a:t>
            </a:r>
            <a:r>
              <a:rPr sz="1200" b="0" i="0" dirty="0">
                <a:latin typeface="Arial Narrow"/>
              </a:rPr>
              <a:t> </a:t>
            </a:r>
            <a:r>
              <a:rPr lang="sv-SE" sz="1200" b="0" i="0" dirty="0">
                <a:latin typeface="Arial Narrow"/>
              </a:rPr>
              <a:t>snarare </a:t>
            </a:r>
            <a:r>
              <a:rPr sz="1200" b="0" i="0" dirty="0" err="1">
                <a:latin typeface="Arial Narrow"/>
              </a:rPr>
              <a:t>i</a:t>
            </a:r>
            <a:r>
              <a:rPr sz="1200" b="0" i="0" dirty="0">
                <a:latin typeface="Arial Narrow"/>
              </a:rPr>
              <a:t> </a:t>
            </a:r>
            <a:r>
              <a:rPr lang="sv-SE" sz="1200" b="0" i="0" dirty="0">
                <a:latin typeface="Arial Narrow"/>
              </a:rPr>
              <a:t>olika </a:t>
            </a:r>
            <a:r>
              <a:rPr lang="sv-SE" sz="1200" b="0" i="0" dirty="0" err="1">
                <a:latin typeface="Arial Narrow"/>
              </a:rPr>
              <a:t>samverkansforum</a:t>
            </a:r>
            <a:r>
              <a:rPr lang="sv-SE" sz="1200" b="0" i="0" dirty="0">
                <a:latin typeface="Arial Narrow"/>
              </a:rPr>
              <a:t>. </a:t>
            </a:r>
            <a:endParaRPr sz="1200" b="0" i="0" dirty="0">
              <a:latin typeface="Arial Narrow"/>
            </a:endParaRPr>
          </a:p>
          <a:p>
            <a:r>
              <a:rPr sz="1100" b="0" i="0" dirty="0" err="1">
                <a:solidFill>
                  <a:srgbClr val="595959"/>
                </a:solidFill>
                <a:latin typeface="Arial Narrow"/>
              </a:rPr>
              <a:t>Applikationsplattformar</a:t>
            </a:r>
            <a:r>
              <a:rPr sz="1100" b="0" i="0" dirty="0">
                <a:solidFill>
                  <a:srgbClr val="595959"/>
                </a:solidFill>
                <a:latin typeface="Arial Narrow"/>
              </a:rPr>
              <a:t>, </a:t>
            </a:r>
            <a:r>
              <a:rPr sz="1100" b="0" i="0" dirty="0" err="1">
                <a:solidFill>
                  <a:srgbClr val="595959"/>
                </a:solidFill>
                <a:latin typeface="Arial Narrow"/>
              </a:rPr>
              <a:t>Datakommunikation</a:t>
            </a:r>
            <a:r>
              <a:rPr sz="1100" b="0" i="0" dirty="0">
                <a:solidFill>
                  <a:srgbClr val="595959"/>
                </a:solidFill>
                <a:latin typeface="Arial Narrow"/>
              </a:rPr>
              <a:t>, E-</a:t>
            </a:r>
            <a:r>
              <a:rPr sz="1100" b="0" i="0" dirty="0" err="1">
                <a:solidFill>
                  <a:srgbClr val="595959"/>
                </a:solidFill>
                <a:latin typeface="Arial Narrow"/>
              </a:rPr>
              <a:t>arkivet</a:t>
            </a:r>
            <a:r>
              <a:rPr sz="1100" b="0" i="0" dirty="0">
                <a:solidFill>
                  <a:srgbClr val="595959"/>
                </a:solidFill>
                <a:latin typeface="Arial Narrow"/>
              </a:rPr>
              <a:t>, eDok, E-</a:t>
            </a:r>
            <a:r>
              <a:rPr sz="1100" b="0" i="0" dirty="0" err="1">
                <a:solidFill>
                  <a:srgbClr val="595959"/>
                </a:solidFill>
                <a:latin typeface="Arial Narrow"/>
              </a:rPr>
              <a:t>vald</a:t>
            </a:r>
            <a:r>
              <a:rPr sz="1100" b="0" i="0" dirty="0">
                <a:solidFill>
                  <a:srgbClr val="595959"/>
                </a:solidFill>
                <a:latin typeface="Arial Narrow"/>
              </a:rPr>
              <a:t>, </a:t>
            </a:r>
            <a:r>
              <a:rPr sz="1100" b="0" i="0" dirty="0" err="1">
                <a:solidFill>
                  <a:srgbClr val="595959"/>
                </a:solidFill>
                <a:latin typeface="Arial Narrow"/>
              </a:rPr>
              <a:t>Identitets</a:t>
            </a:r>
            <a:r>
              <a:rPr sz="1100" b="0" i="0" dirty="0">
                <a:solidFill>
                  <a:srgbClr val="595959"/>
                </a:solidFill>
                <a:latin typeface="Arial Narrow"/>
              </a:rPr>
              <a:t>- och </a:t>
            </a:r>
            <a:r>
              <a:rPr sz="1100" b="0" i="0" dirty="0" err="1">
                <a:solidFill>
                  <a:srgbClr val="595959"/>
                </a:solidFill>
                <a:latin typeface="Arial Narrow"/>
              </a:rPr>
              <a:t>åtkomsthantering</a:t>
            </a:r>
            <a:r>
              <a:rPr sz="1100" b="0" i="0" dirty="0">
                <a:solidFill>
                  <a:srgbClr val="595959"/>
                </a:solidFill>
                <a:latin typeface="Arial Narrow"/>
              </a:rPr>
              <a:t>, ILS, </a:t>
            </a:r>
            <a:r>
              <a:rPr sz="1100" b="0" i="0" dirty="0" err="1">
                <a:solidFill>
                  <a:srgbClr val="595959"/>
                </a:solidFill>
                <a:latin typeface="Arial Narrow"/>
              </a:rPr>
              <a:t>Löne</a:t>
            </a:r>
            <a:r>
              <a:rPr sz="1100" b="0" i="0" dirty="0">
                <a:solidFill>
                  <a:srgbClr val="595959"/>
                </a:solidFill>
                <a:latin typeface="Arial Narrow"/>
              </a:rPr>
              <a:t>- och PA-system, </a:t>
            </a:r>
            <a:r>
              <a:rPr sz="1100" b="0" i="0" dirty="0" err="1">
                <a:solidFill>
                  <a:srgbClr val="595959"/>
                </a:solidFill>
                <a:latin typeface="Arial Narrow"/>
              </a:rPr>
              <a:t>Sociala</a:t>
            </a:r>
            <a:r>
              <a:rPr sz="1100" b="0" i="0" dirty="0">
                <a:solidFill>
                  <a:srgbClr val="595959"/>
                </a:solidFill>
                <a:latin typeface="Arial Narrow"/>
              </a:rPr>
              <a:t> system, SSIP, </a:t>
            </a:r>
            <a:r>
              <a:rPr sz="1100" b="0" i="0" dirty="0" err="1">
                <a:solidFill>
                  <a:srgbClr val="595959"/>
                </a:solidFill>
                <a:latin typeface="Arial Narrow"/>
              </a:rPr>
              <a:t>Stadsövergripande</a:t>
            </a:r>
            <a:r>
              <a:rPr sz="1100" b="0" i="0" dirty="0">
                <a:solidFill>
                  <a:srgbClr val="595959"/>
                </a:solidFill>
                <a:latin typeface="Arial Narrow"/>
              </a:rPr>
              <a:t> </a:t>
            </a:r>
            <a:r>
              <a:rPr sz="1100" b="0" i="0" dirty="0" err="1">
                <a:solidFill>
                  <a:srgbClr val="595959"/>
                </a:solidFill>
                <a:latin typeface="Arial Narrow"/>
              </a:rPr>
              <a:t>informationssäkerhet</a:t>
            </a:r>
            <a:r>
              <a:rPr sz="1100" b="0" i="0" dirty="0">
                <a:solidFill>
                  <a:srgbClr val="595959"/>
                </a:solidFill>
                <a:latin typeface="Arial Narrow"/>
              </a:rPr>
              <a:t>, Stockholm Webb, </a:t>
            </a:r>
            <a:r>
              <a:rPr sz="1100" b="0" i="0" dirty="0" err="1">
                <a:solidFill>
                  <a:srgbClr val="595959"/>
                </a:solidFill>
                <a:latin typeface="Arial Narrow"/>
              </a:rPr>
              <a:t>Utbildningsplattform</a:t>
            </a:r>
            <a:r>
              <a:rPr sz="1100" b="0" i="0" dirty="0">
                <a:solidFill>
                  <a:srgbClr val="595959"/>
                </a:solidFill>
                <a:latin typeface="Arial Narrow"/>
              </a:rPr>
              <a:t>, </a:t>
            </a:r>
            <a:r>
              <a:rPr sz="1100" b="0" i="0" dirty="0" err="1">
                <a:solidFill>
                  <a:srgbClr val="595959"/>
                </a:solidFill>
                <a:latin typeface="Arial Narrow"/>
              </a:rPr>
              <a:t>Verksamhetsarkitektur</a:t>
            </a:r>
            <a:r>
              <a:rPr sz="1100" b="0" i="0" dirty="0">
                <a:solidFill>
                  <a:srgbClr val="595959"/>
                </a:solidFill>
                <a:latin typeface="Arial Narrow"/>
              </a:rPr>
              <a:t> och </a:t>
            </a:r>
            <a:r>
              <a:rPr sz="1100" b="0" i="0" dirty="0" err="1">
                <a:solidFill>
                  <a:srgbClr val="595959"/>
                </a:solidFill>
                <a:latin typeface="Arial Narrow"/>
              </a:rPr>
              <a:t>metodstöd</a:t>
            </a:r>
            <a:r>
              <a:rPr sz="1100" b="0" i="0" dirty="0">
                <a:solidFill>
                  <a:srgbClr val="595959"/>
                </a:solidFill>
                <a:latin typeface="Arial Narrow"/>
              </a:rPr>
              <a:t>, </a:t>
            </a:r>
            <a:r>
              <a:rPr sz="1100" b="0" i="0" dirty="0" err="1">
                <a:solidFill>
                  <a:srgbClr val="595959"/>
                </a:solidFill>
                <a:latin typeface="Arial Narrow"/>
              </a:rPr>
              <a:t>Öppna</a:t>
            </a:r>
            <a:r>
              <a:rPr sz="1100" b="0" i="0" dirty="0">
                <a:solidFill>
                  <a:srgbClr val="595959"/>
                </a:solidFill>
                <a:latin typeface="Arial Narrow"/>
              </a:rPr>
              <a:t> data.</a:t>
            </a:r>
          </a:p>
        </p:txBody>
      </p:sp>
      <p:sp>
        <p:nvSpPr>
          <p:cNvPr id="13" name="TextBox 12"/>
          <p:cNvSpPr txBox="1"/>
          <p:nvPr/>
        </p:nvSpPr>
        <p:spPr>
          <a:xfrm>
            <a:off x="5029200" y="5961888"/>
            <a:ext cx="6492240" cy="320040"/>
          </a:xfrm>
          <a:prstGeom prst="rect">
            <a:avLst/>
          </a:prstGeom>
          <a:noFill/>
        </p:spPr>
        <p:txBody>
          <a:bodyPr wrap="square">
            <a:spAutoFit/>
          </a:bodyPr>
          <a:lstStyle/>
          <a:p>
            <a:pPr algn="r"/>
            <a:r>
              <a:rPr sz="1000" b="0" i="1">
                <a:latin typeface="Arial Narrow"/>
              </a:rPr>
              <a:t>Andelar beräknade på objektens kostnader i IT-prislistan 2027.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Så påverkar ni er kostnad</a:t>
            </a:r>
          </a:p>
        </p:txBody>
      </p:sp>
      <p:sp>
        <p:nvSpPr>
          <p:cNvPr id="3" name="Rectangle 2"/>
          <p:cNvSpPr/>
          <p:nvPr/>
        </p:nvSpPr>
        <p:spPr>
          <a:xfrm>
            <a:off x="612648" y="1325880"/>
            <a:ext cx="5376672"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95528" y="1444752"/>
            <a:ext cx="5029200" cy="1292662"/>
          </a:xfrm>
          <a:prstGeom prst="rect">
            <a:avLst/>
          </a:prstGeom>
          <a:noFill/>
        </p:spPr>
        <p:txBody>
          <a:bodyPr wrap="square">
            <a:spAutoFit/>
          </a:bodyPr>
          <a:lstStyle/>
          <a:p>
            <a:pPr>
              <a:spcAft>
                <a:spcPts val="600"/>
              </a:spcAft>
            </a:pPr>
            <a:r>
              <a:rPr sz="1600" b="1" i="0" dirty="0">
                <a:latin typeface="Arial Narrow"/>
              </a:rPr>
              <a:t>Er </a:t>
            </a:r>
            <a:r>
              <a:rPr sz="1600" b="1" i="0" dirty="0" err="1">
                <a:latin typeface="Arial Narrow"/>
              </a:rPr>
              <a:t>andel</a:t>
            </a:r>
            <a:r>
              <a:rPr sz="1600" b="1" i="0" dirty="0">
                <a:latin typeface="Arial Narrow"/>
              </a:rPr>
              <a:t> – det </a:t>
            </a:r>
            <a:r>
              <a:rPr sz="1600" b="1" i="0" dirty="0" err="1">
                <a:latin typeface="Arial Narrow"/>
              </a:rPr>
              <a:t>ni</a:t>
            </a:r>
            <a:r>
              <a:rPr sz="1600" b="1" i="0" dirty="0">
                <a:latin typeface="Arial Narrow"/>
              </a:rPr>
              <a:t> </a:t>
            </a:r>
            <a:r>
              <a:rPr sz="1600" b="1" i="0" dirty="0" err="1">
                <a:latin typeface="Arial Narrow"/>
              </a:rPr>
              <a:t>påverkar</a:t>
            </a:r>
            <a:r>
              <a:rPr sz="1600" b="1" i="0" dirty="0">
                <a:latin typeface="Arial Narrow"/>
              </a:rPr>
              <a:t> </a:t>
            </a:r>
            <a:r>
              <a:rPr sz="1600" b="1" i="0" dirty="0" err="1">
                <a:latin typeface="Arial Narrow"/>
              </a:rPr>
              <a:t>själva</a:t>
            </a:r>
            <a:endParaRPr sz="1600" b="1" i="0" dirty="0">
              <a:latin typeface="Arial Narrow"/>
            </a:endParaRPr>
          </a:p>
          <a:p>
            <a:pPr marL="180975" indent="-180975">
              <a:spcAft>
                <a:spcPts val="300"/>
              </a:spcAft>
              <a:buFont typeface="Arial"/>
              <a:buChar char="•"/>
            </a:pPr>
            <a:r>
              <a:rPr sz="1300" b="0" i="0" dirty="0" err="1">
                <a:latin typeface="Arial Narrow"/>
              </a:rPr>
              <a:t>Håll</a:t>
            </a:r>
            <a:r>
              <a:rPr sz="1300" b="0" i="0" dirty="0">
                <a:latin typeface="Arial Narrow"/>
              </a:rPr>
              <a:t> </a:t>
            </a:r>
            <a:r>
              <a:rPr sz="1300" b="0" i="0" dirty="0" err="1">
                <a:latin typeface="Arial Narrow"/>
              </a:rPr>
              <a:t>antalet</a:t>
            </a:r>
            <a:r>
              <a:rPr sz="1300" b="0" i="0" dirty="0">
                <a:latin typeface="Arial Narrow"/>
              </a:rPr>
              <a:t> </a:t>
            </a:r>
            <a:r>
              <a:rPr sz="1300" b="0" i="0" dirty="0" err="1">
                <a:latin typeface="Arial Narrow"/>
              </a:rPr>
              <a:t>användarkonton</a:t>
            </a:r>
            <a:r>
              <a:rPr sz="1300" b="0" i="0" dirty="0">
                <a:latin typeface="Arial Narrow"/>
              </a:rPr>
              <a:t>, </a:t>
            </a:r>
            <a:r>
              <a:rPr sz="1300" b="0" i="0" dirty="0" err="1">
                <a:latin typeface="Arial Narrow"/>
              </a:rPr>
              <a:t>datorer</a:t>
            </a:r>
            <a:r>
              <a:rPr sz="1300" b="0" i="0" dirty="0">
                <a:latin typeface="Arial Narrow"/>
              </a:rPr>
              <a:t> och licenser </a:t>
            </a:r>
            <a:r>
              <a:rPr sz="1300" b="0" i="0" dirty="0" err="1">
                <a:latin typeface="Arial Narrow"/>
              </a:rPr>
              <a:t>aktuellt</a:t>
            </a:r>
            <a:r>
              <a:rPr sz="1300" b="0" i="0" dirty="0">
                <a:latin typeface="Arial Narrow"/>
              </a:rPr>
              <a:t>.</a:t>
            </a:r>
          </a:p>
          <a:p>
            <a:pPr marL="180975" indent="-180975">
              <a:spcAft>
                <a:spcPts val="300"/>
              </a:spcAft>
              <a:buFont typeface="Arial"/>
              <a:buChar char="•"/>
            </a:pPr>
            <a:r>
              <a:rPr sz="1300" b="0" i="0" dirty="0" err="1">
                <a:latin typeface="Arial Narrow"/>
              </a:rPr>
              <a:t>Avsluta</a:t>
            </a:r>
            <a:r>
              <a:rPr sz="1300" b="0" i="0" dirty="0">
                <a:latin typeface="Arial Narrow"/>
              </a:rPr>
              <a:t> </a:t>
            </a:r>
            <a:r>
              <a:rPr sz="1300" b="0" i="0" dirty="0" err="1">
                <a:latin typeface="Arial Narrow"/>
              </a:rPr>
              <a:t>användare</a:t>
            </a:r>
            <a:r>
              <a:rPr sz="1300" b="0" i="0" dirty="0">
                <a:latin typeface="Arial Narrow"/>
              </a:rPr>
              <a:t> och </a:t>
            </a:r>
            <a:r>
              <a:rPr sz="1300" b="0" i="0" dirty="0" err="1">
                <a:latin typeface="Arial Narrow"/>
              </a:rPr>
              <a:t>behörigheter</a:t>
            </a:r>
            <a:r>
              <a:rPr sz="1300" b="0" i="0" dirty="0">
                <a:latin typeface="Arial Narrow"/>
              </a:rPr>
              <a:t> </a:t>
            </a:r>
            <a:r>
              <a:rPr sz="1300" b="0" i="0" dirty="0" err="1">
                <a:latin typeface="Arial Narrow"/>
              </a:rPr>
              <a:t>i</a:t>
            </a:r>
            <a:r>
              <a:rPr sz="1300" b="0" i="0" dirty="0">
                <a:latin typeface="Arial Narrow"/>
              </a:rPr>
              <a:t> system </a:t>
            </a:r>
            <a:r>
              <a:rPr sz="1300" b="0" i="0" dirty="0" err="1">
                <a:latin typeface="Arial Narrow"/>
              </a:rPr>
              <a:t>som</a:t>
            </a:r>
            <a:r>
              <a:rPr sz="1300" b="0" i="0" dirty="0">
                <a:latin typeface="Arial Narrow"/>
              </a:rPr>
              <a:t> </a:t>
            </a:r>
            <a:r>
              <a:rPr sz="1300" b="0" i="0" dirty="0" err="1">
                <a:latin typeface="Arial Narrow"/>
              </a:rPr>
              <a:t>fördelas</a:t>
            </a:r>
            <a:r>
              <a:rPr sz="1300" b="0" i="0" dirty="0">
                <a:latin typeface="Arial Narrow"/>
              </a:rPr>
              <a:t> </a:t>
            </a:r>
            <a:r>
              <a:rPr sz="1300" b="0" i="0" dirty="0" err="1">
                <a:latin typeface="Arial Narrow"/>
              </a:rPr>
              <a:t>på</a:t>
            </a:r>
            <a:r>
              <a:rPr sz="1300" b="0" i="0" dirty="0">
                <a:latin typeface="Arial Narrow"/>
              </a:rPr>
              <a:t> </a:t>
            </a:r>
            <a:r>
              <a:rPr sz="1300" b="0" i="0" dirty="0" err="1">
                <a:latin typeface="Arial Narrow"/>
              </a:rPr>
              <a:t>antal</a:t>
            </a:r>
            <a:r>
              <a:rPr sz="1300" b="0" i="0" dirty="0">
                <a:latin typeface="Arial Narrow"/>
              </a:rPr>
              <a:t> </a:t>
            </a:r>
            <a:r>
              <a:rPr sz="1300" b="0" i="0" dirty="0" err="1">
                <a:latin typeface="Arial Narrow"/>
              </a:rPr>
              <a:t>användare</a:t>
            </a:r>
            <a:r>
              <a:rPr sz="1300" b="0" i="0" dirty="0">
                <a:latin typeface="Arial Narrow"/>
              </a:rPr>
              <a:t>.</a:t>
            </a:r>
          </a:p>
          <a:p>
            <a:pPr marL="180975" indent="-180975">
              <a:spcAft>
                <a:spcPts val="300"/>
              </a:spcAft>
              <a:buFont typeface="Arial"/>
              <a:buChar char="•"/>
            </a:pPr>
            <a:r>
              <a:rPr sz="1300" b="0" i="0" dirty="0" err="1">
                <a:latin typeface="Arial Narrow"/>
              </a:rPr>
              <a:t>Håll</a:t>
            </a:r>
            <a:r>
              <a:rPr sz="1300" b="0" i="0" dirty="0">
                <a:latin typeface="Arial Narrow"/>
              </a:rPr>
              <a:t> </a:t>
            </a:r>
            <a:r>
              <a:rPr sz="1300" b="0" i="0" dirty="0" err="1">
                <a:latin typeface="Arial Narrow"/>
              </a:rPr>
              <a:t>nere</a:t>
            </a:r>
            <a:r>
              <a:rPr sz="1300" b="0" i="0" dirty="0">
                <a:latin typeface="Arial Narrow"/>
              </a:rPr>
              <a:t> </a:t>
            </a:r>
            <a:r>
              <a:rPr sz="1300" b="0" i="0" dirty="0" err="1">
                <a:latin typeface="Arial Narrow"/>
              </a:rPr>
              <a:t>antalet</a:t>
            </a:r>
            <a:r>
              <a:rPr sz="1300" b="0" i="0" dirty="0">
                <a:latin typeface="Arial Narrow"/>
              </a:rPr>
              <a:t> </a:t>
            </a:r>
            <a:r>
              <a:rPr sz="1300" b="0" i="0" dirty="0" err="1">
                <a:latin typeface="Arial Narrow"/>
              </a:rPr>
              <a:t>transaktioner</a:t>
            </a:r>
            <a:r>
              <a:rPr sz="1300" b="0" i="0" dirty="0">
                <a:latin typeface="Arial Narrow"/>
              </a:rPr>
              <a:t> </a:t>
            </a:r>
            <a:r>
              <a:rPr sz="1300" b="0" i="0" dirty="0" err="1">
                <a:latin typeface="Arial Narrow"/>
              </a:rPr>
              <a:t>där</a:t>
            </a:r>
            <a:r>
              <a:rPr sz="1300" b="0" i="0" dirty="0">
                <a:latin typeface="Arial Narrow"/>
              </a:rPr>
              <a:t> de </a:t>
            </a:r>
            <a:r>
              <a:rPr sz="1300" b="0" i="0" dirty="0" err="1">
                <a:latin typeface="Arial Narrow"/>
              </a:rPr>
              <a:t>styr</a:t>
            </a:r>
            <a:r>
              <a:rPr sz="1300" b="0" i="0" dirty="0">
                <a:latin typeface="Arial Narrow"/>
              </a:rPr>
              <a:t> </a:t>
            </a:r>
            <a:r>
              <a:rPr sz="1300" b="0" i="0" dirty="0" err="1">
                <a:latin typeface="Arial Narrow"/>
              </a:rPr>
              <a:t>fördelningen</a:t>
            </a:r>
            <a:r>
              <a:rPr sz="1300" b="0" i="0" dirty="0">
                <a:latin typeface="Arial Narrow"/>
              </a:rPr>
              <a:t>.</a:t>
            </a:r>
          </a:p>
        </p:txBody>
      </p:sp>
      <p:sp>
        <p:nvSpPr>
          <p:cNvPr id="5" name="Rectangle 4"/>
          <p:cNvSpPr/>
          <p:nvPr/>
        </p:nvSpPr>
        <p:spPr>
          <a:xfrm>
            <a:off x="6163056" y="1325880"/>
            <a:ext cx="5376672"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345936" y="1444752"/>
            <a:ext cx="5029200" cy="1292662"/>
          </a:xfrm>
          <a:prstGeom prst="rect">
            <a:avLst/>
          </a:prstGeom>
          <a:noFill/>
        </p:spPr>
        <p:txBody>
          <a:bodyPr wrap="square">
            <a:spAutoFit/>
          </a:bodyPr>
          <a:lstStyle/>
          <a:p>
            <a:pPr>
              <a:spcAft>
                <a:spcPts val="600"/>
              </a:spcAft>
            </a:pPr>
            <a:r>
              <a:rPr sz="1600" b="1" i="0" dirty="0" err="1">
                <a:latin typeface="Arial Narrow"/>
              </a:rPr>
              <a:t>Objektets</a:t>
            </a:r>
            <a:r>
              <a:rPr sz="1600" b="1" i="0" dirty="0">
                <a:latin typeface="Arial Narrow"/>
              </a:rPr>
              <a:t> </a:t>
            </a:r>
            <a:r>
              <a:rPr sz="1600" b="1" i="0" dirty="0" err="1">
                <a:latin typeface="Arial Narrow"/>
              </a:rPr>
              <a:t>totalkostnad</a:t>
            </a:r>
            <a:r>
              <a:rPr sz="1600" b="1" i="0" dirty="0">
                <a:latin typeface="Arial Narrow"/>
              </a:rPr>
              <a:t> – det </a:t>
            </a:r>
            <a:r>
              <a:rPr sz="1600" b="1" i="0" dirty="0" err="1">
                <a:latin typeface="Arial Narrow"/>
              </a:rPr>
              <a:t>som</a:t>
            </a:r>
            <a:r>
              <a:rPr sz="1600" b="1" i="0" dirty="0">
                <a:latin typeface="Arial Narrow"/>
              </a:rPr>
              <a:t> </a:t>
            </a:r>
            <a:r>
              <a:rPr sz="1600" b="1" i="0" dirty="0" err="1">
                <a:latin typeface="Arial Narrow"/>
              </a:rPr>
              <a:t>påverkas</a:t>
            </a:r>
            <a:r>
              <a:rPr sz="1600" b="1" i="0" dirty="0">
                <a:latin typeface="Arial Narrow"/>
              </a:rPr>
              <a:t> </a:t>
            </a:r>
            <a:r>
              <a:rPr sz="1600" b="1" i="0" dirty="0" err="1">
                <a:latin typeface="Arial Narrow"/>
              </a:rPr>
              <a:t>gemensamt</a:t>
            </a:r>
            <a:endParaRPr sz="1600" b="1" i="0" dirty="0">
              <a:latin typeface="Arial Narrow"/>
            </a:endParaRPr>
          </a:p>
          <a:p>
            <a:pPr marL="180975" indent="-180975">
              <a:spcAft>
                <a:spcPts val="300"/>
              </a:spcAft>
              <a:buFont typeface="Arial"/>
              <a:buChar char="•"/>
            </a:pPr>
            <a:r>
              <a:rPr sz="1300" b="0" i="0" dirty="0" err="1">
                <a:latin typeface="Arial Narrow"/>
              </a:rPr>
              <a:t>Styrs</a:t>
            </a:r>
            <a:r>
              <a:rPr sz="1300" b="0" i="0" dirty="0">
                <a:latin typeface="Arial Narrow"/>
              </a:rPr>
              <a:t> av </a:t>
            </a:r>
            <a:r>
              <a:rPr sz="1300" b="0" i="0" dirty="0" err="1">
                <a:latin typeface="Arial Narrow"/>
              </a:rPr>
              <a:t>avtal</a:t>
            </a:r>
            <a:r>
              <a:rPr sz="1300" b="0" i="0" dirty="0">
                <a:latin typeface="Arial Narrow"/>
              </a:rPr>
              <a:t>, </a:t>
            </a:r>
            <a:r>
              <a:rPr sz="1300" b="0" i="0" dirty="0" err="1">
                <a:latin typeface="Arial Narrow"/>
              </a:rPr>
              <a:t>leverantörspriser</a:t>
            </a:r>
            <a:r>
              <a:rPr sz="1300" b="0" i="0" dirty="0">
                <a:latin typeface="Arial Narrow"/>
              </a:rPr>
              <a:t> och </a:t>
            </a:r>
            <a:r>
              <a:rPr sz="1300" b="0" i="0" dirty="0" err="1">
                <a:latin typeface="Arial Narrow"/>
              </a:rPr>
              <a:t>vilka</a:t>
            </a:r>
            <a:r>
              <a:rPr sz="1300" b="0" i="0" dirty="0">
                <a:latin typeface="Arial Narrow"/>
              </a:rPr>
              <a:t> </a:t>
            </a:r>
            <a:r>
              <a:rPr sz="1300" b="0" i="0" dirty="0" err="1">
                <a:latin typeface="Arial Narrow"/>
              </a:rPr>
              <a:t>tjänster</a:t>
            </a:r>
            <a:r>
              <a:rPr sz="1300" b="0" i="0" dirty="0">
                <a:latin typeface="Arial Narrow"/>
              </a:rPr>
              <a:t> </a:t>
            </a:r>
            <a:r>
              <a:rPr sz="1300" b="0" i="0" dirty="0" err="1">
                <a:latin typeface="Arial Narrow"/>
              </a:rPr>
              <a:t>staden</a:t>
            </a:r>
            <a:r>
              <a:rPr sz="1300" b="0" i="0" dirty="0">
                <a:latin typeface="Arial Narrow"/>
              </a:rPr>
              <a:t> </a:t>
            </a:r>
            <a:r>
              <a:rPr sz="1300" b="0" i="0" dirty="0" err="1">
                <a:latin typeface="Arial Narrow"/>
              </a:rPr>
              <a:t>gemensamt</a:t>
            </a:r>
            <a:r>
              <a:rPr sz="1300" b="0" i="0" dirty="0">
                <a:latin typeface="Arial Narrow"/>
              </a:rPr>
              <a:t> </a:t>
            </a:r>
            <a:r>
              <a:rPr sz="1300" b="0" i="0" dirty="0" err="1">
                <a:latin typeface="Arial Narrow"/>
              </a:rPr>
              <a:t>väljer</a:t>
            </a:r>
            <a:r>
              <a:rPr sz="1300" b="0" i="0" dirty="0">
                <a:latin typeface="Arial Narrow"/>
              </a:rPr>
              <a:t>.</a:t>
            </a:r>
          </a:p>
          <a:p>
            <a:pPr marL="180975" indent="-180975">
              <a:spcAft>
                <a:spcPts val="300"/>
              </a:spcAft>
              <a:buFont typeface="Arial"/>
              <a:buChar char="•"/>
            </a:pPr>
            <a:r>
              <a:rPr sz="1300" b="0" i="0" dirty="0" err="1">
                <a:latin typeface="Arial Narrow"/>
              </a:rPr>
              <a:t>Lämna</a:t>
            </a:r>
            <a:r>
              <a:rPr sz="1300" b="0" i="0" dirty="0">
                <a:latin typeface="Arial Narrow"/>
              </a:rPr>
              <a:t> </a:t>
            </a:r>
            <a:r>
              <a:rPr sz="1300" b="0" i="0" dirty="0" err="1">
                <a:latin typeface="Arial Narrow"/>
              </a:rPr>
              <a:t>behov</a:t>
            </a:r>
            <a:r>
              <a:rPr sz="1300" b="0" i="0" dirty="0">
                <a:latin typeface="Arial Narrow"/>
              </a:rPr>
              <a:t> och </a:t>
            </a:r>
            <a:r>
              <a:rPr lang="sv-SE" sz="1300" b="0" i="0" dirty="0">
                <a:latin typeface="Arial Narrow"/>
              </a:rPr>
              <a:t>önskemål </a:t>
            </a:r>
            <a:r>
              <a:rPr sz="1300" b="0" i="0" dirty="0" err="1">
                <a:latin typeface="Arial Narrow"/>
              </a:rPr>
              <a:t>i</a:t>
            </a:r>
            <a:r>
              <a:rPr sz="1300" b="0" i="0" dirty="0">
                <a:latin typeface="Arial Narrow"/>
              </a:rPr>
              <a:t> </a:t>
            </a:r>
            <a:r>
              <a:rPr lang="sv-SE" sz="1300" b="0" i="0" dirty="0">
                <a:latin typeface="Arial Narrow"/>
              </a:rPr>
              <a:t>objektens olika </a:t>
            </a:r>
            <a:r>
              <a:rPr lang="sv-SE" sz="1300" b="0" i="0" dirty="0" err="1">
                <a:latin typeface="Arial Narrow"/>
              </a:rPr>
              <a:t>samverkansforum</a:t>
            </a:r>
            <a:r>
              <a:rPr sz="1300" b="0" i="0" dirty="0">
                <a:latin typeface="Arial Narrow"/>
              </a:rPr>
              <a:t>.</a:t>
            </a:r>
          </a:p>
          <a:p>
            <a:pPr marL="180975" indent="-180975">
              <a:spcAft>
                <a:spcPts val="300"/>
              </a:spcAft>
              <a:buFont typeface="Arial"/>
              <a:buChar char="•"/>
            </a:pPr>
            <a:r>
              <a:rPr sz="1300" b="0" i="0" dirty="0" err="1">
                <a:latin typeface="Arial Narrow"/>
              </a:rPr>
              <a:t>Använd</a:t>
            </a:r>
            <a:r>
              <a:rPr sz="1300" b="0" i="0" dirty="0">
                <a:latin typeface="Arial Narrow"/>
              </a:rPr>
              <a:t> </a:t>
            </a:r>
            <a:r>
              <a:rPr sz="1300" b="0" i="0" dirty="0" err="1">
                <a:latin typeface="Arial Narrow"/>
              </a:rPr>
              <a:t>stadens</a:t>
            </a:r>
            <a:r>
              <a:rPr sz="1300" b="0" i="0" dirty="0">
                <a:latin typeface="Arial Narrow"/>
              </a:rPr>
              <a:t> </a:t>
            </a:r>
            <a:r>
              <a:rPr sz="1300" b="0" i="0" dirty="0" err="1">
                <a:latin typeface="Arial Narrow"/>
              </a:rPr>
              <a:t>gemensamma</a:t>
            </a:r>
            <a:r>
              <a:rPr sz="1300" b="0" i="0" dirty="0">
                <a:latin typeface="Arial Narrow"/>
              </a:rPr>
              <a:t> </a:t>
            </a:r>
            <a:r>
              <a:rPr sz="1300" b="0" i="0" dirty="0" err="1">
                <a:latin typeface="Arial Narrow"/>
              </a:rPr>
              <a:t>plattformar</a:t>
            </a:r>
            <a:r>
              <a:rPr sz="1300" b="0" i="0" dirty="0">
                <a:latin typeface="Arial Narrow"/>
              </a:rPr>
              <a:t> </a:t>
            </a:r>
            <a:r>
              <a:rPr sz="1300" b="0" i="0" dirty="0" err="1">
                <a:latin typeface="Arial Narrow"/>
              </a:rPr>
              <a:t>i</a:t>
            </a:r>
            <a:r>
              <a:rPr sz="1300" b="0" i="0" dirty="0">
                <a:latin typeface="Arial Narrow"/>
              </a:rPr>
              <a:t> </a:t>
            </a:r>
            <a:r>
              <a:rPr sz="1300" b="0" i="0" dirty="0" err="1">
                <a:latin typeface="Arial Narrow"/>
              </a:rPr>
              <a:t>stället</a:t>
            </a:r>
            <a:r>
              <a:rPr sz="1300" b="0" i="0" dirty="0">
                <a:latin typeface="Arial Narrow"/>
              </a:rPr>
              <a:t> för </a:t>
            </a:r>
            <a:r>
              <a:rPr sz="1300" b="0" i="0" dirty="0" err="1">
                <a:latin typeface="Arial Narrow"/>
              </a:rPr>
              <a:t>egna</a:t>
            </a:r>
            <a:r>
              <a:rPr sz="1300" b="0" i="0" dirty="0">
                <a:latin typeface="Arial Narrow"/>
              </a:rPr>
              <a:t> </a:t>
            </a:r>
            <a:r>
              <a:rPr sz="1300" b="0" i="0" dirty="0" err="1">
                <a:latin typeface="Arial Narrow"/>
              </a:rPr>
              <a:t>parallella</a:t>
            </a:r>
            <a:r>
              <a:rPr sz="1300" b="0" i="0" dirty="0">
                <a:latin typeface="Arial Narrow"/>
              </a:rPr>
              <a:t> </a:t>
            </a:r>
            <a:r>
              <a:rPr sz="1300" b="0" i="0" dirty="0" err="1">
                <a:latin typeface="Arial Narrow"/>
              </a:rPr>
              <a:t>lösningar</a:t>
            </a:r>
            <a:r>
              <a:rPr sz="1300" b="0" i="0" dirty="0">
                <a:latin typeface="Arial Narrow"/>
              </a:rPr>
              <a:t>.</a:t>
            </a:r>
          </a:p>
        </p:txBody>
      </p:sp>
      <p:sp>
        <p:nvSpPr>
          <p:cNvPr id="8" name="TextBox 7"/>
          <p:cNvSpPr txBox="1"/>
          <p:nvPr/>
        </p:nvSpPr>
        <p:spPr>
          <a:xfrm>
            <a:off x="612648" y="3737600"/>
            <a:ext cx="10881360" cy="338554"/>
          </a:xfrm>
          <a:prstGeom prst="rect">
            <a:avLst/>
          </a:prstGeom>
          <a:noFill/>
        </p:spPr>
        <p:txBody>
          <a:bodyPr wrap="square">
            <a:spAutoFit/>
          </a:bodyPr>
          <a:lstStyle/>
          <a:p>
            <a:r>
              <a:rPr sz="1600" b="1" i="0" dirty="0" err="1">
                <a:latin typeface="Arial Narrow"/>
              </a:rPr>
              <a:t>Att</a:t>
            </a:r>
            <a:r>
              <a:rPr sz="1600" b="1" i="0" dirty="0">
                <a:latin typeface="Arial Narrow"/>
              </a:rPr>
              <a:t> </a:t>
            </a:r>
            <a:r>
              <a:rPr sz="1600" b="1" i="0" dirty="0" err="1">
                <a:latin typeface="Arial Narrow"/>
              </a:rPr>
              <a:t>göra</a:t>
            </a:r>
            <a:r>
              <a:rPr sz="1600" b="1" i="0" dirty="0">
                <a:latin typeface="Arial Narrow"/>
              </a:rPr>
              <a:t> </a:t>
            </a:r>
            <a:r>
              <a:rPr sz="1600" b="1" i="0" dirty="0" err="1">
                <a:latin typeface="Arial Narrow"/>
              </a:rPr>
              <a:t>före</a:t>
            </a:r>
            <a:r>
              <a:rPr sz="1600" b="1" i="0" dirty="0">
                <a:latin typeface="Arial Narrow"/>
              </a:rPr>
              <a:t> </a:t>
            </a:r>
            <a:r>
              <a:rPr sz="1600" b="1" i="0" dirty="0" err="1">
                <a:latin typeface="Arial Narrow"/>
              </a:rPr>
              <a:t>mätdatum</a:t>
            </a:r>
            <a:endParaRPr sz="1600" b="1" i="0" dirty="0">
              <a:highlight>
                <a:srgbClr val="FFFF00"/>
              </a:highlight>
              <a:latin typeface="Arial Narrow"/>
            </a:endParaRPr>
          </a:p>
        </p:txBody>
      </p:sp>
      <p:sp>
        <p:nvSpPr>
          <p:cNvPr id="9" name="Rectangle 8"/>
          <p:cNvSpPr/>
          <p:nvPr/>
        </p:nvSpPr>
        <p:spPr>
          <a:xfrm>
            <a:off x="612648" y="4149080"/>
            <a:ext cx="2633472"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749808" y="4258808"/>
            <a:ext cx="384048" cy="384048"/>
          </a:xfrm>
          <a:prstGeom prst="ellipse">
            <a:avLst/>
          </a:prstGeom>
          <a:solidFill>
            <a:srgbClr val="A85AD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Narrow"/>
              </a:rPr>
              <a:t>1</a:t>
            </a:r>
          </a:p>
        </p:txBody>
      </p:sp>
      <p:sp>
        <p:nvSpPr>
          <p:cNvPr id="11" name="TextBox 10"/>
          <p:cNvSpPr txBox="1"/>
          <p:nvPr/>
        </p:nvSpPr>
        <p:spPr>
          <a:xfrm>
            <a:off x="1179576" y="4240520"/>
            <a:ext cx="2011680" cy="457200"/>
          </a:xfrm>
          <a:prstGeom prst="rect">
            <a:avLst/>
          </a:prstGeom>
          <a:noFill/>
        </p:spPr>
        <p:txBody>
          <a:bodyPr wrap="square" anchor="ctr">
            <a:spAutoFit/>
          </a:bodyPr>
          <a:lstStyle/>
          <a:p>
            <a:r>
              <a:rPr sz="1300" b="1" i="0">
                <a:latin typeface="Arial Narrow"/>
              </a:rPr>
              <a:t>Inventera konton och datorer</a:t>
            </a:r>
          </a:p>
        </p:txBody>
      </p:sp>
      <p:sp>
        <p:nvSpPr>
          <p:cNvPr id="12" name="TextBox 11"/>
          <p:cNvSpPr txBox="1"/>
          <p:nvPr/>
        </p:nvSpPr>
        <p:spPr>
          <a:xfrm>
            <a:off x="722376" y="4716008"/>
            <a:ext cx="2450592" cy="960120"/>
          </a:xfrm>
          <a:prstGeom prst="rect">
            <a:avLst/>
          </a:prstGeom>
          <a:noFill/>
        </p:spPr>
        <p:txBody>
          <a:bodyPr wrap="square">
            <a:spAutoFit/>
          </a:bodyPr>
          <a:lstStyle/>
          <a:p>
            <a:r>
              <a:rPr sz="1100" b="0" i="0">
                <a:latin typeface="Arial Narrow"/>
              </a:rPr>
              <a:t>Avsluta konton för medarbetare som slutat och avveckla datorer som inte används.</a:t>
            </a:r>
          </a:p>
        </p:txBody>
      </p:sp>
      <p:sp>
        <p:nvSpPr>
          <p:cNvPr id="13" name="Rectangle 12"/>
          <p:cNvSpPr/>
          <p:nvPr/>
        </p:nvSpPr>
        <p:spPr>
          <a:xfrm>
            <a:off x="3383279" y="4149080"/>
            <a:ext cx="2633472"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3520439" y="4258808"/>
            <a:ext cx="384048" cy="384048"/>
          </a:xfrm>
          <a:prstGeom prst="ellipse">
            <a:avLst/>
          </a:prstGeom>
          <a:solidFill>
            <a:srgbClr val="A85AD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Narrow"/>
              </a:rPr>
              <a:t>2</a:t>
            </a:r>
          </a:p>
        </p:txBody>
      </p:sp>
      <p:sp>
        <p:nvSpPr>
          <p:cNvPr id="15" name="TextBox 14"/>
          <p:cNvSpPr txBox="1"/>
          <p:nvPr/>
        </p:nvSpPr>
        <p:spPr>
          <a:xfrm>
            <a:off x="3950207" y="4240520"/>
            <a:ext cx="2011680" cy="457200"/>
          </a:xfrm>
          <a:prstGeom prst="rect">
            <a:avLst/>
          </a:prstGeom>
          <a:noFill/>
        </p:spPr>
        <p:txBody>
          <a:bodyPr wrap="square" anchor="ctr">
            <a:spAutoFit/>
          </a:bodyPr>
          <a:lstStyle/>
          <a:p>
            <a:r>
              <a:rPr sz="1300" b="1" i="0">
                <a:latin typeface="Arial Narrow"/>
              </a:rPr>
              <a:t>Rensa användare i systemen</a:t>
            </a:r>
          </a:p>
        </p:txBody>
      </p:sp>
      <p:sp>
        <p:nvSpPr>
          <p:cNvPr id="16" name="TextBox 15"/>
          <p:cNvSpPr txBox="1"/>
          <p:nvPr/>
        </p:nvSpPr>
        <p:spPr>
          <a:xfrm>
            <a:off x="3493008" y="4716008"/>
            <a:ext cx="2450592" cy="261610"/>
          </a:xfrm>
          <a:prstGeom prst="rect">
            <a:avLst/>
          </a:prstGeom>
          <a:noFill/>
        </p:spPr>
        <p:txBody>
          <a:bodyPr wrap="square">
            <a:spAutoFit/>
          </a:bodyPr>
          <a:lstStyle/>
          <a:p>
            <a:r>
              <a:rPr sz="1100" b="0" i="0" dirty="0">
                <a:latin typeface="Arial Narrow"/>
              </a:rPr>
              <a:t>Se </a:t>
            </a:r>
            <a:r>
              <a:rPr sz="1100" b="0" i="0" dirty="0" err="1">
                <a:latin typeface="Arial Narrow"/>
              </a:rPr>
              <a:t>över</a:t>
            </a:r>
            <a:r>
              <a:rPr sz="1100" b="0" i="0" dirty="0">
                <a:latin typeface="Arial Narrow"/>
              </a:rPr>
              <a:t> </a:t>
            </a:r>
            <a:r>
              <a:rPr sz="1100" b="0" i="0" dirty="0" err="1">
                <a:latin typeface="Arial Narrow"/>
              </a:rPr>
              <a:t>användare</a:t>
            </a:r>
            <a:r>
              <a:rPr sz="1100" b="0" i="0" dirty="0">
                <a:latin typeface="Arial Narrow"/>
              </a:rPr>
              <a:t> och </a:t>
            </a:r>
            <a:r>
              <a:rPr sz="1100" b="0" i="0" dirty="0" err="1">
                <a:latin typeface="Arial Narrow"/>
              </a:rPr>
              <a:t>behörigheter</a:t>
            </a:r>
            <a:r>
              <a:rPr sz="1100" b="0" i="0" dirty="0">
                <a:latin typeface="Arial Narrow"/>
              </a:rPr>
              <a:t>.</a:t>
            </a:r>
          </a:p>
        </p:txBody>
      </p:sp>
      <p:sp>
        <p:nvSpPr>
          <p:cNvPr id="17" name="Rectangle 16"/>
          <p:cNvSpPr/>
          <p:nvPr/>
        </p:nvSpPr>
        <p:spPr>
          <a:xfrm>
            <a:off x="6153912" y="4149080"/>
            <a:ext cx="2633472"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291072" y="4258808"/>
            <a:ext cx="384048" cy="384048"/>
          </a:xfrm>
          <a:prstGeom prst="ellipse">
            <a:avLst/>
          </a:prstGeom>
          <a:solidFill>
            <a:srgbClr val="A85AD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Narrow"/>
              </a:rPr>
              <a:t>3</a:t>
            </a:r>
          </a:p>
        </p:txBody>
      </p:sp>
      <p:sp>
        <p:nvSpPr>
          <p:cNvPr id="19" name="TextBox 18"/>
          <p:cNvSpPr txBox="1"/>
          <p:nvPr/>
        </p:nvSpPr>
        <p:spPr>
          <a:xfrm>
            <a:off x="6720840" y="4322926"/>
            <a:ext cx="2011680" cy="292388"/>
          </a:xfrm>
          <a:prstGeom prst="rect">
            <a:avLst/>
          </a:prstGeom>
          <a:noFill/>
        </p:spPr>
        <p:txBody>
          <a:bodyPr wrap="square" anchor="ctr">
            <a:spAutoFit/>
          </a:bodyPr>
          <a:lstStyle/>
          <a:p>
            <a:r>
              <a:rPr lang="sv-SE" sz="1300" b="1" i="0" dirty="0">
                <a:latin typeface="Arial Narrow"/>
              </a:rPr>
              <a:t>Gör det till en rutin</a:t>
            </a:r>
          </a:p>
        </p:txBody>
      </p:sp>
      <p:sp>
        <p:nvSpPr>
          <p:cNvPr id="25" name="TextBox 23">
            <a:extLst>
              <a:ext uri="{FF2B5EF4-FFF2-40B4-BE49-F238E27FC236}">
                <a16:creationId xmlns:a16="http://schemas.microsoft.com/office/drawing/2014/main" id="{CDC5FF4A-A7C6-FB08-719E-63E143C804A0}"/>
              </a:ext>
            </a:extLst>
          </p:cNvPr>
          <p:cNvSpPr txBox="1"/>
          <p:nvPr/>
        </p:nvSpPr>
        <p:spPr>
          <a:xfrm>
            <a:off x="6245352" y="4716008"/>
            <a:ext cx="2450592" cy="960120"/>
          </a:xfrm>
          <a:prstGeom prst="rect">
            <a:avLst/>
          </a:prstGeom>
          <a:noFill/>
        </p:spPr>
        <p:txBody>
          <a:bodyPr wrap="square">
            <a:spAutoFit/>
          </a:bodyPr>
          <a:lstStyle/>
          <a:p>
            <a:r>
              <a:rPr sz="1100" b="0" i="0" dirty="0" err="1">
                <a:latin typeface="Arial Narrow"/>
              </a:rPr>
              <a:t>Avsluta</a:t>
            </a:r>
            <a:r>
              <a:rPr sz="1100" b="0" i="0" dirty="0">
                <a:latin typeface="Arial Narrow"/>
              </a:rPr>
              <a:t> </a:t>
            </a:r>
            <a:r>
              <a:rPr sz="1100" b="0" i="0" dirty="0" err="1">
                <a:latin typeface="Arial Narrow"/>
              </a:rPr>
              <a:t>konton</a:t>
            </a:r>
            <a:r>
              <a:rPr sz="1100" b="0" i="0" dirty="0">
                <a:latin typeface="Arial Narrow"/>
              </a:rPr>
              <a:t> och licenser vid </a:t>
            </a:r>
            <a:r>
              <a:rPr sz="1100" b="0" i="0" dirty="0" err="1">
                <a:latin typeface="Arial Narrow"/>
              </a:rPr>
              <a:t>avslutad</a:t>
            </a:r>
            <a:r>
              <a:rPr sz="1100" b="0" i="0" dirty="0">
                <a:latin typeface="Arial Narrow"/>
              </a:rPr>
              <a:t> </a:t>
            </a:r>
            <a:r>
              <a:rPr sz="1100" b="0" i="0" dirty="0" err="1">
                <a:latin typeface="Arial Narrow"/>
              </a:rPr>
              <a:t>anställning</a:t>
            </a:r>
            <a:r>
              <a:rPr sz="1100" b="0" i="0" dirty="0">
                <a:latin typeface="Arial Narrow"/>
              </a:rPr>
              <a:t>, </a:t>
            </a:r>
            <a:r>
              <a:rPr sz="1100" b="0" i="0" dirty="0" err="1">
                <a:latin typeface="Arial Narrow"/>
              </a:rPr>
              <a:t>rollbyte</a:t>
            </a:r>
            <a:r>
              <a:rPr sz="1100" b="0" i="0" dirty="0">
                <a:latin typeface="Arial Narrow"/>
              </a:rPr>
              <a:t> och </a:t>
            </a:r>
            <a:r>
              <a:rPr sz="1100" b="0" i="0" dirty="0" err="1">
                <a:latin typeface="Arial Narrow"/>
              </a:rPr>
              <a:t>omorganisation</a:t>
            </a:r>
            <a:r>
              <a:rPr sz="1100" b="0" i="0" dirty="0">
                <a:latin typeface="Arial Narrow"/>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2B779BC-3ADA-4E8A-88DF-A95F15B1146B}"/>
              </a:ext>
            </a:extLst>
          </p:cNvPr>
          <p:cNvSpPr>
            <a:spLocks noGrp="1"/>
          </p:cNvSpPr>
          <p:nvPr>
            <p:ph type="ctrTitle"/>
          </p:nvPr>
        </p:nvSpPr>
        <p:spPr/>
        <p:txBody>
          <a:bodyPr/>
          <a:lstStyle/>
          <a:p>
            <a:r>
              <a:rPr lang="sv-SE" dirty="0"/>
              <a:t>Information om objekten i IT-prislistan</a:t>
            </a:r>
            <a:br>
              <a:rPr lang="sv-SE" dirty="0"/>
            </a:br>
            <a:r>
              <a:rPr lang="sv-SE" sz="2000" b="0" i="1" dirty="0"/>
              <a:t>Objekt från A* till C*</a:t>
            </a:r>
            <a:endParaRPr lang="sv-SE" b="0" i="1" dirty="0"/>
          </a:p>
        </p:txBody>
      </p:sp>
      <p:graphicFrame>
        <p:nvGraphicFramePr>
          <p:cNvPr id="4" name="Tabell 3">
            <a:extLst>
              <a:ext uri="{FF2B5EF4-FFF2-40B4-BE49-F238E27FC236}">
                <a16:creationId xmlns:a16="http://schemas.microsoft.com/office/drawing/2014/main" id="{A6D9FE83-9756-4CBA-9614-41231EC94757}"/>
              </a:ext>
            </a:extLst>
          </p:cNvPr>
          <p:cNvGraphicFramePr>
            <a:graphicFrameLocks noGrp="1"/>
          </p:cNvGraphicFramePr>
          <p:nvPr>
            <p:extLst>
              <p:ext uri="{D42A27DB-BD31-4B8C-83A1-F6EECF244321}">
                <p14:modId xmlns:p14="http://schemas.microsoft.com/office/powerpoint/2010/main" val="3493397667"/>
              </p:ext>
            </p:extLst>
          </p:nvPr>
        </p:nvGraphicFramePr>
        <p:xfrm>
          <a:off x="589286" y="1288800"/>
          <a:ext cx="11339361" cy="5197380"/>
        </p:xfrm>
        <a:graphic>
          <a:graphicData uri="http://schemas.openxmlformats.org/drawingml/2006/table">
            <a:tbl>
              <a:tblPr/>
              <a:tblGrid>
                <a:gridCol w="1130659">
                  <a:extLst>
                    <a:ext uri="{9D8B030D-6E8A-4147-A177-3AD203B41FA5}">
                      <a16:colId xmlns:a16="http://schemas.microsoft.com/office/drawing/2014/main" val="537654599"/>
                    </a:ext>
                  </a:extLst>
                </a:gridCol>
                <a:gridCol w="2647863">
                  <a:extLst>
                    <a:ext uri="{9D8B030D-6E8A-4147-A177-3AD203B41FA5}">
                      <a16:colId xmlns:a16="http://schemas.microsoft.com/office/drawing/2014/main" val="1496594787"/>
                    </a:ext>
                  </a:extLst>
                </a:gridCol>
                <a:gridCol w="1872208">
                  <a:extLst>
                    <a:ext uri="{9D8B030D-6E8A-4147-A177-3AD203B41FA5}">
                      <a16:colId xmlns:a16="http://schemas.microsoft.com/office/drawing/2014/main" val="958800717"/>
                    </a:ext>
                  </a:extLst>
                </a:gridCol>
                <a:gridCol w="521207">
                  <a:extLst>
                    <a:ext uri="{9D8B030D-6E8A-4147-A177-3AD203B41FA5}">
                      <a16:colId xmlns:a16="http://schemas.microsoft.com/office/drawing/2014/main" val="3344967881"/>
                    </a:ext>
                  </a:extLst>
                </a:gridCol>
                <a:gridCol w="582412">
                  <a:extLst>
                    <a:ext uri="{9D8B030D-6E8A-4147-A177-3AD203B41FA5}">
                      <a16:colId xmlns:a16="http://schemas.microsoft.com/office/drawing/2014/main" val="2311376213"/>
                    </a:ext>
                  </a:extLst>
                </a:gridCol>
                <a:gridCol w="613014">
                  <a:extLst>
                    <a:ext uri="{9D8B030D-6E8A-4147-A177-3AD203B41FA5}">
                      <a16:colId xmlns:a16="http://schemas.microsoft.com/office/drawing/2014/main" val="265500309"/>
                    </a:ext>
                  </a:extLst>
                </a:gridCol>
                <a:gridCol w="613015">
                  <a:extLst>
                    <a:ext uri="{9D8B030D-6E8A-4147-A177-3AD203B41FA5}">
                      <a16:colId xmlns:a16="http://schemas.microsoft.com/office/drawing/2014/main" val="2175833257"/>
                    </a:ext>
                  </a:extLst>
                </a:gridCol>
                <a:gridCol w="3358983">
                  <a:extLst>
                    <a:ext uri="{9D8B030D-6E8A-4147-A177-3AD203B41FA5}">
                      <a16:colId xmlns:a16="http://schemas.microsoft.com/office/drawing/2014/main" val="2896346506"/>
                    </a:ext>
                  </a:extLst>
                </a:gridCol>
              </a:tblGrid>
              <a:tr h="159003">
                <a:tc>
                  <a:txBody>
                    <a:bodyPr/>
                    <a:lstStyle/>
                    <a:p>
                      <a:pPr algn="l" fontAlgn="b"/>
                      <a:r>
                        <a:rPr lang="sv-SE" sz="1100" b="1" i="0" u="none" strike="noStrike" dirty="0">
                          <a:solidFill>
                            <a:srgbClr val="000000"/>
                          </a:solidFill>
                          <a:effectLst/>
                          <a:latin typeface="Arial Narrow" panose="020B0606020202030204" pitchFamily="34" charset="0"/>
                        </a:rPr>
                        <a:t>Objekt</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Om objektet</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Kostnadsfördelning</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Bolag</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Förvalt-ningar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Pris 2027 (tkr)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tc>
                  <a:txBody>
                    <a:bodyPr/>
                    <a:lstStyle/>
                    <a:p>
                      <a:pPr algn="l" fontAlgn="b"/>
                      <a:r>
                        <a:rPr lang="sv-SE" sz="1100" b="1" i="0" u="none" strike="noStrike" dirty="0">
                          <a:solidFill>
                            <a:srgbClr val="000000"/>
                          </a:solidFill>
                          <a:effectLst/>
                          <a:latin typeface="Arial Narrow" panose="020B0606020202030204" pitchFamily="34" charset="0"/>
                        </a:rPr>
                        <a:t>Pris 2026 (tkr)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tc>
                  <a:txBody>
                    <a:bodyPr/>
                    <a:lstStyle/>
                    <a:p>
                      <a:pPr algn="l" fontAlgn="b"/>
                      <a:r>
                        <a:rPr lang="sv-SE" sz="1100" b="1" i="0" u="none" strike="noStrike" dirty="0">
                          <a:solidFill>
                            <a:srgbClr val="000000"/>
                          </a:solidFill>
                          <a:effectLst/>
                          <a:latin typeface="Arial Narrow" panose="020B0606020202030204" pitchFamily="34" charset="0"/>
                        </a:rPr>
                        <a:t>Kommentarer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28555107"/>
                  </a:ext>
                </a:extLst>
              </a:tr>
              <a:tr h="459755">
                <a:tc>
                  <a:txBody>
                    <a:bodyPr/>
                    <a:lstStyle/>
                    <a:p>
                      <a:pPr algn="l" fontAlgn="b"/>
                      <a:r>
                        <a:rPr lang="sv-SE" sz="1050" b="0" i="0" u="none" strike="noStrike" dirty="0">
                          <a:solidFill>
                            <a:srgbClr val="000000"/>
                          </a:solidFill>
                          <a:effectLst/>
                          <a:latin typeface="Arial Narrow" panose="020B0606020202030204" pitchFamily="34" charset="0"/>
                        </a:rPr>
                        <a:t>Agresso</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b"/>
                      <a:r>
                        <a:rPr lang="sv-SE" sz="1050" b="0" i="0" u="none" strike="noStrike" dirty="0">
                          <a:solidFill>
                            <a:srgbClr val="000000"/>
                          </a:solidFill>
                          <a:effectLst/>
                          <a:latin typeface="Arial Narrow" panose="020B0606020202030204" pitchFamily="34" charset="0"/>
                        </a:rPr>
                        <a:t>Kommunkoncernens ekonomisystem som används för bland annat ekonomisk redovisning, fakturahantering och uppföljning.</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b"/>
                      <a:r>
                        <a:rPr lang="sv-SE" sz="1050" b="0" i="0" u="none" strike="noStrike" dirty="0">
                          <a:solidFill>
                            <a:srgbClr val="000000"/>
                          </a:solidFill>
                          <a:effectLst/>
                          <a:latin typeface="Arial Narrow" panose="020B0606020202030204" pitchFamily="34" charset="0"/>
                        </a:rPr>
                        <a:t>Sammanvägning av antal användare i systemet samt huvudbokstransaktioner. </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b"/>
                      <a:r>
                        <a:rPr lang="sv-SE" sz="1050" b="0" i="0" u="none" strike="noStrike" dirty="0">
                          <a:solidFill>
                            <a:srgbClr val="000000"/>
                          </a:solidFill>
                          <a:effectLst/>
                          <a:latin typeface="Arial Narrow" panose="020B0606020202030204" pitchFamily="34" charset="0"/>
                        </a:rPr>
                        <a:t>x</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b"/>
                      <a:r>
                        <a:rPr lang="sv-SE" sz="1050" b="0" i="0" u="none" strike="noStrike" dirty="0">
                          <a:solidFill>
                            <a:srgbClr val="000000"/>
                          </a:solidFill>
                          <a:effectLst/>
                          <a:latin typeface="Arial Narrow" panose="020B0606020202030204" pitchFamily="34" charset="0"/>
                        </a:rPr>
                        <a:t>x</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37 212</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36 800</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3855206561"/>
                  </a:ext>
                </a:extLst>
              </a:tr>
              <a:tr h="159003">
                <a:tc>
                  <a:txBody>
                    <a:bodyPr/>
                    <a:lstStyle/>
                    <a:p>
                      <a:pPr algn="l" fontAlgn="b"/>
                      <a:r>
                        <a:rPr lang="sv-SE" sz="1050" b="0" i="0" u="none" strike="noStrike" dirty="0">
                          <a:solidFill>
                            <a:srgbClr val="000000"/>
                          </a:solidFill>
                          <a:effectLst/>
                          <a:latin typeface="Arial Narrow" panose="020B0606020202030204" pitchFamily="34" charset="0"/>
                        </a:rPr>
                        <a:t>Applikations-plattformar</a:t>
                      </a: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Stadens applikationsplattformar för exempelvis e-tjänster, integrationer, medborgar- och kundkontakter (CRM), webbhotell och mina sidor. </a:t>
                      </a:r>
                    </a:p>
                  </a:txBody>
                  <a:tcPr marL="36000" marR="36000" marT="18000" marB="18000">
                    <a:lnL>
                      <a:noFill/>
                    </a:lnL>
                    <a:lnR>
                      <a:noFill/>
                    </a:lnR>
                    <a:lnT>
                      <a:noFill/>
                    </a:lnT>
                    <a:lnB>
                      <a:noFill/>
                    </a:lnB>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sv-SE" sz="1100" b="0" i="0" u="none" strike="noStrike" dirty="0">
                          <a:solidFill>
                            <a:srgbClr val="000000"/>
                          </a:solidFill>
                          <a:effectLst/>
                          <a:latin typeface="Arial Narrow" panose="020B0606020202030204" pitchFamily="34" charset="0"/>
                        </a:rPr>
                        <a:t>Antal anställda. </a:t>
                      </a: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tcPr>
                </a:tc>
                <a:tc>
                  <a:txBody>
                    <a:bodyPr/>
                    <a:lstStyle/>
                    <a:p>
                      <a:pPr algn="r" fontAlgn="t"/>
                      <a:r>
                        <a:rPr lang="sv-SE" sz="1100" b="0" i="0" u="none" strike="noStrike" kern="1200" dirty="0">
                          <a:solidFill>
                            <a:srgbClr val="000000"/>
                          </a:solidFill>
                          <a:effectLst/>
                          <a:latin typeface="Arial Narrow" panose="020B0606020202030204" pitchFamily="34" charset="0"/>
                          <a:ea typeface="+mn-ea"/>
                          <a:cs typeface="+mn-cs"/>
                        </a:rPr>
                        <a:t>56 950</a:t>
                      </a:r>
                    </a:p>
                  </a:txBody>
                  <a:tcPr marL="36000" marR="36000" marT="18000" marB="18000">
                    <a:lnL>
                      <a:noFill/>
                    </a:lnL>
                    <a:lnR>
                      <a:noFill/>
                    </a:lnR>
                    <a:lnT>
                      <a:noFill/>
                    </a:lnT>
                    <a:lnB>
                      <a:noFill/>
                    </a:lnB>
                  </a:tcPr>
                </a:tc>
                <a:tc>
                  <a:txBody>
                    <a:bodyPr/>
                    <a:lstStyle/>
                    <a:p>
                      <a:pPr algn="r" fontAlgn="t"/>
                      <a:r>
                        <a:rPr lang="sv-SE" sz="1100" b="0" i="0" u="none" strike="noStrike" kern="1200" dirty="0">
                          <a:solidFill>
                            <a:srgbClr val="000000"/>
                          </a:solidFill>
                          <a:effectLst/>
                          <a:latin typeface="Arial Narrow" panose="020B0606020202030204" pitchFamily="34" charset="0"/>
                          <a:ea typeface="+mn-ea"/>
                          <a:cs typeface="+mn-cs"/>
                        </a:rPr>
                        <a:t>54 235</a:t>
                      </a:r>
                    </a:p>
                  </a:txBody>
                  <a:tcPr marL="36000" marR="36000" marT="18000" marB="18000">
                    <a:lnL>
                      <a:noFill/>
                    </a:lnL>
                    <a:lnR>
                      <a:noFill/>
                    </a:lnR>
                    <a:lnT>
                      <a:noFill/>
                    </a:lnT>
                    <a:lnB>
                      <a:noFill/>
                    </a:lnB>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tcPr>
                </a:tc>
                <a:extLst>
                  <a:ext uri="{0D108BD9-81ED-4DB2-BD59-A6C34878D82A}">
                    <a16:rowId xmlns:a16="http://schemas.microsoft.com/office/drawing/2014/main" val="3186684748"/>
                  </a:ext>
                </a:extLst>
              </a:tr>
              <a:tr h="276671">
                <a:tc>
                  <a:txBody>
                    <a:bodyPr/>
                    <a:lstStyle/>
                    <a:p>
                      <a:pPr algn="l" fontAlgn="b"/>
                      <a:r>
                        <a:rPr lang="sv-SE" sz="1050" b="0" i="0" u="none" strike="noStrike" dirty="0">
                          <a:solidFill>
                            <a:srgbClr val="000000"/>
                          </a:solidFill>
                          <a:effectLst/>
                          <a:latin typeface="Arial Narrow" panose="020B0606020202030204" pitchFamily="34" charset="0"/>
                        </a:rPr>
                        <a:t>Arbetsplatslicenser</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Licenser för arbetsplats ”Microsoft 365” som bland annat innehåller Officeprogrammen och antivirus för stadens bolag och förvaltningar.  </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Kostnaden delas upp per avtal och fördelas utifrån en sammanvägning av antal användarkonton och datorer (förvaltningsavtalet och bolagsavtalet) respektive antalet licenser (avtalet för pedagogisk verksamhet).</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r" fontAlgn="t"/>
                      <a:r>
                        <a:rPr lang="sv-SE" sz="1100" b="0" i="0" u="none" strike="noStrike" kern="1200" dirty="0">
                          <a:solidFill>
                            <a:srgbClr val="000000"/>
                          </a:solidFill>
                          <a:effectLst/>
                          <a:latin typeface="Arial Narrow" panose="020B0606020202030204" pitchFamily="34" charset="0"/>
                          <a:ea typeface="+mn-ea"/>
                          <a:cs typeface="+mn-cs"/>
                        </a:rPr>
                        <a:t>103 236</a:t>
                      </a:r>
                    </a:p>
                  </a:txBody>
                  <a:tcPr marL="36000" marR="36000" marT="18000" marB="18000">
                    <a:lnL>
                      <a:noFill/>
                    </a:lnL>
                    <a:lnR>
                      <a:noFill/>
                    </a:lnR>
                    <a:lnT>
                      <a:noFill/>
                    </a:lnT>
                    <a:lnB>
                      <a:noFill/>
                    </a:lnB>
                    <a:solidFill>
                      <a:srgbClr val="D9D9D9"/>
                    </a:solidFill>
                  </a:tcPr>
                </a:tc>
                <a:tc>
                  <a:txBody>
                    <a:bodyPr/>
                    <a:lstStyle/>
                    <a:p>
                      <a:pPr algn="r" fontAlgn="t"/>
                      <a:r>
                        <a:rPr lang="sv-SE" sz="1100" b="0" i="0" u="none" strike="noStrike" kern="1200" dirty="0">
                          <a:solidFill>
                            <a:srgbClr val="000000"/>
                          </a:solidFill>
                          <a:effectLst/>
                          <a:latin typeface="Arial Narrow" panose="020B0606020202030204" pitchFamily="34" charset="0"/>
                          <a:ea typeface="+mn-ea"/>
                          <a:cs typeface="+mn-cs"/>
                        </a:rPr>
                        <a:t>87 219</a:t>
                      </a:r>
                    </a:p>
                  </a:txBody>
                  <a:tcPr marL="36000" marR="36000" marT="18000" marB="18000">
                    <a:lnL>
                      <a:noFill/>
                    </a:lnL>
                    <a:lnR>
                      <a:noFill/>
                    </a:lnR>
                    <a:lnT>
                      <a:noFill/>
                    </a:lnT>
                    <a:lnB>
                      <a:noFill/>
                    </a:lnB>
                    <a:solidFill>
                      <a:srgbClr val="D9D9D9"/>
                    </a:solidFill>
                  </a:tcPr>
                </a:tc>
                <a:tc>
                  <a:txBody>
                    <a:bodyPr/>
                    <a:lstStyle/>
                    <a:p>
                      <a:pPr algn="l" fontAlgn="b"/>
                      <a:r>
                        <a:rPr lang="sv-SE" sz="1050" b="0" i="0" u="none" strike="noStrike" dirty="0">
                          <a:solidFill>
                            <a:srgbClr val="000000"/>
                          </a:solidFill>
                          <a:effectLst/>
                          <a:latin typeface="Arial Narrow" panose="020B0606020202030204" pitchFamily="34" charset="0"/>
                        </a:rPr>
                        <a:t>Arbetsplatslicenser (M365) hanteras i sin helhet i IT-prislistan, vilket förklarar hela kostnadsökningen. Föregående år hanterades två av tre avtal utanför prislistan via separat fakturering från Stadshus AB respektive utbildningsförvaltningen gentemot berörda bolag och förvaltningar. Nyckel för fördelning av kostnaden för förvaltnings-avtalet och bolagsavtalet ändras till användarkonton och datorer, tidigare fördelades kostnaden efter antalet anställda. Namnbyte för objektet, tidigare benämnt ”Programvarulicenser för infrastruktur”. </a:t>
                      </a:r>
                    </a:p>
                  </a:txBody>
                  <a:tcPr marL="36000" marR="36000" marT="18000" marB="18000">
                    <a:lnL>
                      <a:noFill/>
                    </a:lnL>
                    <a:lnR>
                      <a:noFill/>
                    </a:lnR>
                    <a:lnT>
                      <a:noFill/>
                    </a:lnT>
                    <a:lnB>
                      <a:noFill/>
                    </a:lnB>
                    <a:solidFill>
                      <a:srgbClr val="D9D9D9"/>
                    </a:solidFill>
                  </a:tcPr>
                </a:tc>
                <a:extLst>
                  <a:ext uri="{0D108BD9-81ED-4DB2-BD59-A6C34878D82A}">
                    <a16:rowId xmlns:a16="http://schemas.microsoft.com/office/drawing/2014/main" val="2242954892"/>
                  </a:ext>
                </a:extLst>
              </a:tr>
              <a:tr h="159003">
                <a:tc>
                  <a:txBody>
                    <a:bodyPr/>
                    <a:lstStyle/>
                    <a:p>
                      <a:pPr algn="l" fontAlgn="b"/>
                      <a:r>
                        <a:rPr lang="sv-SE" sz="1050" b="0" i="0" u="none" strike="noStrike" dirty="0">
                          <a:solidFill>
                            <a:srgbClr val="000000"/>
                          </a:solidFill>
                          <a:effectLst/>
                          <a:latin typeface="Arial Narrow" panose="020B0606020202030204" pitchFamily="34" charset="0"/>
                        </a:rPr>
                        <a:t>Arbetsplatssystem</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Stadens plattformar för digital arbetsplats. Klienthårdvara och tillhörande applikationer/ mjukvara med funktioner för bland annat säkerhet, virusskydd, inloggning och tjänstekort.</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Kostnaden delas upp per leverans och fördelas utifrån en  sammanvägning av antal användarkonton och datorer per leverans. </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r" fontAlgn="t"/>
                      <a:r>
                        <a:rPr lang="sv-SE" sz="1100" b="0" i="0" u="none" strike="noStrike" kern="1200" dirty="0">
                          <a:solidFill>
                            <a:srgbClr val="000000"/>
                          </a:solidFill>
                          <a:effectLst/>
                          <a:latin typeface="Arial Narrow" panose="020B0606020202030204" pitchFamily="34" charset="0"/>
                          <a:ea typeface="+mn-ea"/>
                          <a:cs typeface="+mn-cs"/>
                        </a:rPr>
                        <a:t>81 905</a:t>
                      </a:r>
                    </a:p>
                  </a:txBody>
                  <a:tcPr marL="36000" marR="36000" marT="18000" marB="18000">
                    <a:lnL>
                      <a:noFill/>
                    </a:lnL>
                    <a:lnR>
                      <a:noFill/>
                    </a:lnR>
                    <a:lnT>
                      <a:noFill/>
                    </a:lnT>
                    <a:lnB>
                      <a:noFill/>
                    </a:lnB>
                    <a:solidFill>
                      <a:srgbClr val="F5F3EE"/>
                    </a:solidFill>
                  </a:tcPr>
                </a:tc>
                <a:tc>
                  <a:txBody>
                    <a:bodyPr/>
                    <a:lstStyle/>
                    <a:p>
                      <a:pPr algn="r" fontAlgn="t"/>
                      <a:r>
                        <a:rPr lang="sv-SE" sz="1100" b="0" i="0" u="none" strike="noStrike" kern="1200" dirty="0">
                          <a:solidFill>
                            <a:srgbClr val="000000"/>
                          </a:solidFill>
                          <a:effectLst/>
                          <a:latin typeface="Arial Narrow" panose="020B0606020202030204" pitchFamily="34" charset="0"/>
                          <a:ea typeface="+mn-ea"/>
                          <a:cs typeface="+mn-cs"/>
                        </a:rPr>
                        <a:t>79 373</a:t>
                      </a:r>
                    </a:p>
                  </a:txBody>
                  <a:tcPr marL="36000" marR="36000" marT="18000" marB="18000">
                    <a:lnL>
                      <a:noFill/>
                    </a:lnL>
                    <a:lnR>
                      <a:noFill/>
                    </a:lnR>
                    <a:lnT>
                      <a:noFill/>
                    </a:lnT>
                    <a:lnB>
                      <a:noFill/>
                    </a:lnB>
                    <a:solidFill>
                      <a:srgbClr val="F5F3EE"/>
                    </a:solidFill>
                  </a:tcPr>
                </a:tc>
                <a:tc>
                  <a:txBody>
                    <a:bodyPr/>
                    <a:lstStyle/>
                    <a:p>
                      <a:pPr algn="l" fontAlgn="b"/>
                      <a:r>
                        <a:rPr lang="sv-SE" sz="1050" b="0" i="0" u="none" strike="noStrike" dirty="0">
                          <a:solidFill>
                            <a:srgbClr val="000000"/>
                          </a:solidFill>
                          <a:effectLst/>
                          <a:latin typeface="Arial Narrow" panose="020B0606020202030204" pitchFamily="34" charset="0"/>
                        </a:rPr>
                        <a:t>Ökning av kostnader till följd av skiftet till Nordic for Zoom från ZoomX, indexuppräkningar av avtal samt drift och förvaltning av tjänsten Säkra meddelanden som hålls ihop inom objektet. </a:t>
                      </a:r>
                    </a:p>
                  </a:txBody>
                  <a:tcPr marL="36000" marR="36000" marT="18000" marB="18000">
                    <a:lnL>
                      <a:noFill/>
                    </a:lnL>
                    <a:lnR>
                      <a:noFill/>
                    </a:lnR>
                    <a:lnT>
                      <a:noFill/>
                    </a:lnT>
                    <a:lnB>
                      <a:noFill/>
                    </a:lnB>
                    <a:solidFill>
                      <a:srgbClr val="F5F3EE"/>
                    </a:solidFill>
                  </a:tcPr>
                </a:tc>
                <a:extLst>
                  <a:ext uri="{0D108BD9-81ED-4DB2-BD59-A6C34878D82A}">
                    <a16:rowId xmlns:a16="http://schemas.microsoft.com/office/drawing/2014/main" val="1254153314"/>
                  </a:ext>
                </a:extLst>
              </a:tr>
              <a:tr h="159003">
                <a:tc>
                  <a:txBody>
                    <a:bodyPr/>
                    <a:lstStyle/>
                    <a:p>
                      <a:pPr algn="l" fontAlgn="b"/>
                      <a:r>
                        <a:rPr lang="sv-SE" sz="1050" b="0" i="0" u="none" strike="noStrike" dirty="0">
                          <a:solidFill>
                            <a:srgbClr val="000000"/>
                          </a:solidFill>
                          <a:effectLst/>
                          <a:latin typeface="Arial Narrow" panose="020B0606020202030204" pitchFamily="34" charset="0"/>
                        </a:rPr>
                        <a:t>Beslutsstöd och statistik</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Stadens systemstöd (Business objects) och datalagring för beslutsstöd. Data från olika informationsområden såsom ekonomi, personal och befolkning. </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Antal användare (systemstödet) samt anställda (datalagringen). </a:t>
                      </a:r>
                    </a:p>
                  </a:txBody>
                  <a:tcPr marL="36000" marR="36000" marT="18000" marB="18000">
                    <a:lnL>
                      <a:noFill/>
                    </a:lnL>
                    <a:lnR>
                      <a:noFill/>
                    </a:lnR>
                    <a:lnT>
                      <a:noFill/>
                    </a:lnT>
                    <a:lnB>
                      <a:noFill/>
                    </a:lnB>
                    <a:solidFill>
                      <a:srgbClr val="D9D9D9"/>
                    </a:solidFill>
                  </a:tcPr>
                </a:tc>
                <a:tc>
                  <a:txBody>
                    <a:bodyPr/>
                    <a:lstStyle/>
                    <a:p>
                      <a:pPr algn="l" fontAlgn="t"/>
                      <a:endParaRPr lang="sv-SE" sz="110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r" fontAlgn="t"/>
                      <a:r>
                        <a:rPr lang="sv-SE" sz="1100" b="0" i="0" u="none" strike="noStrike" kern="1200" dirty="0">
                          <a:solidFill>
                            <a:srgbClr val="000000"/>
                          </a:solidFill>
                          <a:effectLst/>
                          <a:latin typeface="Arial Narrow" panose="020B0606020202030204" pitchFamily="34" charset="0"/>
                          <a:ea typeface="+mn-ea"/>
                          <a:cs typeface="+mn-cs"/>
                        </a:rPr>
                        <a:t>24 180</a:t>
                      </a:r>
                    </a:p>
                  </a:txBody>
                  <a:tcPr marL="36000" marR="36000" marT="18000" marB="18000">
                    <a:lnL>
                      <a:noFill/>
                    </a:lnL>
                    <a:lnR>
                      <a:noFill/>
                    </a:lnR>
                    <a:lnT>
                      <a:noFill/>
                    </a:lnT>
                    <a:lnB>
                      <a:noFill/>
                    </a:lnB>
                    <a:solidFill>
                      <a:srgbClr val="D9D9D9"/>
                    </a:solidFill>
                  </a:tcPr>
                </a:tc>
                <a:tc>
                  <a:txBody>
                    <a:bodyPr/>
                    <a:lstStyle/>
                    <a:p>
                      <a:pPr algn="r" fontAlgn="t"/>
                      <a:r>
                        <a:rPr lang="sv-SE" sz="1100" b="0" i="0" u="none" strike="noStrike" kern="1200" dirty="0">
                          <a:solidFill>
                            <a:srgbClr val="000000"/>
                          </a:solidFill>
                          <a:effectLst/>
                          <a:latin typeface="Arial Narrow" panose="020B0606020202030204" pitchFamily="34" charset="0"/>
                          <a:ea typeface="+mn-ea"/>
                          <a:cs typeface="+mn-cs"/>
                        </a:rPr>
                        <a:t>23 800</a:t>
                      </a:r>
                    </a:p>
                  </a:txBody>
                  <a:tcPr marL="36000" marR="36000" marT="18000" marB="18000">
                    <a:lnL>
                      <a:noFill/>
                    </a:lnL>
                    <a:lnR>
                      <a:noFill/>
                    </a:lnR>
                    <a:lnT>
                      <a:noFill/>
                    </a:lnT>
                    <a:lnB>
                      <a:noFill/>
                    </a:lnB>
                    <a:solidFill>
                      <a:srgbClr val="D9D9D9"/>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D9D9D9"/>
                    </a:solidFill>
                  </a:tcPr>
                </a:tc>
                <a:extLst>
                  <a:ext uri="{0D108BD9-81ED-4DB2-BD59-A6C34878D82A}">
                    <a16:rowId xmlns:a16="http://schemas.microsoft.com/office/drawing/2014/main" val="2024353692"/>
                  </a:ext>
                </a:extLst>
              </a:tr>
              <a:tr h="15900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sv-SE" sz="1050" b="0" i="0" u="none" strike="noStrike" dirty="0">
                          <a:solidFill>
                            <a:srgbClr val="000000"/>
                          </a:solidFill>
                          <a:effectLst/>
                          <a:latin typeface="Arial Narrow" panose="020B0606020202030204" pitchFamily="34" charset="0"/>
                        </a:rPr>
                        <a:t>Centrala leverantörskostnader</a:t>
                      </a:r>
                    </a:p>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Objektet omfattar de två huvudleverantörernas leveransstyrning, koordinering samt deltagande i olika forum i samverkansmodellen. Inkluderar kostnader för GSIT-avtalen samt Systemtjänsteavtalet. </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Sammanvägning av antal användarkonton och datorer per leverans (FOB/SPV). Kostnaden för systemtjänsteavtalet fördelas utifrån antal anställda och elever. </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r" fontAlgn="t"/>
                      <a:r>
                        <a:rPr lang="sv-SE" sz="1100" b="0" i="0" u="none" strike="noStrike" kern="1200" dirty="0">
                          <a:solidFill>
                            <a:srgbClr val="000000"/>
                          </a:solidFill>
                          <a:effectLst/>
                          <a:latin typeface="Arial Narrow" panose="020B0606020202030204" pitchFamily="34" charset="0"/>
                          <a:ea typeface="+mn-ea"/>
                          <a:cs typeface="+mn-cs"/>
                        </a:rPr>
                        <a:t>55 000</a:t>
                      </a:r>
                    </a:p>
                  </a:txBody>
                  <a:tcPr marL="36000" marR="36000" marT="18000" marB="18000">
                    <a:lnL>
                      <a:noFill/>
                    </a:lnL>
                    <a:lnR>
                      <a:noFill/>
                    </a:lnR>
                    <a:lnT>
                      <a:noFill/>
                    </a:lnT>
                    <a:lnB>
                      <a:noFill/>
                    </a:lnB>
                    <a:solidFill>
                      <a:srgbClr val="F5F3EE"/>
                    </a:solidFill>
                  </a:tcPr>
                </a:tc>
                <a:tc>
                  <a:txBody>
                    <a:bodyPr/>
                    <a:lstStyle/>
                    <a:p>
                      <a:pPr algn="r" fontAlgn="t"/>
                      <a:r>
                        <a:rPr lang="sv-SE" sz="1100" b="0" i="0" u="none" strike="noStrike" kern="1200" dirty="0">
                          <a:solidFill>
                            <a:srgbClr val="000000"/>
                          </a:solidFill>
                          <a:effectLst/>
                          <a:latin typeface="Arial Narrow" panose="020B0606020202030204" pitchFamily="34" charset="0"/>
                          <a:ea typeface="+mn-ea"/>
                          <a:cs typeface="+mn-cs"/>
                        </a:rPr>
                        <a:t>49 064</a:t>
                      </a:r>
                    </a:p>
                  </a:txBody>
                  <a:tcPr marL="36000" marR="36000" marT="18000" marB="18000">
                    <a:lnL>
                      <a:noFill/>
                    </a:lnL>
                    <a:lnR>
                      <a:noFill/>
                    </a:lnR>
                    <a:lnT>
                      <a:noFill/>
                    </a:lnT>
                    <a:lnB>
                      <a:noFill/>
                    </a:lnB>
                    <a:solidFill>
                      <a:srgbClr val="F5F3EE"/>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F5F3EE"/>
                    </a:solidFill>
                  </a:tcPr>
                </a:tc>
                <a:extLst>
                  <a:ext uri="{0D108BD9-81ED-4DB2-BD59-A6C34878D82A}">
                    <a16:rowId xmlns:a16="http://schemas.microsoft.com/office/drawing/2014/main" val="1186490870"/>
                  </a:ext>
                </a:extLst>
              </a:tr>
            </a:tbl>
          </a:graphicData>
        </a:graphic>
      </p:graphicFrame>
    </p:spTree>
    <p:extLst>
      <p:ext uri="{BB962C8B-B14F-4D97-AF65-F5344CB8AC3E}">
        <p14:creationId xmlns:p14="http://schemas.microsoft.com/office/powerpoint/2010/main" val="1909562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2B779BC-3ADA-4E8A-88DF-A95F15B1146B}"/>
              </a:ext>
            </a:extLst>
          </p:cNvPr>
          <p:cNvSpPr>
            <a:spLocks noGrp="1"/>
          </p:cNvSpPr>
          <p:nvPr>
            <p:ph type="ctrTitle"/>
          </p:nvPr>
        </p:nvSpPr>
        <p:spPr/>
        <p:txBody>
          <a:bodyPr/>
          <a:lstStyle/>
          <a:p>
            <a:r>
              <a:rPr lang="sv-SE" dirty="0"/>
              <a:t>Information om objekten i IT-prislistan</a:t>
            </a:r>
            <a:br>
              <a:rPr lang="sv-SE" dirty="0"/>
            </a:br>
            <a:r>
              <a:rPr lang="sv-SE" sz="2000" b="0" i="1" dirty="0"/>
              <a:t>Objekt från D* till H*</a:t>
            </a:r>
            <a:endParaRPr lang="sv-SE" b="0" i="1" dirty="0"/>
          </a:p>
        </p:txBody>
      </p:sp>
      <p:graphicFrame>
        <p:nvGraphicFramePr>
          <p:cNvPr id="4" name="Tabell 3">
            <a:extLst>
              <a:ext uri="{FF2B5EF4-FFF2-40B4-BE49-F238E27FC236}">
                <a16:creationId xmlns:a16="http://schemas.microsoft.com/office/drawing/2014/main" id="{A6D9FE83-9756-4CBA-9614-41231EC94757}"/>
              </a:ext>
            </a:extLst>
          </p:cNvPr>
          <p:cNvGraphicFramePr>
            <a:graphicFrameLocks noGrp="1"/>
          </p:cNvGraphicFramePr>
          <p:nvPr>
            <p:extLst>
              <p:ext uri="{D42A27DB-BD31-4B8C-83A1-F6EECF244321}">
                <p14:modId xmlns:p14="http://schemas.microsoft.com/office/powerpoint/2010/main" val="1741812346"/>
              </p:ext>
            </p:extLst>
          </p:nvPr>
        </p:nvGraphicFramePr>
        <p:xfrm>
          <a:off x="589286" y="1288800"/>
          <a:ext cx="11339361" cy="4227540"/>
        </p:xfrm>
        <a:graphic>
          <a:graphicData uri="http://schemas.openxmlformats.org/drawingml/2006/table">
            <a:tbl>
              <a:tblPr/>
              <a:tblGrid>
                <a:gridCol w="1130659">
                  <a:extLst>
                    <a:ext uri="{9D8B030D-6E8A-4147-A177-3AD203B41FA5}">
                      <a16:colId xmlns:a16="http://schemas.microsoft.com/office/drawing/2014/main" val="537654599"/>
                    </a:ext>
                  </a:extLst>
                </a:gridCol>
                <a:gridCol w="2647863">
                  <a:extLst>
                    <a:ext uri="{9D8B030D-6E8A-4147-A177-3AD203B41FA5}">
                      <a16:colId xmlns:a16="http://schemas.microsoft.com/office/drawing/2014/main" val="1496594787"/>
                    </a:ext>
                  </a:extLst>
                </a:gridCol>
                <a:gridCol w="1872208">
                  <a:extLst>
                    <a:ext uri="{9D8B030D-6E8A-4147-A177-3AD203B41FA5}">
                      <a16:colId xmlns:a16="http://schemas.microsoft.com/office/drawing/2014/main" val="958800717"/>
                    </a:ext>
                  </a:extLst>
                </a:gridCol>
                <a:gridCol w="521207">
                  <a:extLst>
                    <a:ext uri="{9D8B030D-6E8A-4147-A177-3AD203B41FA5}">
                      <a16:colId xmlns:a16="http://schemas.microsoft.com/office/drawing/2014/main" val="3344967881"/>
                    </a:ext>
                  </a:extLst>
                </a:gridCol>
                <a:gridCol w="582412">
                  <a:extLst>
                    <a:ext uri="{9D8B030D-6E8A-4147-A177-3AD203B41FA5}">
                      <a16:colId xmlns:a16="http://schemas.microsoft.com/office/drawing/2014/main" val="2311376213"/>
                    </a:ext>
                  </a:extLst>
                </a:gridCol>
                <a:gridCol w="613014">
                  <a:extLst>
                    <a:ext uri="{9D8B030D-6E8A-4147-A177-3AD203B41FA5}">
                      <a16:colId xmlns:a16="http://schemas.microsoft.com/office/drawing/2014/main" val="265500309"/>
                    </a:ext>
                  </a:extLst>
                </a:gridCol>
                <a:gridCol w="613015">
                  <a:extLst>
                    <a:ext uri="{9D8B030D-6E8A-4147-A177-3AD203B41FA5}">
                      <a16:colId xmlns:a16="http://schemas.microsoft.com/office/drawing/2014/main" val="2175833257"/>
                    </a:ext>
                  </a:extLst>
                </a:gridCol>
                <a:gridCol w="3358983">
                  <a:extLst>
                    <a:ext uri="{9D8B030D-6E8A-4147-A177-3AD203B41FA5}">
                      <a16:colId xmlns:a16="http://schemas.microsoft.com/office/drawing/2014/main" val="2896346506"/>
                    </a:ext>
                  </a:extLst>
                </a:gridCol>
              </a:tblGrid>
              <a:tr h="159003">
                <a:tc>
                  <a:txBody>
                    <a:bodyPr/>
                    <a:lstStyle/>
                    <a:p>
                      <a:pPr algn="l" fontAlgn="b"/>
                      <a:r>
                        <a:rPr lang="sv-SE" sz="1100" b="1" i="0" u="none" strike="noStrike" dirty="0">
                          <a:solidFill>
                            <a:srgbClr val="000000"/>
                          </a:solidFill>
                          <a:effectLst/>
                          <a:latin typeface="Arial Narrow" panose="020B0606020202030204" pitchFamily="34" charset="0"/>
                        </a:rPr>
                        <a:t>Objekt</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Om objektet</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Kostnadsfördelning</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Bolag</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Förvalt-ningar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Pris 2027 (tkr)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tc>
                  <a:txBody>
                    <a:bodyPr/>
                    <a:lstStyle/>
                    <a:p>
                      <a:pPr algn="l" fontAlgn="b"/>
                      <a:r>
                        <a:rPr lang="sv-SE" sz="1100" b="1" i="0" u="none" strike="noStrike" dirty="0">
                          <a:solidFill>
                            <a:srgbClr val="000000"/>
                          </a:solidFill>
                          <a:effectLst/>
                          <a:latin typeface="Arial Narrow" panose="020B0606020202030204" pitchFamily="34" charset="0"/>
                        </a:rPr>
                        <a:t>Pris 2026 (tkr)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tc>
                  <a:txBody>
                    <a:bodyPr/>
                    <a:lstStyle/>
                    <a:p>
                      <a:pPr algn="l" fontAlgn="b"/>
                      <a:r>
                        <a:rPr lang="sv-SE" sz="1100" b="1" i="0" u="none" strike="noStrike" dirty="0">
                          <a:solidFill>
                            <a:srgbClr val="000000"/>
                          </a:solidFill>
                          <a:effectLst/>
                          <a:latin typeface="Arial Narrow" panose="020B0606020202030204" pitchFamily="34" charset="0"/>
                        </a:rPr>
                        <a:t>Kommentarer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28555107"/>
                  </a:ext>
                </a:extLst>
              </a:tr>
              <a:tr h="459755">
                <a:tc>
                  <a:txBody>
                    <a:bodyPr/>
                    <a:lstStyle/>
                    <a:p>
                      <a:pPr algn="l" fontAlgn="b"/>
                      <a:r>
                        <a:rPr lang="sv-SE" sz="1100" b="0" i="0" u="none" strike="noStrike" dirty="0">
                          <a:solidFill>
                            <a:srgbClr val="000000"/>
                          </a:solidFill>
                          <a:effectLst/>
                          <a:latin typeface="Arial Narrow" panose="020B0606020202030204" pitchFamily="34" charset="0"/>
                        </a:rPr>
                        <a:t>Datakommunikation</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b"/>
                      <a:r>
                        <a:rPr lang="sv-SE" sz="1050" dirty="0">
                          <a:latin typeface="Arial Narrow" panose="020B0606020202030204" pitchFamily="34" charset="0"/>
                        </a:rPr>
                        <a:t>Avser de centrala delarna av stadens nätverk för datakommunikation som nyttjas av stadens samtliga verksamheter. Här ingår även bl. a. medel för Webbfilter, ersättning till Tietoevry/Fujitsu för VPN-lösning, mm. </a:t>
                      </a:r>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b"/>
                      <a:r>
                        <a:rPr lang="sv-SE" sz="1050" b="0" i="0" u="none" strike="noStrike" dirty="0">
                          <a:solidFill>
                            <a:srgbClr val="000000"/>
                          </a:solidFill>
                          <a:effectLst/>
                          <a:latin typeface="Arial Narrow" panose="020B0606020202030204" pitchFamily="34" charset="0"/>
                        </a:rPr>
                        <a:t>Antal anställda och elever.</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ctr" fontAlgn="b"/>
                      <a:r>
                        <a:rPr lang="sv-SE" sz="1050" b="0" i="0" u="none" strike="noStrike" dirty="0">
                          <a:solidFill>
                            <a:srgbClr val="000000"/>
                          </a:solidFill>
                          <a:effectLst/>
                          <a:latin typeface="Arial Narrow" panose="020B0606020202030204" pitchFamily="34" charset="0"/>
                        </a:rPr>
                        <a:t>x</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ctr" fontAlgn="b"/>
                      <a:r>
                        <a:rPr lang="sv-SE" sz="1050" b="0" i="0" u="none" strike="noStrike" dirty="0">
                          <a:solidFill>
                            <a:srgbClr val="000000"/>
                          </a:solidFill>
                          <a:effectLst/>
                          <a:latin typeface="Arial Narrow" panose="020B0606020202030204" pitchFamily="34" charset="0"/>
                        </a:rPr>
                        <a:t>x</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64 055</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63 858</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b"/>
                      <a:r>
                        <a:rPr kumimoji="0" lang="sv-SE" sz="1050"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Kostnadsökning 2026 pga. införandet av LoRa WAN (trådlös digital dataöverföringsteknik som bland annat stödjer stora nätverk av sensorer mm.).</a:t>
                      </a:r>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3855206561"/>
                  </a:ext>
                </a:extLst>
              </a:tr>
              <a:tr h="271727">
                <a:tc>
                  <a:txBody>
                    <a:bodyPr/>
                    <a:lstStyle/>
                    <a:p>
                      <a:pPr algn="l" fontAlgn="b"/>
                      <a:r>
                        <a:rPr lang="sv-SE" sz="1100" b="0" i="0" u="none" strike="noStrike" dirty="0">
                          <a:solidFill>
                            <a:srgbClr val="000000"/>
                          </a:solidFill>
                          <a:effectLst/>
                          <a:latin typeface="Arial Narrow" panose="020B0606020202030204" pitchFamily="34" charset="0"/>
                        </a:rPr>
                        <a:t>Digitala stöd för pedagogisk verksamhet</a:t>
                      </a: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Verksamhetssystem för stadens pedagogiska verksamheter. </a:t>
                      </a:r>
                    </a:p>
                  </a:txBody>
                  <a:tcPr marL="36000" marR="36000" marT="18000" marB="18000">
                    <a:lnL>
                      <a:noFill/>
                    </a:lnL>
                    <a:lnR>
                      <a:noFill/>
                    </a:lnR>
                    <a:lnT>
                      <a:noFill/>
                    </a:lnT>
                    <a:lnB>
                      <a:noFill/>
                    </a:lnB>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sv-SE" sz="1100" b="0" i="0" u="none" strike="noStrike" dirty="0">
                          <a:solidFill>
                            <a:srgbClr val="000000"/>
                          </a:solidFill>
                          <a:effectLst/>
                          <a:latin typeface="Arial Narrow" panose="020B0606020202030204" pitchFamily="34" charset="0"/>
                        </a:rPr>
                        <a:t>Sammanvägning av kostnaden för gamla och nya system utifrån användning. </a:t>
                      </a:r>
                    </a:p>
                  </a:txBody>
                  <a:tcPr marL="36000" marR="36000" marT="18000" marB="18000">
                    <a:lnL>
                      <a:noFill/>
                    </a:lnL>
                    <a:lnR>
                      <a:noFill/>
                    </a:lnR>
                    <a:lnT>
                      <a:noFill/>
                    </a:lnT>
                    <a:lnB>
                      <a:noFill/>
                    </a:lnB>
                  </a:tcPr>
                </a:tc>
                <a:tc>
                  <a:txBody>
                    <a:bodyPr/>
                    <a:lstStyle/>
                    <a:p>
                      <a:pPr algn="ctr" fontAlgn="t"/>
                      <a:endParaRPr lang="sv-SE" sz="110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97 374</a:t>
                      </a:r>
                    </a:p>
                  </a:txBody>
                  <a:tcPr marL="36000" marR="36000" marT="18000" marB="18000">
                    <a:lnL>
                      <a:noFill/>
                    </a:lnL>
                    <a:lnR>
                      <a:noFill/>
                    </a:lnR>
                    <a:lnT>
                      <a:noFill/>
                    </a:lnT>
                    <a:lnB>
                      <a:noFill/>
                    </a:lnB>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106 734</a:t>
                      </a:r>
                    </a:p>
                  </a:txBody>
                  <a:tcPr marL="36000" marR="36000" marT="18000" marB="18000">
                    <a:lnL>
                      <a:noFill/>
                    </a:lnL>
                    <a:lnR>
                      <a:noFill/>
                    </a:lnR>
                    <a:lnT>
                      <a:noFill/>
                    </a:lnT>
                    <a:lnB>
                      <a:noFill/>
                    </a:lnB>
                  </a:tcPr>
                </a:tc>
                <a:tc>
                  <a:txBody>
                    <a:bodyPr/>
                    <a:lstStyle/>
                    <a:p>
                      <a:pPr algn="l" fontAlgn="b"/>
                      <a:r>
                        <a:rPr lang="sv-SE" sz="1050" b="0" i="0" u="none" strike="noStrike" dirty="0">
                          <a:solidFill>
                            <a:srgbClr val="000000"/>
                          </a:solidFill>
                          <a:effectLst/>
                          <a:latin typeface="Arial Narrow" panose="020B0606020202030204" pitchFamily="34" charset="0"/>
                        </a:rPr>
                        <a:t>Namnbyte för objektet, tidigare benämnt ”Skolplattformen” som en del i den tekniska förnyelsen inom området. Kostnadsökning pga. att viss dubbel drift av gamla och nya systemlösningar samt att det tidigare it-prislisteobjektet E-tjänster för Förskolan (1,3 mnkr) lyfts in.</a:t>
                      </a:r>
                    </a:p>
                  </a:txBody>
                  <a:tcPr marL="36000" marR="36000" marT="18000" marB="18000">
                    <a:lnL>
                      <a:noFill/>
                    </a:lnL>
                    <a:lnR>
                      <a:noFill/>
                    </a:lnR>
                    <a:lnT>
                      <a:noFill/>
                    </a:lnT>
                    <a:lnB>
                      <a:noFill/>
                    </a:lnB>
                  </a:tcPr>
                </a:tc>
                <a:extLst>
                  <a:ext uri="{0D108BD9-81ED-4DB2-BD59-A6C34878D82A}">
                    <a16:rowId xmlns:a16="http://schemas.microsoft.com/office/drawing/2014/main" val="3186684748"/>
                  </a:ext>
                </a:extLst>
              </a:tr>
              <a:tr h="276671">
                <a:tc>
                  <a:txBody>
                    <a:bodyPr/>
                    <a:lstStyle/>
                    <a:p>
                      <a:pPr algn="l" fontAlgn="b"/>
                      <a:r>
                        <a:rPr lang="sv-SE" sz="1100" b="0" i="0" u="none" strike="noStrike" dirty="0">
                          <a:solidFill>
                            <a:srgbClr val="000000"/>
                          </a:solidFill>
                          <a:effectLst/>
                          <a:latin typeface="Arial Narrow" panose="020B0606020202030204" pitchFamily="34" charset="0"/>
                        </a:rPr>
                        <a:t>E-arkivet</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Stadens gemensamma arkivlösning.</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Antal anställda. </a:t>
                      </a:r>
                    </a:p>
                  </a:txBody>
                  <a:tcPr marL="36000" marR="36000" marT="18000" marB="18000">
                    <a:lnL>
                      <a:noFill/>
                    </a:lnL>
                    <a:lnR>
                      <a:noFill/>
                    </a:lnR>
                    <a:lnT>
                      <a:noFill/>
                    </a:lnT>
                    <a:lnB>
                      <a:noFill/>
                    </a:lnB>
                    <a:solidFill>
                      <a:srgbClr val="D9D9D9"/>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9 600</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9 500</a:t>
                      </a:r>
                    </a:p>
                  </a:txBody>
                  <a:tcPr marL="36000" marR="36000" marT="18000" marB="18000">
                    <a:lnL>
                      <a:noFill/>
                    </a:lnL>
                    <a:lnR>
                      <a:noFill/>
                    </a:lnR>
                    <a:lnT>
                      <a:noFill/>
                    </a:lnT>
                    <a:lnB>
                      <a:noFill/>
                    </a:lnB>
                    <a:solidFill>
                      <a:srgbClr val="D9D9D9"/>
                    </a:solidFill>
                  </a:tcPr>
                </a:tc>
                <a:tc>
                  <a:txBody>
                    <a:bodyPr/>
                    <a:lstStyle/>
                    <a:p>
                      <a:pPr algn="l" fontAlgn="b"/>
                      <a:r>
                        <a:rPr lang="sv-SE" sz="1050" b="0" i="0" u="none" strike="noStrike" dirty="0">
                          <a:solidFill>
                            <a:srgbClr val="000000"/>
                          </a:solidFill>
                          <a:effectLst/>
                          <a:latin typeface="Arial Narrow" panose="020B0606020202030204" pitchFamily="34" charset="0"/>
                        </a:rPr>
                        <a:t>Kostnadsökningen 2026 pga. extrakostnader för inläsning av diarier från Diabas till E-arkiv Stockholm. </a:t>
                      </a:r>
                    </a:p>
                  </a:txBody>
                  <a:tcPr marL="36000" marR="36000" marT="18000" marB="18000">
                    <a:lnL>
                      <a:noFill/>
                    </a:lnL>
                    <a:lnR>
                      <a:noFill/>
                    </a:lnR>
                    <a:lnT>
                      <a:noFill/>
                    </a:lnT>
                    <a:lnB>
                      <a:noFill/>
                    </a:lnB>
                    <a:solidFill>
                      <a:srgbClr val="D9D9D9"/>
                    </a:solidFill>
                  </a:tcPr>
                </a:tc>
                <a:extLst>
                  <a:ext uri="{0D108BD9-81ED-4DB2-BD59-A6C34878D82A}">
                    <a16:rowId xmlns:a16="http://schemas.microsoft.com/office/drawing/2014/main" val="2242954892"/>
                  </a:ext>
                </a:extLst>
              </a:tr>
              <a:tr h="159003">
                <a:tc>
                  <a:txBody>
                    <a:bodyPr/>
                    <a:lstStyle/>
                    <a:p>
                      <a:pPr algn="l" fontAlgn="b"/>
                      <a:r>
                        <a:rPr lang="sv-SE" sz="1100" b="0" i="0" u="none" strike="noStrike" dirty="0">
                          <a:solidFill>
                            <a:srgbClr val="000000"/>
                          </a:solidFill>
                          <a:effectLst/>
                          <a:latin typeface="Arial Narrow" panose="020B0606020202030204" pitchFamily="34" charset="0"/>
                        </a:rPr>
                        <a:t>eDok</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Stadens systemlösning för ärende- och dokumenthantering.</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Kostnaden för eDok fördelas utifrån antal anställda. Kostnaden för Diabas efter historiskt antal användare.</a:t>
                      </a:r>
                    </a:p>
                  </a:txBody>
                  <a:tcPr marL="36000" marR="36000" marT="18000" marB="18000">
                    <a:lnL>
                      <a:noFill/>
                    </a:lnL>
                    <a:lnR>
                      <a:noFill/>
                    </a:lnR>
                    <a:lnT>
                      <a:noFill/>
                    </a:lnT>
                    <a:lnB>
                      <a:noFill/>
                    </a:lnB>
                    <a:solidFill>
                      <a:srgbClr val="F5F3EE"/>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16 600</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14 000</a:t>
                      </a:r>
                    </a:p>
                  </a:txBody>
                  <a:tcPr marL="36000" marR="36000" marT="18000" marB="18000">
                    <a:lnL>
                      <a:noFill/>
                    </a:lnL>
                    <a:lnR>
                      <a:noFill/>
                    </a:lnR>
                    <a:lnT>
                      <a:noFill/>
                    </a:lnT>
                    <a:lnB>
                      <a:noFill/>
                    </a:lnB>
                    <a:solidFill>
                      <a:srgbClr val="F5F3EE"/>
                    </a:solidFill>
                  </a:tcPr>
                </a:tc>
                <a:tc>
                  <a:txBody>
                    <a:bodyPr/>
                    <a:lstStyle/>
                    <a:p>
                      <a:pPr algn="l" fontAlgn="b"/>
                      <a:r>
                        <a:rPr lang="sv-SE" sz="1050" b="0" i="0" u="none" strike="noStrike" dirty="0">
                          <a:solidFill>
                            <a:srgbClr val="000000"/>
                          </a:solidFill>
                          <a:effectLst/>
                          <a:latin typeface="Arial Narrow" panose="020B0606020202030204" pitchFamily="34" charset="0"/>
                        </a:rPr>
                        <a:t>Kostnadsökningen 2026 pga. ökad användning. </a:t>
                      </a:r>
                    </a:p>
                  </a:txBody>
                  <a:tcPr marL="36000" marR="36000" marT="18000" marB="18000">
                    <a:lnL>
                      <a:noFill/>
                    </a:lnL>
                    <a:lnR>
                      <a:noFill/>
                    </a:lnR>
                    <a:lnT>
                      <a:noFill/>
                    </a:lnT>
                    <a:lnB>
                      <a:noFill/>
                    </a:lnB>
                    <a:solidFill>
                      <a:srgbClr val="F5F3EE"/>
                    </a:solidFill>
                  </a:tcPr>
                </a:tc>
                <a:extLst>
                  <a:ext uri="{0D108BD9-81ED-4DB2-BD59-A6C34878D82A}">
                    <a16:rowId xmlns:a16="http://schemas.microsoft.com/office/drawing/2014/main" val="1254153314"/>
                  </a:ext>
                </a:extLst>
              </a:tr>
              <a:tr h="159003">
                <a:tc>
                  <a:txBody>
                    <a:bodyPr/>
                    <a:lstStyle/>
                    <a:p>
                      <a:pPr algn="l" fontAlgn="b"/>
                      <a:r>
                        <a:rPr lang="sv-SE" sz="1100" b="0" i="0" u="none" strike="noStrike" dirty="0">
                          <a:solidFill>
                            <a:srgbClr val="000000"/>
                          </a:solidFill>
                          <a:effectLst/>
                          <a:latin typeface="Arial Narrow" panose="020B0606020202030204" pitchFamily="34" charset="0"/>
                        </a:rPr>
                        <a:t>E-tjänster för Förskolan</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E-tjänster för ansökning av förskole- eller fritidshemsplats samt självutvärdering för systematiskt kvalitetsarbete.  </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Ej tillämplig, objektet utgår. </a:t>
                      </a:r>
                    </a:p>
                  </a:txBody>
                  <a:tcPr marL="36000" marR="36000" marT="18000" marB="18000">
                    <a:lnL>
                      <a:noFill/>
                    </a:lnL>
                    <a:lnR>
                      <a:noFill/>
                    </a:lnR>
                    <a:lnT>
                      <a:noFill/>
                    </a:lnT>
                    <a:lnB>
                      <a:noFill/>
                    </a:lnB>
                    <a:solidFill>
                      <a:srgbClr val="D9D9D9"/>
                    </a:solidFill>
                  </a:tcPr>
                </a:tc>
                <a:tc>
                  <a:txBody>
                    <a:bodyPr/>
                    <a:lstStyle/>
                    <a:p>
                      <a:pPr algn="ctr" fontAlgn="t"/>
                      <a:endParaRPr lang="sv-SE" sz="110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D9D9D9"/>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a:t>
                      </a:r>
                    </a:p>
                  </a:txBody>
                  <a:tcPr marL="36000" marR="36000" marT="18000" marB="18000">
                    <a:lnL>
                      <a:noFill/>
                    </a:lnL>
                    <a:lnR>
                      <a:noFill/>
                    </a:lnR>
                    <a:lnT>
                      <a:noFill/>
                    </a:lnT>
                    <a:lnB>
                      <a:noFill/>
                    </a:lnB>
                    <a:solidFill>
                      <a:srgbClr val="D9D9D9"/>
                    </a:solidFill>
                  </a:tcPr>
                </a:tc>
                <a:tc>
                  <a:txBody>
                    <a:bodyPr/>
                    <a:lstStyle/>
                    <a:p>
                      <a:pPr algn="l" fontAlgn="b"/>
                      <a:r>
                        <a:rPr lang="sv-SE" sz="1050" b="0" i="0" u="none" strike="noStrike" dirty="0">
                          <a:solidFill>
                            <a:srgbClr val="000000"/>
                          </a:solidFill>
                          <a:effectLst/>
                          <a:latin typeface="Arial Narrow" panose="020B0606020202030204" pitchFamily="34" charset="0"/>
                        </a:rPr>
                        <a:t>Prislisteobjektet upphör i it-prislistan 2026. Kostnaderna finns kvar men ingår istället inom objektet Digitala stöd för pedagogisk verksamhet. </a:t>
                      </a:r>
                    </a:p>
                  </a:txBody>
                  <a:tcPr marL="36000" marR="36000" marT="18000" marB="18000">
                    <a:lnL>
                      <a:noFill/>
                    </a:lnL>
                    <a:lnR>
                      <a:noFill/>
                    </a:lnR>
                    <a:lnT>
                      <a:noFill/>
                    </a:lnT>
                    <a:lnB>
                      <a:noFill/>
                    </a:lnB>
                    <a:solidFill>
                      <a:srgbClr val="D9D9D9"/>
                    </a:solidFill>
                  </a:tcPr>
                </a:tc>
                <a:extLst>
                  <a:ext uri="{0D108BD9-81ED-4DB2-BD59-A6C34878D82A}">
                    <a16:rowId xmlns:a16="http://schemas.microsoft.com/office/drawing/2014/main" val="2024353692"/>
                  </a:ext>
                </a:extLst>
              </a:tr>
              <a:tr h="159003">
                <a:tc>
                  <a:txBody>
                    <a:bodyPr/>
                    <a:lstStyle/>
                    <a:p>
                      <a:pPr algn="l" fontAlgn="b"/>
                      <a:r>
                        <a:rPr lang="sv-SE" sz="1100" b="0" i="0" u="none" strike="noStrike" dirty="0">
                          <a:solidFill>
                            <a:srgbClr val="000000"/>
                          </a:solidFill>
                          <a:effectLst/>
                          <a:latin typeface="Arial Narrow" panose="020B0606020202030204" pitchFamily="34" charset="0"/>
                        </a:rPr>
                        <a:t>E-vald</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Administration av stadens samtliga förtroendeuppdrag och förtroendevalda.</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Samma belopp per förvaltning. </a:t>
                      </a:r>
                    </a:p>
                  </a:txBody>
                  <a:tcPr marL="36000" marR="36000" marT="18000" marB="18000">
                    <a:lnL>
                      <a:noFill/>
                    </a:lnL>
                    <a:lnR>
                      <a:noFill/>
                    </a:lnR>
                    <a:lnT>
                      <a:noFill/>
                    </a:lnT>
                    <a:lnB>
                      <a:noFill/>
                    </a:lnB>
                    <a:solidFill>
                      <a:srgbClr val="F5F3EE"/>
                    </a:solidFill>
                  </a:tcPr>
                </a:tc>
                <a:tc>
                  <a:txBody>
                    <a:bodyPr/>
                    <a:lstStyle/>
                    <a:p>
                      <a:pPr algn="ctr" fontAlgn="t"/>
                      <a:endParaRPr lang="sv-SE" sz="110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F5F3EE"/>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1 115</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1 115</a:t>
                      </a:r>
                    </a:p>
                  </a:txBody>
                  <a:tcPr marL="36000" marR="36000" marT="18000" marB="18000">
                    <a:lnL>
                      <a:noFill/>
                    </a:lnL>
                    <a:lnR>
                      <a:noFill/>
                    </a:lnR>
                    <a:lnT>
                      <a:noFill/>
                    </a:lnT>
                    <a:lnB>
                      <a:noFill/>
                    </a:lnB>
                    <a:solidFill>
                      <a:srgbClr val="F5F3EE"/>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F5F3EE"/>
                    </a:solidFill>
                  </a:tcPr>
                </a:tc>
                <a:extLst>
                  <a:ext uri="{0D108BD9-81ED-4DB2-BD59-A6C34878D82A}">
                    <a16:rowId xmlns:a16="http://schemas.microsoft.com/office/drawing/2014/main" val="1186490870"/>
                  </a:ext>
                </a:extLst>
              </a:tr>
              <a:tr h="159003">
                <a:tc>
                  <a:txBody>
                    <a:bodyPr/>
                    <a:lstStyle/>
                    <a:p>
                      <a:pPr algn="l" fontAlgn="b"/>
                      <a:r>
                        <a:rPr lang="sv-SE" sz="1100" b="0" i="0" u="none" strike="noStrike" dirty="0">
                          <a:solidFill>
                            <a:srgbClr val="000000"/>
                          </a:solidFill>
                          <a:effectLst/>
                          <a:latin typeface="Arial Narrow" panose="020B0606020202030204" pitchFamily="34" charset="0"/>
                        </a:rPr>
                        <a:t>Hypergene</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Systemstöd för ekonomisk planering, budgetering, uppföljning och analys.</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Antal användare. </a:t>
                      </a:r>
                    </a:p>
                  </a:txBody>
                  <a:tcPr marL="36000" marR="36000" marT="18000" marB="18000">
                    <a:lnL>
                      <a:noFill/>
                    </a:lnL>
                    <a:lnR>
                      <a:noFill/>
                    </a:lnR>
                    <a:lnT>
                      <a:noFill/>
                    </a:lnT>
                    <a:lnB>
                      <a:noFill/>
                    </a:lnB>
                    <a:solidFill>
                      <a:srgbClr val="D9D9D9"/>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8 600</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8 000</a:t>
                      </a:r>
                    </a:p>
                  </a:txBody>
                  <a:tcPr marL="36000" marR="36000" marT="18000" marB="18000">
                    <a:lnL>
                      <a:noFill/>
                    </a:lnL>
                    <a:lnR>
                      <a:noFill/>
                    </a:lnR>
                    <a:lnT>
                      <a:noFill/>
                    </a:lnT>
                    <a:lnB>
                      <a:noFill/>
                    </a:lnB>
                    <a:solidFill>
                      <a:srgbClr val="D9D9D9"/>
                    </a:solidFill>
                  </a:tcPr>
                </a:tc>
                <a:tc>
                  <a:txBody>
                    <a:bodyPr/>
                    <a:lstStyle/>
                    <a:p>
                      <a:pPr algn="l" fontAlgn="b"/>
                      <a:r>
                        <a:rPr lang="sv-SE" sz="1050" b="0" i="0" u="none" strike="noStrike" dirty="0">
                          <a:solidFill>
                            <a:srgbClr val="000000"/>
                          </a:solidFill>
                          <a:effectLst/>
                          <a:latin typeface="Arial Narrow" panose="020B0606020202030204" pitchFamily="34" charset="0"/>
                        </a:rPr>
                        <a:t>Nyttjas inom stadens förvaltningar, samt av två bolag. </a:t>
                      </a:r>
                    </a:p>
                  </a:txBody>
                  <a:tcPr marL="36000" marR="36000" marT="18000" marB="18000">
                    <a:lnL>
                      <a:noFill/>
                    </a:lnL>
                    <a:lnR>
                      <a:noFill/>
                    </a:lnR>
                    <a:lnT>
                      <a:noFill/>
                    </a:lnT>
                    <a:lnB>
                      <a:noFill/>
                    </a:lnB>
                    <a:solidFill>
                      <a:srgbClr val="D9D9D9"/>
                    </a:solidFill>
                  </a:tcPr>
                </a:tc>
                <a:extLst>
                  <a:ext uri="{0D108BD9-81ED-4DB2-BD59-A6C34878D82A}">
                    <a16:rowId xmlns:a16="http://schemas.microsoft.com/office/drawing/2014/main" val="3999926770"/>
                  </a:ext>
                </a:extLst>
              </a:tr>
            </a:tbl>
          </a:graphicData>
        </a:graphic>
      </p:graphicFrame>
    </p:spTree>
    <p:extLst>
      <p:ext uri="{BB962C8B-B14F-4D97-AF65-F5344CB8AC3E}">
        <p14:creationId xmlns:p14="http://schemas.microsoft.com/office/powerpoint/2010/main" val="2207889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2B779BC-3ADA-4E8A-88DF-A95F15B1146B}"/>
              </a:ext>
            </a:extLst>
          </p:cNvPr>
          <p:cNvSpPr>
            <a:spLocks noGrp="1"/>
          </p:cNvSpPr>
          <p:nvPr>
            <p:ph type="ctrTitle"/>
          </p:nvPr>
        </p:nvSpPr>
        <p:spPr/>
        <p:txBody>
          <a:bodyPr/>
          <a:lstStyle/>
          <a:p>
            <a:r>
              <a:rPr lang="sv-SE" dirty="0"/>
              <a:t>Information om objekten i IT-prislistan</a:t>
            </a:r>
            <a:br>
              <a:rPr lang="sv-SE" dirty="0"/>
            </a:br>
            <a:r>
              <a:rPr lang="sv-SE" sz="2000" b="0" i="1" dirty="0"/>
              <a:t>Objekt från I* till L*</a:t>
            </a:r>
            <a:endParaRPr lang="sv-SE" b="0" i="1" dirty="0"/>
          </a:p>
        </p:txBody>
      </p:sp>
      <p:graphicFrame>
        <p:nvGraphicFramePr>
          <p:cNvPr id="4" name="Tabell 3">
            <a:extLst>
              <a:ext uri="{FF2B5EF4-FFF2-40B4-BE49-F238E27FC236}">
                <a16:creationId xmlns:a16="http://schemas.microsoft.com/office/drawing/2014/main" id="{A6D9FE83-9756-4CBA-9614-41231EC94757}"/>
              </a:ext>
            </a:extLst>
          </p:cNvPr>
          <p:cNvGraphicFramePr>
            <a:graphicFrameLocks noGrp="1"/>
          </p:cNvGraphicFramePr>
          <p:nvPr>
            <p:extLst>
              <p:ext uri="{D42A27DB-BD31-4B8C-83A1-F6EECF244321}">
                <p14:modId xmlns:p14="http://schemas.microsoft.com/office/powerpoint/2010/main" val="568493751"/>
              </p:ext>
            </p:extLst>
          </p:nvPr>
        </p:nvGraphicFramePr>
        <p:xfrm>
          <a:off x="589286" y="1288800"/>
          <a:ext cx="11339361" cy="5281200"/>
        </p:xfrm>
        <a:graphic>
          <a:graphicData uri="http://schemas.openxmlformats.org/drawingml/2006/table">
            <a:tbl>
              <a:tblPr/>
              <a:tblGrid>
                <a:gridCol w="1130659">
                  <a:extLst>
                    <a:ext uri="{9D8B030D-6E8A-4147-A177-3AD203B41FA5}">
                      <a16:colId xmlns:a16="http://schemas.microsoft.com/office/drawing/2014/main" val="537654599"/>
                    </a:ext>
                  </a:extLst>
                </a:gridCol>
                <a:gridCol w="2647863">
                  <a:extLst>
                    <a:ext uri="{9D8B030D-6E8A-4147-A177-3AD203B41FA5}">
                      <a16:colId xmlns:a16="http://schemas.microsoft.com/office/drawing/2014/main" val="1496594787"/>
                    </a:ext>
                  </a:extLst>
                </a:gridCol>
                <a:gridCol w="1872208">
                  <a:extLst>
                    <a:ext uri="{9D8B030D-6E8A-4147-A177-3AD203B41FA5}">
                      <a16:colId xmlns:a16="http://schemas.microsoft.com/office/drawing/2014/main" val="958800717"/>
                    </a:ext>
                  </a:extLst>
                </a:gridCol>
                <a:gridCol w="521207">
                  <a:extLst>
                    <a:ext uri="{9D8B030D-6E8A-4147-A177-3AD203B41FA5}">
                      <a16:colId xmlns:a16="http://schemas.microsoft.com/office/drawing/2014/main" val="3344967881"/>
                    </a:ext>
                  </a:extLst>
                </a:gridCol>
                <a:gridCol w="582412">
                  <a:extLst>
                    <a:ext uri="{9D8B030D-6E8A-4147-A177-3AD203B41FA5}">
                      <a16:colId xmlns:a16="http://schemas.microsoft.com/office/drawing/2014/main" val="2311376213"/>
                    </a:ext>
                  </a:extLst>
                </a:gridCol>
                <a:gridCol w="613014">
                  <a:extLst>
                    <a:ext uri="{9D8B030D-6E8A-4147-A177-3AD203B41FA5}">
                      <a16:colId xmlns:a16="http://schemas.microsoft.com/office/drawing/2014/main" val="265500309"/>
                    </a:ext>
                  </a:extLst>
                </a:gridCol>
                <a:gridCol w="613015">
                  <a:extLst>
                    <a:ext uri="{9D8B030D-6E8A-4147-A177-3AD203B41FA5}">
                      <a16:colId xmlns:a16="http://schemas.microsoft.com/office/drawing/2014/main" val="2175833257"/>
                    </a:ext>
                  </a:extLst>
                </a:gridCol>
                <a:gridCol w="3358983">
                  <a:extLst>
                    <a:ext uri="{9D8B030D-6E8A-4147-A177-3AD203B41FA5}">
                      <a16:colId xmlns:a16="http://schemas.microsoft.com/office/drawing/2014/main" val="2896346506"/>
                    </a:ext>
                  </a:extLst>
                </a:gridCol>
              </a:tblGrid>
              <a:tr h="159003">
                <a:tc>
                  <a:txBody>
                    <a:bodyPr/>
                    <a:lstStyle/>
                    <a:p>
                      <a:pPr algn="l" fontAlgn="b"/>
                      <a:r>
                        <a:rPr lang="sv-SE" sz="1100" b="1" i="0" u="none" strike="noStrike" dirty="0">
                          <a:solidFill>
                            <a:srgbClr val="000000"/>
                          </a:solidFill>
                          <a:effectLst/>
                          <a:latin typeface="Arial Narrow" panose="020B0606020202030204" pitchFamily="34" charset="0"/>
                        </a:rPr>
                        <a:t>Objekt</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Om objektet</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Kostnadsfördelning</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Bolag</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Förvalt-ningar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Pris 2027 (tkr)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tc>
                  <a:txBody>
                    <a:bodyPr/>
                    <a:lstStyle/>
                    <a:p>
                      <a:pPr algn="l" fontAlgn="b"/>
                      <a:r>
                        <a:rPr lang="sv-SE" sz="1100" b="1" i="0" u="none" strike="noStrike" dirty="0">
                          <a:solidFill>
                            <a:srgbClr val="000000"/>
                          </a:solidFill>
                          <a:effectLst/>
                          <a:latin typeface="Arial Narrow" panose="020B0606020202030204" pitchFamily="34" charset="0"/>
                        </a:rPr>
                        <a:t>Pris 2026 (tkr)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tc>
                  <a:txBody>
                    <a:bodyPr/>
                    <a:lstStyle/>
                    <a:p>
                      <a:pPr algn="l" fontAlgn="b"/>
                      <a:r>
                        <a:rPr lang="sv-SE" sz="1100" b="1" i="0" u="none" strike="noStrike" dirty="0">
                          <a:solidFill>
                            <a:srgbClr val="000000"/>
                          </a:solidFill>
                          <a:effectLst/>
                          <a:latin typeface="Arial Narrow" panose="020B0606020202030204" pitchFamily="34" charset="0"/>
                        </a:rPr>
                        <a:t>Kommentarer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28555107"/>
                  </a:ext>
                </a:extLst>
              </a:tr>
              <a:tr h="159003">
                <a:tc>
                  <a:txBody>
                    <a:bodyPr/>
                    <a:lstStyle/>
                    <a:p>
                      <a:pPr algn="l" fontAlgn="b"/>
                      <a:r>
                        <a:rPr lang="sv-SE" sz="1100" b="0" i="0" u="none" strike="noStrike" dirty="0">
                          <a:solidFill>
                            <a:srgbClr val="000000"/>
                          </a:solidFill>
                          <a:effectLst/>
                          <a:latin typeface="Arial Narrow" panose="020B0606020202030204" pitchFamily="34" charset="0"/>
                        </a:rPr>
                        <a:t>Identitets- och åtkomsthantering </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Stadens gemensamma tjänster för användar-kataloger, identitetshantering och inloggning. Området innehåller bland annat tjänster för elektroniska underskrifter, inloggningsmetoder (ex tjänstekort och BankID), digitala certifikat och kontohantering.</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Antal anställda. </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39 000</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36 000</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b"/>
                      <a:r>
                        <a:rPr lang="sv-SE" sz="1050" b="0" i="0" u="none" strike="noStrike" dirty="0">
                          <a:solidFill>
                            <a:srgbClr val="000000"/>
                          </a:solidFill>
                          <a:effectLst/>
                          <a:latin typeface="Arial Narrow" panose="020B0606020202030204" pitchFamily="34" charset="0"/>
                        </a:rPr>
                        <a:t>Kostnadsökningen 2026 förklaras främst av förvaltningskostnader vid etableringen av krypteringsplattform (informationssäkerhet). </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3841614801"/>
                  </a:ext>
                </a:extLst>
              </a:tr>
              <a:tr h="159003">
                <a:tc>
                  <a:txBody>
                    <a:bodyPr/>
                    <a:lstStyle/>
                    <a:p>
                      <a:pPr algn="l" fontAlgn="b"/>
                      <a:r>
                        <a:rPr lang="sv-SE" sz="1100" b="0" i="0" u="none" strike="noStrike" dirty="0">
                          <a:solidFill>
                            <a:srgbClr val="000000"/>
                          </a:solidFill>
                          <a:effectLst/>
                          <a:latin typeface="Arial Narrow" panose="020B0606020202030204" pitchFamily="34" charset="0"/>
                        </a:rPr>
                        <a:t>ILS</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kern="1200" dirty="0">
                          <a:solidFill>
                            <a:srgbClr val="000000"/>
                          </a:solidFill>
                          <a:effectLst/>
                          <a:latin typeface="Arial Narrow" panose="020B0606020202030204" pitchFamily="34" charset="0"/>
                          <a:ea typeface="+mn-ea"/>
                          <a:cs typeface="+mn-cs"/>
                        </a:rPr>
                        <a:t>Stadens system för integrerad ledning och uppföljning av verksamhet och ekonomi.</a:t>
                      </a:r>
                    </a:p>
                  </a:txBody>
                  <a:tcPr marL="36000" marR="36000" marT="18000" marB="18000">
                    <a:lnL>
                      <a:noFill/>
                    </a:lnL>
                    <a:lnR>
                      <a:noFill/>
                    </a:lnR>
                    <a:lnT>
                      <a:noFill/>
                    </a:lnT>
                    <a:lnB>
                      <a:noFill/>
                    </a:lnB>
                    <a:solidFill>
                      <a:srgbClr val="F5F3EE"/>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sv-SE" sz="1100" b="0" i="0" u="none" strike="noStrike" dirty="0">
                          <a:solidFill>
                            <a:srgbClr val="000000"/>
                          </a:solidFill>
                          <a:effectLst/>
                          <a:latin typeface="Arial Narrow" panose="020B0606020202030204" pitchFamily="34" charset="0"/>
                        </a:rPr>
                        <a:t>Antal anställda. </a:t>
                      </a:r>
                    </a:p>
                  </a:txBody>
                  <a:tcPr marL="36000" marR="36000" marT="18000" marB="18000">
                    <a:lnL>
                      <a:noFill/>
                    </a:lnL>
                    <a:lnR>
                      <a:noFill/>
                    </a:lnR>
                    <a:lnT>
                      <a:noFill/>
                    </a:lnT>
                    <a:lnB>
                      <a:noFill/>
                    </a:lnB>
                    <a:solidFill>
                      <a:srgbClr val="F5F3EE"/>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7 660</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6 000</a:t>
                      </a:r>
                    </a:p>
                  </a:txBody>
                  <a:tcPr marL="36000" marR="36000" marT="18000" marB="18000">
                    <a:lnL>
                      <a:noFill/>
                    </a:lnL>
                    <a:lnR>
                      <a:noFill/>
                    </a:lnR>
                    <a:lnT>
                      <a:noFill/>
                    </a:lnT>
                    <a:lnB>
                      <a:noFill/>
                    </a:lnB>
                    <a:solidFill>
                      <a:srgbClr val="F5F3EE"/>
                    </a:solidFill>
                  </a:tcPr>
                </a:tc>
                <a:tc>
                  <a:txBody>
                    <a:bodyPr/>
                    <a:lstStyle/>
                    <a:p>
                      <a:pPr algn="l" fontAlgn="b"/>
                      <a:r>
                        <a:rPr lang="sv-SE" sz="1050" b="0" i="0" u="none" strike="noStrike" dirty="0">
                          <a:solidFill>
                            <a:srgbClr val="000000"/>
                          </a:solidFill>
                          <a:effectLst/>
                          <a:latin typeface="Arial Narrow" panose="020B0606020202030204" pitchFamily="34" charset="0"/>
                        </a:rPr>
                        <a:t>Modul för lokalförsörjning tillkommer år 2026. </a:t>
                      </a:r>
                    </a:p>
                  </a:txBody>
                  <a:tcPr marL="36000" marR="36000" marT="18000" marB="18000">
                    <a:lnL>
                      <a:noFill/>
                    </a:lnL>
                    <a:lnR>
                      <a:noFill/>
                    </a:lnR>
                    <a:lnT>
                      <a:noFill/>
                    </a:lnT>
                    <a:lnB>
                      <a:noFill/>
                    </a:lnB>
                    <a:solidFill>
                      <a:srgbClr val="F5F3EE"/>
                    </a:solidFill>
                  </a:tcPr>
                </a:tc>
                <a:extLst>
                  <a:ext uri="{0D108BD9-81ED-4DB2-BD59-A6C34878D82A}">
                    <a16:rowId xmlns:a16="http://schemas.microsoft.com/office/drawing/2014/main" val="223094150"/>
                  </a:ext>
                </a:extLst>
              </a:tr>
              <a:tr h="159003">
                <a:tc>
                  <a:txBody>
                    <a:bodyPr/>
                    <a:lstStyle/>
                    <a:p>
                      <a:pPr algn="l" fontAlgn="b"/>
                      <a:r>
                        <a:rPr lang="sv-SE" sz="1100" b="0" i="0" u="none" strike="noStrike" dirty="0">
                          <a:solidFill>
                            <a:srgbClr val="000000"/>
                          </a:solidFill>
                          <a:effectLst/>
                          <a:latin typeface="Arial Narrow" panose="020B0606020202030204" pitchFamily="34" charset="0"/>
                        </a:rPr>
                        <a:t>Infosoc</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kern="1200" dirty="0">
                          <a:solidFill>
                            <a:srgbClr val="000000"/>
                          </a:solidFill>
                          <a:effectLst/>
                          <a:latin typeface="Arial Narrow" panose="020B0606020202030204" pitchFamily="34" charset="0"/>
                          <a:ea typeface="+mn-ea"/>
                          <a:cs typeface="+mn-cs"/>
                        </a:rPr>
                        <a:t>Rättsdatabas för socialtjänst, hälso- och</a:t>
                      </a:r>
                    </a:p>
                    <a:p>
                      <a:pPr algn="l" fontAlgn="t"/>
                      <a:r>
                        <a:rPr lang="sv-SE" sz="1100" b="0" i="0" u="none" strike="noStrike" kern="1200" dirty="0">
                          <a:solidFill>
                            <a:srgbClr val="000000"/>
                          </a:solidFill>
                          <a:effectLst/>
                          <a:latin typeface="Arial Narrow" panose="020B0606020202030204" pitchFamily="34" charset="0"/>
                          <a:ea typeface="+mn-ea"/>
                          <a:cs typeface="+mn-cs"/>
                        </a:rPr>
                        <a:t>sjukvård samt alkoholtillstånd.</a:t>
                      </a:r>
                    </a:p>
                  </a:txBody>
                  <a:tcPr marL="36000" marR="36000" marT="18000" marB="18000">
                    <a:lnL>
                      <a:noFill/>
                    </a:lnL>
                    <a:lnR>
                      <a:noFill/>
                    </a:lnR>
                    <a:lnT>
                      <a:noFill/>
                    </a:lnT>
                    <a:lnB>
                      <a:noFill/>
                    </a:lnB>
                    <a:solidFill>
                      <a:srgbClr val="D9D9D9"/>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sv-SE" sz="1100" b="0" i="0" u="none" strike="noStrike" dirty="0">
                          <a:solidFill>
                            <a:srgbClr val="000000"/>
                          </a:solidFill>
                          <a:effectLst/>
                          <a:latin typeface="Arial Narrow" panose="020B0606020202030204" pitchFamily="34" charset="0"/>
                        </a:rPr>
                        <a:t>Ej tillämplig, objektet utgår. </a:t>
                      </a:r>
                    </a:p>
                  </a:txBody>
                  <a:tcPr marL="36000" marR="36000" marT="18000" marB="18000">
                    <a:lnL>
                      <a:noFill/>
                    </a:lnL>
                    <a:lnR>
                      <a:noFill/>
                    </a:lnR>
                    <a:lnT>
                      <a:noFill/>
                    </a:lnT>
                    <a:lnB>
                      <a:noFill/>
                    </a:lnB>
                    <a:solidFill>
                      <a:srgbClr val="D9D9D9"/>
                    </a:solidFill>
                  </a:tcPr>
                </a:tc>
                <a:tc>
                  <a:txBody>
                    <a:bodyPr/>
                    <a:lstStyle/>
                    <a:p>
                      <a:pPr algn="ctr" fontAlgn="t"/>
                      <a:endParaRPr lang="sv-SE" sz="110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D9D9D9"/>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a:t>
                      </a:r>
                    </a:p>
                  </a:txBody>
                  <a:tcPr marL="36000" marR="36000" marT="18000" marB="18000">
                    <a:lnL>
                      <a:noFill/>
                    </a:lnL>
                    <a:lnR>
                      <a:noFill/>
                    </a:lnR>
                    <a:lnT>
                      <a:noFill/>
                    </a:lnT>
                    <a:lnB>
                      <a:noFill/>
                    </a:lnB>
                    <a:solidFill>
                      <a:srgbClr val="D9D9D9"/>
                    </a:solidFill>
                  </a:tcPr>
                </a:tc>
                <a:tc>
                  <a:txBody>
                    <a:bodyPr/>
                    <a:lstStyle/>
                    <a:p>
                      <a:pPr algn="l" fontAlgn="b"/>
                      <a:r>
                        <a:rPr lang="sv-SE" sz="1050" b="0" i="0" u="none" strike="noStrike" dirty="0">
                          <a:solidFill>
                            <a:srgbClr val="000000"/>
                          </a:solidFill>
                          <a:effectLst/>
                          <a:latin typeface="Arial Narrow" panose="020B0606020202030204" pitchFamily="34" charset="0"/>
                        </a:rPr>
                        <a:t>Prislisteobjektet upphör i it-prislistan 2026. </a:t>
                      </a:r>
                    </a:p>
                  </a:txBody>
                  <a:tcPr marL="36000" marR="36000" marT="18000" marB="18000">
                    <a:lnL>
                      <a:noFill/>
                    </a:lnL>
                    <a:lnR>
                      <a:noFill/>
                    </a:lnR>
                    <a:lnT>
                      <a:noFill/>
                    </a:lnT>
                    <a:lnB>
                      <a:noFill/>
                    </a:lnB>
                    <a:solidFill>
                      <a:srgbClr val="D9D9D9"/>
                    </a:solidFill>
                  </a:tcPr>
                </a:tc>
                <a:extLst>
                  <a:ext uri="{0D108BD9-81ED-4DB2-BD59-A6C34878D82A}">
                    <a16:rowId xmlns:a16="http://schemas.microsoft.com/office/drawing/2014/main" val="2256685692"/>
                  </a:ext>
                </a:extLst>
              </a:tr>
              <a:tr h="159003">
                <a:tc>
                  <a:txBody>
                    <a:bodyPr/>
                    <a:lstStyle/>
                    <a:p>
                      <a:pPr algn="l" fontAlgn="b"/>
                      <a:r>
                        <a:rPr lang="sv-SE" sz="1100" b="0" i="0" u="none" strike="noStrike" dirty="0">
                          <a:solidFill>
                            <a:srgbClr val="000000"/>
                          </a:solidFill>
                          <a:effectLst/>
                          <a:latin typeface="Arial Narrow" panose="020B0606020202030204" pitchFamily="34" charset="0"/>
                        </a:rPr>
                        <a:t>Inköp</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kern="1200" dirty="0">
                          <a:solidFill>
                            <a:srgbClr val="000000"/>
                          </a:solidFill>
                          <a:effectLst/>
                          <a:latin typeface="Arial Narrow" panose="020B0606020202030204" pitchFamily="34" charset="0"/>
                          <a:ea typeface="+mn-ea"/>
                          <a:cs typeface="+mn-cs"/>
                        </a:rPr>
                        <a:t>Systemstöd för stadens inköpsprocess som innefattar inköpssystemet i Agresso, upphandlings- och avtalssystem samt inköpsanalysverktyg (spend).</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Kostnaden för inköpssystemet fördelas utifrån antal transaktioner och rekvirenter i Agresso. Övriga delar fördelas utifrån stor, medel eller liten inköpsorganisation utifrån inköpsanalysverktyget (spend).</a:t>
                      </a:r>
                    </a:p>
                  </a:txBody>
                  <a:tcPr marL="36000" marR="36000" marT="18000" marB="18000">
                    <a:lnL>
                      <a:noFill/>
                    </a:lnL>
                    <a:lnR>
                      <a:noFill/>
                    </a:lnR>
                    <a:lnT>
                      <a:noFill/>
                    </a:lnT>
                    <a:lnB>
                      <a:noFill/>
                    </a:lnB>
                    <a:solidFill>
                      <a:srgbClr val="F5F3EE"/>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17 300</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16 800</a:t>
                      </a:r>
                    </a:p>
                  </a:txBody>
                  <a:tcPr marL="36000" marR="36000" marT="18000" marB="18000">
                    <a:lnL>
                      <a:noFill/>
                    </a:lnL>
                    <a:lnR>
                      <a:noFill/>
                    </a:lnR>
                    <a:lnT>
                      <a:noFill/>
                    </a:lnT>
                    <a:lnB>
                      <a:noFill/>
                    </a:lnB>
                    <a:solidFill>
                      <a:srgbClr val="F5F3EE"/>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F5F3EE"/>
                    </a:solidFill>
                  </a:tcPr>
                </a:tc>
                <a:extLst>
                  <a:ext uri="{0D108BD9-81ED-4DB2-BD59-A6C34878D82A}">
                    <a16:rowId xmlns:a16="http://schemas.microsoft.com/office/drawing/2014/main" val="2265344225"/>
                  </a:ext>
                </a:extLst>
              </a:tr>
              <a:tr h="159003">
                <a:tc>
                  <a:txBody>
                    <a:bodyPr/>
                    <a:lstStyle/>
                    <a:p>
                      <a:pPr algn="l" fontAlgn="b"/>
                      <a:r>
                        <a:rPr lang="sv-SE" sz="1100" b="0" i="0" u="none" strike="noStrike" dirty="0">
                          <a:solidFill>
                            <a:srgbClr val="000000"/>
                          </a:solidFill>
                          <a:effectLst/>
                          <a:latin typeface="Arial Narrow" panose="020B0606020202030204" pitchFamily="34" charset="0"/>
                        </a:rPr>
                        <a:t>LOIS</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Stadens lokaladministrativa system för in- och uthyrning av lokaler och lägenheter.</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Rörlig kostnad utifrån antalet avtal samt fast kostnad med olika kostnadsnivåer utifrån användning/antal kontrakt. </a:t>
                      </a:r>
                    </a:p>
                  </a:txBody>
                  <a:tcPr marL="36000" marR="36000" marT="18000" marB="18000">
                    <a:lnL>
                      <a:noFill/>
                    </a:lnL>
                    <a:lnR>
                      <a:noFill/>
                    </a:lnR>
                    <a:lnT>
                      <a:noFill/>
                    </a:lnT>
                    <a:lnB>
                      <a:noFill/>
                    </a:lnB>
                    <a:solidFill>
                      <a:srgbClr val="D9D9D9"/>
                    </a:solidFill>
                  </a:tcPr>
                </a:tc>
                <a:tc>
                  <a:txBody>
                    <a:bodyPr/>
                    <a:lstStyle/>
                    <a:p>
                      <a:pPr algn="ctr" fontAlgn="t"/>
                      <a:endParaRPr lang="sv-SE" sz="110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D9D9D9"/>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4 703</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4 300</a:t>
                      </a:r>
                    </a:p>
                  </a:txBody>
                  <a:tcPr marL="36000" marR="36000" marT="18000" marB="18000">
                    <a:lnL>
                      <a:noFill/>
                    </a:lnL>
                    <a:lnR>
                      <a:noFill/>
                    </a:lnR>
                    <a:lnT>
                      <a:noFill/>
                    </a:lnT>
                    <a:lnB>
                      <a:noFill/>
                    </a:lnB>
                    <a:solidFill>
                      <a:srgbClr val="D9D9D9"/>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D9D9D9"/>
                    </a:solidFill>
                  </a:tcPr>
                </a:tc>
                <a:extLst>
                  <a:ext uri="{0D108BD9-81ED-4DB2-BD59-A6C34878D82A}">
                    <a16:rowId xmlns:a16="http://schemas.microsoft.com/office/drawing/2014/main" val="13186696"/>
                  </a:ext>
                </a:extLst>
              </a:tr>
              <a:tr h="159003">
                <a:tc>
                  <a:txBody>
                    <a:bodyPr/>
                    <a:lstStyle/>
                    <a:p>
                      <a:pPr algn="l" fontAlgn="b"/>
                      <a:r>
                        <a:rPr lang="sv-SE" sz="1100" b="0" i="0" u="none" strike="noStrike" dirty="0">
                          <a:solidFill>
                            <a:srgbClr val="000000"/>
                          </a:solidFill>
                          <a:effectLst/>
                          <a:latin typeface="Arial Narrow" panose="020B0606020202030204" pitchFamily="34" charset="0"/>
                        </a:rPr>
                        <a:t>Löne- och PA-system</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Stadens löne- och personaladministrativa</a:t>
                      </a:r>
                    </a:p>
                    <a:p>
                      <a:pPr algn="l" fontAlgn="t"/>
                      <a:r>
                        <a:rPr lang="sv-SE" sz="1100" b="0" i="0" u="none" strike="noStrike" dirty="0">
                          <a:solidFill>
                            <a:srgbClr val="000000"/>
                          </a:solidFill>
                          <a:effectLst/>
                          <a:latin typeface="Arial Narrow" panose="020B0606020202030204" pitchFamily="34" charset="0"/>
                        </a:rPr>
                        <a:t>system som bland annat innefattar lönesystem, rekryteringsannonssystem och planeringssystem för schemaläggning, bemanning och tid. </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Kostnaden för löne- och PA-system fördelas efter antal anställda, rekryteringsannonssystemet efter antal anställda i de bolag och förvaltningar som deltog i upp-handlingen, planeringssystemet Medvind utifrån genomsnittligt antal användare. </a:t>
                      </a:r>
                    </a:p>
                  </a:txBody>
                  <a:tcPr marL="36000" marR="36000" marT="18000" marB="18000">
                    <a:lnL>
                      <a:noFill/>
                    </a:lnL>
                    <a:lnR>
                      <a:noFill/>
                    </a:lnR>
                    <a:lnT>
                      <a:noFill/>
                    </a:lnT>
                    <a:lnB>
                      <a:noFill/>
                    </a:lnB>
                    <a:solidFill>
                      <a:srgbClr val="F5F3EE"/>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ctr"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50 038</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46 000</a:t>
                      </a:r>
                    </a:p>
                  </a:txBody>
                  <a:tcPr marL="36000" marR="36000" marT="18000" marB="18000">
                    <a:lnL>
                      <a:noFill/>
                    </a:lnL>
                    <a:lnR>
                      <a:noFill/>
                    </a:lnR>
                    <a:lnT>
                      <a:noFill/>
                    </a:lnT>
                    <a:lnB>
                      <a:noFill/>
                    </a:lnB>
                    <a:solidFill>
                      <a:srgbClr val="F5F3EE"/>
                    </a:solidFill>
                  </a:tcPr>
                </a:tc>
                <a:tc>
                  <a:txBody>
                    <a:bodyPr/>
                    <a:lstStyle/>
                    <a:p>
                      <a:pPr algn="l" fontAlgn="b"/>
                      <a:r>
                        <a:rPr lang="sv-SE" sz="1050" b="0" i="0" u="none" strike="noStrike" dirty="0">
                          <a:solidFill>
                            <a:srgbClr val="000000"/>
                          </a:solidFill>
                          <a:effectLst/>
                          <a:latin typeface="Arial Narrow" panose="020B0606020202030204" pitchFamily="34" charset="0"/>
                        </a:rPr>
                        <a:t>Planeringssystemet Medvind för schemaläggning, bemanning och tid lyfts in i it-prislistan; påverkar berörda förvaltningar (kostnads-neutralt). Har tidigare hanterats via fakturering utanför it-prislistan. Kostnaden för Medvind 2026 uppgår till 5 700 tkr vilket förklarar den större delen av objektets kostnadsökning. </a:t>
                      </a:r>
                    </a:p>
                  </a:txBody>
                  <a:tcPr marL="36000" marR="36000" marT="18000" marB="18000">
                    <a:lnL>
                      <a:noFill/>
                    </a:lnL>
                    <a:lnR>
                      <a:noFill/>
                    </a:lnR>
                    <a:lnT>
                      <a:noFill/>
                    </a:lnT>
                    <a:lnB>
                      <a:noFill/>
                    </a:lnB>
                    <a:solidFill>
                      <a:srgbClr val="F5F3EE"/>
                    </a:solidFill>
                  </a:tcPr>
                </a:tc>
                <a:extLst>
                  <a:ext uri="{0D108BD9-81ED-4DB2-BD59-A6C34878D82A}">
                    <a16:rowId xmlns:a16="http://schemas.microsoft.com/office/drawing/2014/main" val="3093593643"/>
                  </a:ext>
                </a:extLst>
              </a:tr>
            </a:tbl>
          </a:graphicData>
        </a:graphic>
      </p:graphicFrame>
    </p:spTree>
    <p:extLst>
      <p:ext uri="{BB962C8B-B14F-4D97-AF65-F5344CB8AC3E}">
        <p14:creationId xmlns:p14="http://schemas.microsoft.com/office/powerpoint/2010/main" val="325360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2B779BC-3ADA-4E8A-88DF-A95F15B1146B}"/>
              </a:ext>
            </a:extLst>
          </p:cNvPr>
          <p:cNvSpPr>
            <a:spLocks noGrp="1"/>
          </p:cNvSpPr>
          <p:nvPr>
            <p:ph type="ctrTitle"/>
          </p:nvPr>
        </p:nvSpPr>
        <p:spPr/>
        <p:txBody>
          <a:bodyPr/>
          <a:lstStyle/>
          <a:p>
            <a:r>
              <a:rPr lang="sv-SE" dirty="0"/>
              <a:t>Information om objekten i IT-prislistan</a:t>
            </a:r>
            <a:br>
              <a:rPr lang="sv-SE" dirty="0"/>
            </a:br>
            <a:r>
              <a:rPr lang="sv-SE" sz="2000" b="0" i="1" dirty="0"/>
              <a:t>Objekt från M* till S*</a:t>
            </a:r>
            <a:endParaRPr lang="sv-SE" b="0" i="1" dirty="0"/>
          </a:p>
        </p:txBody>
      </p:sp>
      <p:graphicFrame>
        <p:nvGraphicFramePr>
          <p:cNvPr id="4" name="Tabell 3">
            <a:extLst>
              <a:ext uri="{FF2B5EF4-FFF2-40B4-BE49-F238E27FC236}">
                <a16:creationId xmlns:a16="http://schemas.microsoft.com/office/drawing/2014/main" id="{A6D9FE83-9756-4CBA-9614-41231EC94757}"/>
              </a:ext>
            </a:extLst>
          </p:cNvPr>
          <p:cNvGraphicFramePr>
            <a:graphicFrameLocks noGrp="1"/>
          </p:cNvGraphicFramePr>
          <p:nvPr>
            <p:extLst>
              <p:ext uri="{D42A27DB-BD31-4B8C-83A1-F6EECF244321}">
                <p14:modId xmlns:p14="http://schemas.microsoft.com/office/powerpoint/2010/main" val="489042142"/>
              </p:ext>
            </p:extLst>
          </p:nvPr>
        </p:nvGraphicFramePr>
        <p:xfrm>
          <a:off x="589286" y="1288800"/>
          <a:ext cx="11339361" cy="4791420"/>
        </p:xfrm>
        <a:graphic>
          <a:graphicData uri="http://schemas.openxmlformats.org/drawingml/2006/table">
            <a:tbl>
              <a:tblPr/>
              <a:tblGrid>
                <a:gridCol w="1186234">
                  <a:extLst>
                    <a:ext uri="{9D8B030D-6E8A-4147-A177-3AD203B41FA5}">
                      <a16:colId xmlns:a16="http://schemas.microsoft.com/office/drawing/2014/main" val="537654599"/>
                    </a:ext>
                  </a:extLst>
                </a:gridCol>
                <a:gridCol w="2880320">
                  <a:extLst>
                    <a:ext uri="{9D8B030D-6E8A-4147-A177-3AD203B41FA5}">
                      <a16:colId xmlns:a16="http://schemas.microsoft.com/office/drawing/2014/main" val="1496594787"/>
                    </a:ext>
                  </a:extLst>
                </a:gridCol>
                <a:gridCol w="1584176">
                  <a:extLst>
                    <a:ext uri="{9D8B030D-6E8A-4147-A177-3AD203B41FA5}">
                      <a16:colId xmlns:a16="http://schemas.microsoft.com/office/drawing/2014/main" val="958800717"/>
                    </a:ext>
                  </a:extLst>
                </a:gridCol>
                <a:gridCol w="521207">
                  <a:extLst>
                    <a:ext uri="{9D8B030D-6E8A-4147-A177-3AD203B41FA5}">
                      <a16:colId xmlns:a16="http://schemas.microsoft.com/office/drawing/2014/main" val="3344967881"/>
                    </a:ext>
                  </a:extLst>
                </a:gridCol>
                <a:gridCol w="582412">
                  <a:extLst>
                    <a:ext uri="{9D8B030D-6E8A-4147-A177-3AD203B41FA5}">
                      <a16:colId xmlns:a16="http://schemas.microsoft.com/office/drawing/2014/main" val="2311376213"/>
                    </a:ext>
                  </a:extLst>
                </a:gridCol>
                <a:gridCol w="613014">
                  <a:extLst>
                    <a:ext uri="{9D8B030D-6E8A-4147-A177-3AD203B41FA5}">
                      <a16:colId xmlns:a16="http://schemas.microsoft.com/office/drawing/2014/main" val="265500309"/>
                    </a:ext>
                  </a:extLst>
                </a:gridCol>
                <a:gridCol w="613015">
                  <a:extLst>
                    <a:ext uri="{9D8B030D-6E8A-4147-A177-3AD203B41FA5}">
                      <a16:colId xmlns:a16="http://schemas.microsoft.com/office/drawing/2014/main" val="2175833257"/>
                    </a:ext>
                  </a:extLst>
                </a:gridCol>
                <a:gridCol w="3358983">
                  <a:extLst>
                    <a:ext uri="{9D8B030D-6E8A-4147-A177-3AD203B41FA5}">
                      <a16:colId xmlns:a16="http://schemas.microsoft.com/office/drawing/2014/main" val="2896346506"/>
                    </a:ext>
                  </a:extLst>
                </a:gridCol>
              </a:tblGrid>
              <a:tr h="159003">
                <a:tc>
                  <a:txBody>
                    <a:bodyPr/>
                    <a:lstStyle/>
                    <a:p>
                      <a:pPr algn="l" fontAlgn="b"/>
                      <a:r>
                        <a:rPr lang="sv-SE" sz="1100" b="1" i="0" u="none" strike="noStrike" dirty="0">
                          <a:solidFill>
                            <a:srgbClr val="000000"/>
                          </a:solidFill>
                          <a:effectLst/>
                          <a:latin typeface="Arial Narrow" panose="020B0606020202030204" pitchFamily="34" charset="0"/>
                        </a:rPr>
                        <a:t>Objekt</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Om objektet</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Kostnadsfördelning</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Bolag</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Förvalt-ningar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Pris 2027 (tkr)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tc>
                  <a:txBody>
                    <a:bodyPr/>
                    <a:lstStyle/>
                    <a:p>
                      <a:pPr algn="l" fontAlgn="b"/>
                      <a:r>
                        <a:rPr lang="sv-SE" sz="1100" b="1" i="0" u="none" strike="noStrike" dirty="0">
                          <a:solidFill>
                            <a:srgbClr val="000000"/>
                          </a:solidFill>
                          <a:effectLst/>
                          <a:latin typeface="Arial Narrow" panose="020B0606020202030204" pitchFamily="34" charset="0"/>
                        </a:rPr>
                        <a:t>Pris 2026 (tkr)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tc>
                  <a:txBody>
                    <a:bodyPr/>
                    <a:lstStyle/>
                    <a:p>
                      <a:pPr algn="l" fontAlgn="b"/>
                      <a:r>
                        <a:rPr lang="sv-SE" sz="1100" b="1" i="0" u="none" strike="noStrike" dirty="0">
                          <a:solidFill>
                            <a:srgbClr val="000000"/>
                          </a:solidFill>
                          <a:effectLst/>
                          <a:latin typeface="Arial Narrow" panose="020B0606020202030204" pitchFamily="34" charset="0"/>
                        </a:rPr>
                        <a:t>Kommentarer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28555107"/>
                  </a:ext>
                </a:extLst>
              </a:tr>
              <a:tr h="159003">
                <a:tc>
                  <a:txBody>
                    <a:bodyPr/>
                    <a:lstStyle/>
                    <a:p>
                      <a:pPr algn="l" fontAlgn="b"/>
                      <a:r>
                        <a:rPr lang="sv-SE" sz="1100" b="0" i="0" u="none" strike="noStrike" dirty="0">
                          <a:solidFill>
                            <a:srgbClr val="000000"/>
                          </a:solidFill>
                          <a:effectLst/>
                          <a:latin typeface="Arial Narrow" panose="020B0606020202030204" pitchFamily="34" charset="0"/>
                        </a:rPr>
                        <a:t>Nationella e-hälsotjänster</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Innefattar stadens samverkan, säkerhetslösningar och avgifter för användning av regionala</a:t>
                      </a:r>
                    </a:p>
                    <a:p>
                      <a:pPr algn="l" fontAlgn="t"/>
                      <a:r>
                        <a:rPr lang="sv-SE" sz="1100" b="0" i="0" u="none" strike="noStrike" dirty="0">
                          <a:solidFill>
                            <a:srgbClr val="000000"/>
                          </a:solidFill>
                          <a:effectLst/>
                          <a:latin typeface="Arial Narrow" panose="020B0606020202030204" pitchFamily="34" charset="0"/>
                        </a:rPr>
                        <a:t>och nationella eHälsotjänster.</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Sammanvägning av antal kortinnehavare (gemensamma tjänster) och användning av tjänsterna.</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t"/>
                      <a:endParaRPr lang="sv-SE" sz="1100" b="0" i="0" u="none" strike="noStrike" dirty="0">
                        <a:solidFill>
                          <a:srgbClr val="000000"/>
                        </a:solidFill>
                        <a:effectLst/>
                        <a:latin typeface="Arial Narrow" panose="020B0606020202030204" pitchFamily="34" charset="0"/>
                      </a:endParaRP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6 000</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fontAlgn="b"/>
                      <a:r>
                        <a:rPr lang="sv-SE" sz="1100" b="0" i="0" u="none" strike="noStrike" kern="1200" dirty="0">
                          <a:solidFill>
                            <a:srgbClr val="000000"/>
                          </a:solidFill>
                          <a:effectLst/>
                          <a:latin typeface="Arial Narrow" panose="020B0606020202030204" pitchFamily="34" charset="0"/>
                          <a:ea typeface="+mn-ea"/>
                          <a:cs typeface="+mn-cs"/>
                        </a:rPr>
                        <a:t>4 400</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2265344225"/>
                  </a:ext>
                </a:extLst>
              </a:tr>
              <a:tr h="159003">
                <a:tc>
                  <a:txBody>
                    <a:bodyPr/>
                    <a:lstStyle/>
                    <a:p>
                      <a:pPr algn="l" fontAlgn="b"/>
                      <a:r>
                        <a:rPr lang="sv-SE" sz="1100" b="0" i="0" u="none" strike="noStrike" dirty="0">
                          <a:solidFill>
                            <a:srgbClr val="000000"/>
                          </a:solidFill>
                          <a:effectLst/>
                          <a:latin typeface="Arial Narrow" panose="020B0606020202030204" pitchFamily="34" charset="0"/>
                        </a:rPr>
                        <a:t>Plattform för applikationsserverdrift</a:t>
                      </a: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Stadens applikationsplattform för lokala verksamhetssystem (”Katalog B inom GSIT-avtalet”)</a:t>
                      </a:r>
                    </a:p>
                  </a:txBody>
                  <a:tcPr marL="36000" marR="36000" marT="18000" marB="18000">
                    <a:lnL>
                      <a:noFill/>
                    </a:lnL>
                    <a:lnR>
                      <a:noFill/>
                    </a:lnR>
                    <a:lnT>
                      <a:noFill/>
                    </a:lnT>
                    <a:lnB>
                      <a:noFill/>
                    </a:lnB>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sv-SE" sz="1100" b="0" i="0" u="none" strike="noStrike" dirty="0">
                          <a:solidFill>
                            <a:srgbClr val="000000"/>
                          </a:solidFill>
                          <a:effectLst/>
                          <a:latin typeface="Arial Narrow" panose="020B0606020202030204" pitchFamily="34" charset="0"/>
                        </a:rPr>
                        <a:t>Antal anställda.</a:t>
                      </a: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tcPr>
                </a:tc>
                <a:tc>
                  <a:txBody>
                    <a:bodyPr/>
                    <a:lstStyle/>
                    <a:p>
                      <a:pPr algn="r" fontAlgn="t"/>
                      <a:r>
                        <a:rPr lang="sv-SE" sz="1100" b="0" i="0" u="none" strike="noStrike" kern="1200" dirty="0">
                          <a:solidFill>
                            <a:srgbClr val="000000"/>
                          </a:solidFill>
                          <a:effectLst/>
                          <a:latin typeface="Arial Narrow" panose="020B0606020202030204" pitchFamily="34" charset="0"/>
                          <a:ea typeface="+mn-ea"/>
                          <a:cs typeface="+mn-cs"/>
                        </a:rPr>
                        <a:t>-</a:t>
                      </a:r>
                    </a:p>
                  </a:txBody>
                  <a:tcPr marL="36000" marR="36000" marT="18000" marB="18000">
                    <a:lnL>
                      <a:noFill/>
                    </a:lnL>
                    <a:lnR>
                      <a:noFill/>
                    </a:lnR>
                    <a:lnT>
                      <a:noFill/>
                    </a:lnT>
                    <a:lnB>
                      <a:noFill/>
                    </a:lnB>
                  </a:tcPr>
                </a:tc>
                <a:tc>
                  <a:txBody>
                    <a:bodyPr/>
                    <a:lstStyle/>
                    <a:p>
                      <a:pPr algn="r" fontAlgn="t"/>
                      <a:r>
                        <a:rPr lang="sv-SE" sz="1100" b="0" i="0" u="none" strike="noStrike" kern="1200" dirty="0">
                          <a:solidFill>
                            <a:srgbClr val="000000"/>
                          </a:solidFill>
                          <a:effectLst/>
                          <a:latin typeface="Arial Narrow" panose="020B0606020202030204" pitchFamily="34" charset="0"/>
                          <a:ea typeface="+mn-ea"/>
                          <a:cs typeface="+mn-cs"/>
                        </a:rPr>
                        <a:t>-</a:t>
                      </a:r>
                    </a:p>
                  </a:txBody>
                  <a:tcPr marL="36000" marR="36000" marT="18000" marB="18000">
                    <a:lnL>
                      <a:noFill/>
                    </a:lnL>
                    <a:lnR>
                      <a:noFill/>
                    </a:lnR>
                    <a:lnT>
                      <a:noFill/>
                    </a:lnT>
                    <a:lnB>
                      <a:noFill/>
                    </a:lnB>
                  </a:tcPr>
                </a:tc>
                <a:tc>
                  <a:txBody>
                    <a:bodyPr/>
                    <a:lstStyle/>
                    <a:p>
                      <a:pPr algn="l" fontAlgn="b"/>
                      <a:r>
                        <a:rPr lang="sv-SE" sz="1050" b="0" i="0" u="none" strike="noStrike" dirty="0">
                          <a:solidFill>
                            <a:srgbClr val="000000"/>
                          </a:solidFill>
                          <a:effectLst/>
                          <a:latin typeface="Arial Narrow" panose="020B0606020202030204" pitchFamily="34" charset="0"/>
                        </a:rPr>
                        <a:t>Kostnaden försvinner i IT-prislistan 2026, m</a:t>
                      </a:r>
                      <a:r>
                        <a:rPr lang="sv-SE" sz="1050" i="0" dirty="0">
                          <a:latin typeface="Arial Narrow" panose="020B0606020202030204" pitchFamily="34" charset="0"/>
                        </a:rPr>
                        <a:t>otsvarande tjänster hanteras via systemtjänsteavtalet direkt mot berörda bolag/ förvaltningar.</a:t>
                      </a:r>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tcPr>
                </a:tc>
                <a:extLst>
                  <a:ext uri="{0D108BD9-81ED-4DB2-BD59-A6C34878D82A}">
                    <a16:rowId xmlns:a16="http://schemas.microsoft.com/office/drawing/2014/main" val="13186696"/>
                  </a:ext>
                </a:extLst>
              </a:tr>
              <a:tr h="159003">
                <a:tc>
                  <a:txBody>
                    <a:bodyPr/>
                    <a:lstStyle/>
                    <a:p>
                      <a:pPr algn="l" fontAlgn="b"/>
                      <a:r>
                        <a:rPr lang="sv-SE" sz="1100" b="0" i="0" u="none" strike="noStrike" dirty="0">
                          <a:solidFill>
                            <a:srgbClr val="000000"/>
                          </a:solidFill>
                          <a:effectLst/>
                          <a:latin typeface="Arial Narrow" panose="020B0606020202030204" pitchFamily="34" charset="0"/>
                        </a:rPr>
                        <a:t>Servicedesk och portal</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Innefattar kostnader för stadens Service Desk, som ansvarar för support gällande drift och förvaltning av stadens gemensamma verksamhetssystem, drift- och Installationstjänster för datakommunikationsnät, telefoni samt terminaler.</a:t>
                      </a:r>
                    </a:p>
                  </a:txBody>
                  <a:tcPr marL="36000" marR="36000" marT="18000" marB="18000">
                    <a:lnL>
                      <a:noFill/>
                    </a:lnL>
                    <a:lnR>
                      <a:noFill/>
                    </a:lnR>
                    <a:lnT>
                      <a:noFill/>
                    </a:lnT>
                    <a:lnB>
                      <a:noFill/>
                    </a:lnB>
                    <a:solidFill>
                      <a:srgbClr val="D9D9D9"/>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sv-SE" sz="1100" b="0" i="0" u="none" strike="noStrike" dirty="0">
                          <a:solidFill>
                            <a:srgbClr val="000000"/>
                          </a:solidFill>
                          <a:effectLst/>
                          <a:latin typeface="Arial Narrow" panose="020B0606020202030204" pitchFamily="34" charset="0"/>
                        </a:rPr>
                        <a:t>Sammanvägning av antal användarkonton och datorer per leverans (FOB/SPV).</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dirty="0">
                          <a:solidFill>
                            <a:srgbClr val="000000"/>
                          </a:solidFill>
                          <a:effectLst/>
                          <a:latin typeface="Arial Narrow" panose="020B0606020202030204" pitchFamily="34" charset="0"/>
                        </a:rPr>
                        <a:t>84 380</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dirty="0">
                          <a:solidFill>
                            <a:srgbClr val="000000"/>
                          </a:solidFill>
                          <a:effectLst/>
                          <a:latin typeface="Arial Narrow" panose="020B0606020202030204" pitchFamily="34" charset="0"/>
                        </a:rPr>
                        <a:t>79 208</a:t>
                      </a:r>
                    </a:p>
                  </a:txBody>
                  <a:tcPr marL="36000" marR="36000" marT="18000" marB="18000">
                    <a:lnL>
                      <a:noFill/>
                    </a:lnL>
                    <a:lnR>
                      <a:noFill/>
                    </a:lnR>
                    <a:lnT>
                      <a:noFill/>
                    </a:lnT>
                    <a:lnB>
                      <a:noFill/>
                    </a:lnB>
                    <a:solidFill>
                      <a:srgbClr val="D9D9D9"/>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D9D9D9"/>
                    </a:solidFill>
                  </a:tcPr>
                </a:tc>
                <a:extLst>
                  <a:ext uri="{0D108BD9-81ED-4DB2-BD59-A6C34878D82A}">
                    <a16:rowId xmlns:a16="http://schemas.microsoft.com/office/drawing/2014/main" val="4200073075"/>
                  </a:ext>
                </a:extLst>
              </a:tr>
              <a:tr h="159003">
                <a:tc>
                  <a:txBody>
                    <a:bodyPr/>
                    <a:lstStyle/>
                    <a:p>
                      <a:pPr algn="l" fontAlgn="b"/>
                      <a:r>
                        <a:rPr lang="sv-SE" sz="1100" b="0" i="0" u="none" strike="noStrike" dirty="0">
                          <a:solidFill>
                            <a:srgbClr val="000000"/>
                          </a:solidFill>
                          <a:effectLst/>
                          <a:latin typeface="Arial Narrow" panose="020B0606020202030204" pitchFamily="34" charset="0"/>
                        </a:rPr>
                        <a:t>Sociala system</a:t>
                      </a: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Stadens verksamhetssystem för socialtjänst och omsorgsverksamheter.</a:t>
                      </a: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Utifrån budget 2025 för berörda verksamhetsområden. </a:t>
                      </a:r>
                    </a:p>
                  </a:txBody>
                  <a:tcPr marL="36000" marR="36000" marT="18000" marB="18000">
                    <a:lnL>
                      <a:noFill/>
                    </a:lnL>
                    <a:lnR>
                      <a:noFill/>
                    </a:lnR>
                    <a:lnT>
                      <a:noFill/>
                    </a:lnT>
                    <a:lnB>
                      <a:noFill/>
                    </a:lnB>
                  </a:tcPr>
                </a:tc>
                <a:tc>
                  <a:txBody>
                    <a:bodyPr/>
                    <a:lstStyle/>
                    <a:p>
                      <a:pPr algn="l" fontAlgn="t"/>
                      <a:endParaRPr lang="sv-SE" sz="110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tcPr>
                </a:tc>
                <a:tc>
                  <a:txBody>
                    <a:bodyPr/>
                    <a:lstStyle/>
                    <a:p>
                      <a:pPr algn="r" fontAlgn="b"/>
                      <a:r>
                        <a:rPr lang="sv-SE" sz="1100" b="0" i="0" u="none" strike="noStrike" dirty="0">
                          <a:solidFill>
                            <a:srgbClr val="000000"/>
                          </a:solidFill>
                          <a:effectLst/>
                          <a:latin typeface="Arial Narrow" panose="020B0606020202030204" pitchFamily="34" charset="0"/>
                        </a:rPr>
                        <a:t>76 899</a:t>
                      </a:r>
                    </a:p>
                  </a:txBody>
                  <a:tcPr marL="36000" marR="36000" marT="18000" marB="18000">
                    <a:lnL>
                      <a:noFill/>
                    </a:lnL>
                    <a:lnR>
                      <a:noFill/>
                    </a:lnR>
                    <a:lnT>
                      <a:noFill/>
                    </a:lnT>
                    <a:lnB>
                      <a:noFill/>
                    </a:lnB>
                  </a:tcPr>
                </a:tc>
                <a:tc>
                  <a:txBody>
                    <a:bodyPr/>
                    <a:lstStyle/>
                    <a:p>
                      <a:pPr algn="r" fontAlgn="b"/>
                      <a:r>
                        <a:rPr lang="sv-SE" sz="1100" b="0" i="0" u="none" strike="noStrike" dirty="0">
                          <a:solidFill>
                            <a:srgbClr val="000000"/>
                          </a:solidFill>
                          <a:effectLst/>
                          <a:latin typeface="Arial Narrow" panose="020B0606020202030204" pitchFamily="34" charset="0"/>
                        </a:rPr>
                        <a:t>67 100</a:t>
                      </a:r>
                    </a:p>
                  </a:txBody>
                  <a:tcPr marL="36000" marR="36000" marT="18000" marB="18000">
                    <a:lnL>
                      <a:noFill/>
                    </a:lnL>
                    <a:lnR>
                      <a:noFill/>
                    </a:lnR>
                    <a:lnT>
                      <a:noFill/>
                    </a:lnT>
                    <a:lnB>
                      <a:noFill/>
                    </a:lnB>
                  </a:tcPr>
                </a:tc>
                <a:tc>
                  <a:txBody>
                    <a:bodyPr/>
                    <a:lstStyle/>
                    <a:p>
                      <a:pPr algn="l" fontAlgn="b"/>
                      <a:r>
                        <a:rPr lang="sv-SE" sz="1050" b="0" i="0" u="none" strike="noStrike" dirty="0">
                          <a:solidFill>
                            <a:srgbClr val="000000"/>
                          </a:solidFill>
                          <a:effectLst/>
                          <a:latin typeface="Arial Narrow" panose="020B0606020202030204" pitchFamily="34" charset="0"/>
                        </a:rPr>
                        <a:t>Objektet har föregående år delvist finansierats av upparbetat överskott men så inte i år.</a:t>
                      </a:r>
                    </a:p>
                  </a:txBody>
                  <a:tcPr marL="36000" marR="36000" marT="18000" marB="18000">
                    <a:lnL>
                      <a:noFill/>
                    </a:lnL>
                    <a:lnR>
                      <a:noFill/>
                    </a:lnR>
                    <a:lnT>
                      <a:noFill/>
                    </a:lnT>
                    <a:lnB>
                      <a:noFill/>
                    </a:lnB>
                  </a:tcPr>
                </a:tc>
                <a:extLst>
                  <a:ext uri="{0D108BD9-81ED-4DB2-BD59-A6C34878D82A}">
                    <a16:rowId xmlns:a16="http://schemas.microsoft.com/office/drawing/2014/main" val="3211175684"/>
                  </a:ext>
                </a:extLst>
              </a:tr>
              <a:tr h="159003">
                <a:tc>
                  <a:txBody>
                    <a:bodyPr/>
                    <a:lstStyle/>
                    <a:p>
                      <a:pPr algn="l" fontAlgn="b"/>
                      <a:r>
                        <a:rPr lang="sv-SE" sz="1100" b="0" i="0" u="none" strike="noStrike" dirty="0">
                          <a:solidFill>
                            <a:srgbClr val="000000"/>
                          </a:solidFill>
                          <a:effectLst/>
                          <a:latin typeface="Arial Narrow" panose="020B0606020202030204" pitchFamily="34" charset="0"/>
                        </a:rPr>
                        <a:t>SSIP (systemstöd för stora investeringar)</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Stadens systemstöd för stora investeringar. </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Utifrån historisk användning. </a:t>
                      </a:r>
                    </a:p>
                  </a:txBody>
                  <a:tcPr marL="36000" marR="36000" marT="18000" marB="18000">
                    <a:lnL>
                      <a:noFill/>
                    </a:lnL>
                    <a:lnR>
                      <a:noFill/>
                    </a:lnR>
                    <a:lnT>
                      <a:noFill/>
                    </a:lnT>
                    <a:lnB>
                      <a:noFill/>
                    </a:lnB>
                    <a:solidFill>
                      <a:srgbClr val="D9D9D9"/>
                    </a:solidFill>
                  </a:tcPr>
                </a:tc>
                <a:tc>
                  <a:txBody>
                    <a:bodyPr/>
                    <a:lstStyle/>
                    <a:p>
                      <a:pPr algn="l" fontAlgn="t"/>
                      <a:endParaRPr lang="sv-SE" sz="110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dirty="0">
                          <a:solidFill>
                            <a:srgbClr val="000000"/>
                          </a:solidFill>
                          <a:effectLst/>
                          <a:latin typeface="Arial Narrow" panose="020B0606020202030204" pitchFamily="34" charset="0"/>
                        </a:rPr>
                        <a:t>300</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dirty="0">
                          <a:solidFill>
                            <a:srgbClr val="000000"/>
                          </a:solidFill>
                          <a:effectLst/>
                          <a:latin typeface="Arial Narrow" panose="020B0606020202030204" pitchFamily="34" charset="0"/>
                        </a:rPr>
                        <a:t>300</a:t>
                      </a:r>
                    </a:p>
                  </a:txBody>
                  <a:tcPr marL="36000" marR="36000" marT="18000" marB="18000">
                    <a:lnL>
                      <a:noFill/>
                    </a:lnL>
                    <a:lnR>
                      <a:noFill/>
                    </a:lnR>
                    <a:lnT>
                      <a:noFill/>
                    </a:lnT>
                    <a:lnB>
                      <a:noFill/>
                    </a:lnB>
                    <a:solidFill>
                      <a:srgbClr val="D9D9D9"/>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D9D9D9"/>
                    </a:solidFill>
                  </a:tcPr>
                </a:tc>
                <a:extLst>
                  <a:ext uri="{0D108BD9-81ED-4DB2-BD59-A6C34878D82A}">
                    <a16:rowId xmlns:a16="http://schemas.microsoft.com/office/drawing/2014/main" val="1196889008"/>
                  </a:ext>
                </a:extLst>
              </a:tr>
              <a:tr h="159003">
                <a:tc>
                  <a:txBody>
                    <a:bodyPr/>
                    <a:lstStyle/>
                    <a:p>
                      <a:pPr algn="l" fontAlgn="b"/>
                      <a:r>
                        <a:rPr lang="sv-SE" sz="1100" b="0" i="0" u="none" strike="noStrike" dirty="0">
                          <a:solidFill>
                            <a:srgbClr val="000000"/>
                          </a:solidFill>
                          <a:effectLst/>
                          <a:latin typeface="Arial Narrow" panose="020B0606020202030204" pitchFamily="34" charset="0"/>
                        </a:rPr>
                        <a:t>Stadsövergripande informationssäkerhet</a:t>
                      </a: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Innefattar etableringen av en stadsgemensam CERT-funktion (Computer Emergency Respons Team) för att en stärkt hantering av it-säkerhetsincidenter och cyberhot. </a:t>
                      </a: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Antal anställda och elever.</a:t>
                      </a: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tcPr>
                </a:tc>
                <a:tc>
                  <a:txBody>
                    <a:bodyPr/>
                    <a:lstStyle/>
                    <a:p>
                      <a:pPr algn="r" fontAlgn="b"/>
                      <a:r>
                        <a:rPr lang="sv-SE" sz="1100" b="0" i="0" u="none" strike="noStrike" dirty="0">
                          <a:solidFill>
                            <a:srgbClr val="000000"/>
                          </a:solidFill>
                          <a:effectLst/>
                          <a:latin typeface="Arial Narrow" panose="020B0606020202030204" pitchFamily="34" charset="0"/>
                        </a:rPr>
                        <a:t>14 974</a:t>
                      </a:r>
                    </a:p>
                  </a:txBody>
                  <a:tcPr marL="36000" marR="36000" marT="18000" marB="18000">
                    <a:lnL>
                      <a:noFill/>
                    </a:lnL>
                    <a:lnR>
                      <a:noFill/>
                    </a:lnR>
                    <a:lnT>
                      <a:noFill/>
                    </a:lnT>
                    <a:lnB>
                      <a:noFill/>
                    </a:lnB>
                  </a:tcPr>
                </a:tc>
                <a:tc>
                  <a:txBody>
                    <a:bodyPr/>
                    <a:lstStyle/>
                    <a:p>
                      <a:pPr algn="r" fontAlgn="b"/>
                      <a:r>
                        <a:rPr lang="sv-SE" sz="1100" b="0" i="0" u="none" strike="noStrike" dirty="0">
                          <a:solidFill>
                            <a:srgbClr val="000000"/>
                          </a:solidFill>
                          <a:effectLst/>
                          <a:latin typeface="Arial Narrow" panose="020B0606020202030204" pitchFamily="34" charset="0"/>
                        </a:rPr>
                        <a:t>10 500</a:t>
                      </a:r>
                    </a:p>
                  </a:txBody>
                  <a:tcPr marL="36000" marR="36000" marT="18000" marB="18000">
                    <a:lnL>
                      <a:noFill/>
                    </a:lnL>
                    <a:lnR>
                      <a:noFill/>
                    </a:lnR>
                    <a:lnT>
                      <a:noFill/>
                    </a:lnT>
                    <a:lnB>
                      <a:noFill/>
                    </a:lnB>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tcPr>
                </a:tc>
                <a:extLst>
                  <a:ext uri="{0D108BD9-81ED-4DB2-BD59-A6C34878D82A}">
                    <a16:rowId xmlns:a16="http://schemas.microsoft.com/office/drawing/2014/main" val="1110103490"/>
                  </a:ext>
                </a:extLst>
              </a:tr>
              <a:tr h="159003">
                <a:tc>
                  <a:txBody>
                    <a:bodyPr/>
                    <a:lstStyle/>
                    <a:p>
                      <a:pPr algn="l" fontAlgn="b"/>
                      <a:r>
                        <a:rPr lang="sv-SE" sz="1100" b="0" i="0" u="none" strike="noStrike" dirty="0">
                          <a:solidFill>
                            <a:srgbClr val="000000"/>
                          </a:solidFill>
                          <a:effectLst/>
                          <a:latin typeface="Arial Narrow" panose="020B0606020202030204" pitchFamily="34" charset="0"/>
                        </a:rPr>
                        <a:t>Stockholm stads geografiska informationssystem (SGIS)</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Stadens gemensamma geodataplattform.</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Fast kostnad utifrån typ av licens samt rörlig kostnad utifrån användning. </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dirty="0">
                          <a:solidFill>
                            <a:srgbClr val="000000"/>
                          </a:solidFill>
                          <a:effectLst/>
                          <a:latin typeface="Arial Narrow" panose="020B0606020202030204" pitchFamily="34" charset="0"/>
                        </a:rPr>
                        <a:t>17 000</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dirty="0">
                          <a:solidFill>
                            <a:srgbClr val="000000"/>
                          </a:solidFill>
                          <a:effectLst/>
                          <a:latin typeface="Arial Narrow" panose="020B0606020202030204" pitchFamily="34" charset="0"/>
                        </a:rPr>
                        <a:t>16 000</a:t>
                      </a:r>
                    </a:p>
                  </a:txBody>
                  <a:tcPr marL="36000" marR="36000" marT="18000" marB="18000">
                    <a:lnL>
                      <a:noFill/>
                    </a:lnL>
                    <a:lnR>
                      <a:noFill/>
                    </a:lnR>
                    <a:lnT>
                      <a:noFill/>
                    </a:lnT>
                    <a:lnB>
                      <a:noFill/>
                    </a:lnB>
                    <a:solidFill>
                      <a:srgbClr val="D9D9D9"/>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D9D9D9"/>
                    </a:solidFill>
                  </a:tcPr>
                </a:tc>
                <a:extLst>
                  <a:ext uri="{0D108BD9-81ED-4DB2-BD59-A6C34878D82A}">
                    <a16:rowId xmlns:a16="http://schemas.microsoft.com/office/drawing/2014/main" val="3889172897"/>
                  </a:ext>
                </a:extLst>
              </a:tr>
            </a:tbl>
          </a:graphicData>
        </a:graphic>
      </p:graphicFrame>
    </p:spTree>
    <p:extLst>
      <p:ext uri="{BB962C8B-B14F-4D97-AF65-F5344CB8AC3E}">
        <p14:creationId xmlns:p14="http://schemas.microsoft.com/office/powerpoint/2010/main" val="3441593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2B779BC-3ADA-4E8A-88DF-A95F15B1146B}"/>
              </a:ext>
            </a:extLst>
          </p:cNvPr>
          <p:cNvSpPr>
            <a:spLocks noGrp="1"/>
          </p:cNvSpPr>
          <p:nvPr>
            <p:ph type="ctrTitle"/>
          </p:nvPr>
        </p:nvSpPr>
        <p:spPr/>
        <p:txBody>
          <a:bodyPr/>
          <a:lstStyle/>
          <a:p>
            <a:r>
              <a:rPr lang="sv-SE" dirty="0"/>
              <a:t>Information om objekten i IT-prislistan</a:t>
            </a:r>
            <a:br>
              <a:rPr lang="sv-SE" dirty="0"/>
            </a:br>
            <a:r>
              <a:rPr lang="sv-SE" sz="2000" b="0" i="1" dirty="0"/>
              <a:t>Objekt från T* till Ö*</a:t>
            </a:r>
            <a:endParaRPr lang="sv-SE" b="0" i="1" dirty="0"/>
          </a:p>
        </p:txBody>
      </p:sp>
      <p:graphicFrame>
        <p:nvGraphicFramePr>
          <p:cNvPr id="4" name="Tabell 3">
            <a:extLst>
              <a:ext uri="{FF2B5EF4-FFF2-40B4-BE49-F238E27FC236}">
                <a16:creationId xmlns:a16="http://schemas.microsoft.com/office/drawing/2014/main" id="{A6D9FE83-9756-4CBA-9614-41231EC94757}"/>
              </a:ext>
            </a:extLst>
          </p:cNvPr>
          <p:cNvGraphicFramePr>
            <a:graphicFrameLocks noGrp="1"/>
          </p:cNvGraphicFramePr>
          <p:nvPr>
            <p:extLst>
              <p:ext uri="{D42A27DB-BD31-4B8C-83A1-F6EECF244321}">
                <p14:modId xmlns:p14="http://schemas.microsoft.com/office/powerpoint/2010/main" val="7574228"/>
              </p:ext>
            </p:extLst>
          </p:nvPr>
        </p:nvGraphicFramePr>
        <p:xfrm>
          <a:off x="589286" y="1288800"/>
          <a:ext cx="11339361" cy="2526960"/>
        </p:xfrm>
        <a:graphic>
          <a:graphicData uri="http://schemas.openxmlformats.org/drawingml/2006/table">
            <a:tbl>
              <a:tblPr/>
              <a:tblGrid>
                <a:gridCol w="1186234">
                  <a:extLst>
                    <a:ext uri="{9D8B030D-6E8A-4147-A177-3AD203B41FA5}">
                      <a16:colId xmlns:a16="http://schemas.microsoft.com/office/drawing/2014/main" val="537654599"/>
                    </a:ext>
                  </a:extLst>
                </a:gridCol>
                <a:gridCol w="2880320">
                  <a:extLst>
                    <a:ext uri="{9D8B030D-6E8A-4147-A177-3AD203B41FA5}">
                      <a16:colId xmlns:a16="http://schemas.microsoft.com/office/drawing/2014/main" val="1496594787"/>
                    </a:ext>
                  </a:extLst>
                </a:gridCol>
                <a:gridCol w="1584176">
                  <a:extLst>
                    <a:ext uri="{9D8B030D-6E8A-4147-A177-3AD203B41FA5}">
                      <a16:colId xmlns:a16="http://schemas.microsoft.com/office/drawing/2014/main" val="958800717"/>
                    </a:ext>
                  </a:extLst>
                </a:gridCol>
                <a:gridCol w="521207">
                  <a:extLst>
                    <a:ext uri="{9D8B030D-6E8A-4147-A177-3AD203B41FA5}">
                      <a16:colId xmlns:a16="http://schemas.microsoft.com/office/drawing/2014/main" val="3344967881"/>
                    </a:ext>
                  </a:extLst>
                </a:gridCol>
                <a:gridCol w="582412">
                  <a:extLst>
                    <a:ext uri="{9D8B030D-6E8A-4147-A177-3AD203B41FA5}">
                      <a16:colId xmlns:a16="http://schemas.microsoft.com/office/drawing/2014/main" val="2311376213"/>
                    </a:ext>
                  </a:extLst>
                </a:gridCol>
                <a:gridCol w="613014">
                  <a:extLst>
                    <a:ext uri="{9D8B030D-6E8A-4147-A177-3AD203B41FA5}">
                      <a16:colId xmlns:a16="http://schemas.microsoft.com/office/drawing/2014/main" val="265500309"/>
                    </a:ext>
                  </a:extLst>
                </a:gridCol>
                <a:gridCol w="613015">
                  <a:extLst>
                    <a:ext uri="{9D8B030D-6E8A-4147-A177-3AD203B41FA5}">
                      <a16:colId xmlns:a16="http://schemas.microsoft.com/office/drawing/2014/main" val="2175833257"/>
                    </a:ext>
                  </a:extLst>
                </a:gridCol>
                <a:gridCol w="3358983">
                  <a:extLst>
                    <a:ext uri="{9D8B030D-6E8A-4147-A177-3AD203B41FA5}">
                      <a16:colId xmlns:a16="http://schemas.microsoft.com/office/drawing/2014/main" val="2896346506"/>
                    </a:ext>
                  </a:extLst>
                </a:gridCol>
              </a:tblGrid>
              <a:tr h="159003">
                <a:tc>
                  <a:txBody>
                    <a:bodyPr/>
                    <a:lstStyle/>
                    <a:p>
                      <a:pPr algn="l" fontAlgn="b"/>
                      <a:r>
                        <a:rPr lang="sv-SE" sz="1100" b="1" i="0" u="none" strike="noStrike" dirty="0">
                          <a:solidFill>
                            <a:srgbClr val="000000"/>
                          </a:solidFill>
                          <a:effectLst/>
                          <a:latin typeface="Arial Narrow" panose="020B0606020202030204" pitchFamily="34" charset="0"/>
                        </a:rPr>
                        <a:t>Objekt</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Om objektet</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Kostnadsfördelning</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Bolag</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Förvalt-ningar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rgbClr val="E2C8F0"/>
                    </a:solidFill>
                  </a:tcPr>
                </a:tc>
                <a:tc>
                  <a:txBody>
                    <a:bodyPr/>
                    <a:lstStyle/>
                    <a:p>
                      <a:pPr algn="l" fontAlgn="b"/>
                      <a:r>
                        <a:rPr lang="sv-SE" sz="1100" b="1" i="0" u="none" strike="noStrike" dirty="0">
                          <a:solidFill>
                            <a:srgbClr val="000000"/>
                          </a:solidFill>
                          <a:effectLst/>
                          <a:latin typeface="Arial Narrow" panose="020B0606020202030204" pitchFamily="34" charset="0"/>
                        </a:rPr>
                        <a:t>Pris 2027 (tkr)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tc>
                  <a:txBody>
                    <a:bodyPr/>
                    <a:lstStyle/>
                    <a:p>
                      <a:pPr algn="l" fontAlgn="b"/>
                      <a:r>
                        <a:rPr lang="sv-SE" sz="1100" b="1" i="0" u="none" strike="noStrike" dirty="0">
                          <a:solidFill>
                            <a:srgbClr val="000000"/>
                          </a:solidFill>
                          <a:effectLst/>
                          <a:latin typeface="Arial Narrow" panose="020B0606020202030204" pitchFamily="34" charset="0"/>
                        </a:rPr>
                        <a:t>Pris 2026 (tkr)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tc>
                  <a:txBody>
                    <a:bodyPr/>
                    <a:lstStyle/>
                    <a:p>
                      <a:pPr algn="l" fontAlgn="b"/>
                      <a:r>
                        <a:rPr lang="sv-SE" sz="1100" b="1" i="0" u="none" strike="noStrike" dirty="0">
                          <a:solidFill>
                            <a:srgbClr val="000000"/>
                          </a:solidFill>
                          <a:effectLst/>
                          <a:latin typeface="Arial Narrow" panose="020B0606020202030204" pitchFamily="34" charset="0"/>
                        </a:rPr>
                        <a:t>Kommentarer</a:t>
                      </a:r>
                    </a:p>
                  </a:txBody>
                  <a:tcPr marL="36000" marR="36000" marT="18000" marB="18000">
                    <a:lnL>
                      <a:noFill/>
                    </a:lnL>
                    <a:lnR>
                      <a:noFill/>
                    </a:lnR>
                    <a:lnT>
                      <a:noFill/>
                    </a:lnT>
                    <a:lnB w="6350" cap="flat" cmpd="sng" algn="ctr">
                      <a:solidFill>
                        <a:srgbClr val="A85AD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28555107"/>
                  </a:ext>
                </a:extLst>
              </a:tr>
              <a:tr h="159003">
                <a:tc>
                  <a:txBody>
                    <a:bodyPr/>
                    <a:lstStyle/>
                    <a:p>
                      <a:pPr algn="l" fontAlgn="b"/>
                      <a:r>
                        <a:rPr lang="sv-SE" sz="1100" b="0" i="0" u="none" strike="noStrike" dirty="0">
                          <a:solidFill>
                            <a:srgbClr val="000000"/>
                          </a:solidFill>
                          <a:effectLst/>
                          <a:latin typeface="Arial Narrow" panose="020B0606020202030204" pitchFamily="34" charset="0"/>
                        </a:rPr>
                        <a:t>Stockholm Webb</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Innefattar kostnader för det stadsgemensamma</a:t>
                      </a:r>
                    </a:p>
                    <a:p>
                      <a:pPr algn="l" fontAlgn="t"/>
                      <a:r>
                        <a:rPr lang="sv-SE" sz="1100" b="0" i="0" u="none" strike="noStrike" dirty="0">
                          <a:solidFill>
                            <a:srgbClr val="000000"/>
                          </a:solidFill>
                          <a:effectLst/>
                          <a:latin typeface="Arial Narrow" panose="020B0606020202030204" pitchFamily="34" charset="0"/>
                        </a:rPr>
                        <a:t>intranätet, stadens publika och gemensamma multisajt på toppdomänen .stockholm samt gemensamma plattformar för miniwebbar och verksamhetswebbar.</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Antal anställda. </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fontAlgn="b"/>
                      <a:r>
                        <a:rPr lang="sv-SE" sz="1100" b="0" i="0" u="none" strike="noStrike" dirty="0">
                          <a:solidFill>
                            <a:srgbClr val="000000"/>
                          </a:solidFill>
                          <a:effectLst/>
                          <a:latin typeface="Arial Narrow" panose="020B0606020202030204" pitchFamily="34" charset="0"/>
                        </a:rPr>
                        <a:t>25 500</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r" fontAlgn="b"/>
                      <a:r>
                        <a:rPr lang="sv-SE" sz="1100" b="0" i="0" u="none" strike="noStrike" dirty="0">
                          <a:solidFill>
                            <a:srgbClr val="000000"/>
                          </a:solidFill>
                          <a:effectLst/>
                          <a:latin typeface="Arial Narrow" panose="020B0606020202030204" pitchFamily="34" charset="0"/>
                        </a:rPr>
                        <a:t>25 500</a:t>
                      </a: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w="6350" cap="flat" cmpd="sng" algn="ctr">
                      <a:solidFill>
                        <a:srgbClr val="A85AD1"/>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4042887857"/>
                  </a:ext>
                </a:extLst>
              </a:tr>
              <a:tr h="159003">
                <a:tc>
                  <a:txBody>
                    <a:bodyPr/>
                    <a:lstStyle/>
                    <a:p>
                      <a:pPr algn="l" fontAlgn="b"/>
                      <a:r>
                        <a:rPr lang="sv-SE" sz="1100" b="0" i="0" u="none" strike="noStrike" dirty="0">
                          <a:solidFill>
                            <a:srgbClr val="000000"/>
                          </a:solidFill>
                          <a:effectLst/>
                          <a:latin typeface="Arial Narrow" panose="020B0606020202030204" pitchFamily="34" charset="0"/>
                        </a:rPr>
                        <a:t>Utbildningsplattform</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Stadens systemstöd för e-lärande</a:t>
                      </a:r>
                    </a:p>
                    <a:p>
                      <a:pPr algn="l" fontAlgn="t"/>
                      <a:r>
                        <a:rPr lang="sv-SE" sz="1100" b="0" i="0" u="none" strike="noStrike" dirty="0">
                          <a:solidFill>
                            <a:srgbClr val="000000"/>
                          </a:solidFill>
                          <a:effectLst/>
                          <a:latin typeface="Arial Narrow" panose="020B0606020202030204" pitchFamily="34" charset="0"/>
                        </a:rPr>
                        <a:t>och utbildningsadministration.</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Antal anställda. </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dirty="0">
                          <a:solidFill>
                            <a:srgbClr val="000000"/>
                          </a:solidFill>
                          <a:effectLst/>
                          <a:latin typeface="Arial Narrow" panose="020B0606020202030204" pitchFamily="34" charset="0"/>
                        </a:rPr>
                        <a:t>6 800</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dirty="0">
                          <a:solidFill>
                            <a:srgbClr val="000000"/>
                          </a:solidFill>
                          <a:effectLst/>
                          <a:latin typeface="Arial Narrow" panose="020B0606020202030204" pitchFamily="34" charset="0"/>
                        </a:rPr>
                        <a:t>6 500</a:t>
                      </a:r>
                    </a:p>
                  </a:txBody>
                  <a:tcPr marL="36000" marR="36000" marT="18000" marB="18000">
                    <a:lnL>
                      <a:noFill/>
                    </a:lnL>
                    <a:lnR>
                      <a:noFill/>
                    </a:lnR>
                    <a:lnT>
                      <a:noFill/>
                    </a:lnT>
                    <a:lnB>
                      <a:noFill/>
                    </a:lnB>
                    <a:solidFill>
                      <a:srgbClr val="F5F3EE"/>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F5F3EE"/>
                    </a:solidFill>
                  </a:tcPr>
                </a:tc>
                <a:extLst>
                  <a:ext uri="{0D108BD9-81ED-4DB2-BD59-A6C34878D82A}">
                    <a16:rowId xmlns:a16="http://schemas.microsoft.com/office/drawing/2014/main" val="3093593643"/>
                  </a:ext>
                </a:extLst>
              </a:tr>
              <a:tr h="159003">
                <a:tc>
                  <a:txBody>
                    <a:bodyPr/>
                    <a:lstStyle/>
                    <a:p>
                      <a:pPr algn="l" fontAlgn="b"/>
                      <a:r>
                        <a:rPr lang="sv-SE" sz="1100" b="0" i="0" u="none" strike="noStrike" dirty="0">
                          <a:solidFill>
                            <a:srgbClr val="000000"/>
                          </a:solidFill>
                          <a:effectLst/>
                          <a:latin typeface="Arial Narrow" panose="020B0606020202030204" pitchFamily="34" charset="0"/>
                        </a:rPr>
                        <a:t>Verksamhets-arkitektur och metodstöd</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Metodstöd och utbildningar för stadens projektstyrningsmodell Lilla Ratten, förvaltningsmodell pm3, Mguide, Uguide och Tguide samt systemstödet Qualiware, modelleringsverktyg för publikation på intranätet.</a:t>
                      </a:r>
                    </a:p>
                  </a:txBody>
                  <a:tcPr marL="36000" marR="36000" marT="18000" marB="18000">
                    <a:lnL>
                      <a:noFill/>
                    </a:lnL>
                    <a:lnR>
                      <a:noFill/>
                    </a:lnR>
                    <a:lnT>
                      <a:noFill/>
                    </a:lnT>
                    <a:lnB>
                      <a:noFill/>
                    </a:lnB>
                    <a:solidFill>
                      <a:srgbClr val="D9D9D9"/>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sv-SE" sz="1100" b="0" i="0" u="none" strike="noStrike" dirty="0">
                          <a:solidFill>
                            <a:srgbClr val="000000"/>
                          </a:solidFill>
                          <a:effectLst/>
                          <a:latin typeface="Arial Narrow" panose="020B0606020202030204" pitchFamily="34" charset="0"/>
                        </a:rPr>
                        <a:t>Antal anställda. </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dirty="0">
                          <a:solidFill>
                            <a:srgbClr val="000000"/>
                          </a:solidFill>
                          <a:effectLst/>
                          <a:latin typeface="Arial Narrow" panose="020B0606020202030204" pitchFamily="34" charset="0"/>
                        </a:rPr>
                        <a:t>4 603</a:t>
                      </a:r>
                    </a:p>
                  </a:txBody>
                  <a:tcPr marL="36000" marR="36000" marT="18000" marB="18000">
                    <a:lnL>
                      <a:noFill/>
                    </a:lnL>
                    <a:lnR>
                      <a:noFill/>
                    </a:lnR>
                    <a:lnT>
                      <a:noFill/>
                    </a:lnT>
                    <a:lnB>
                      <a:noFill/>
                    </a:lnB>
                    <a:solidFill>
                      <a:srgbClr val="D9D9D9"/>
                    </a:solidFill>
                  </a:tcPr>
                </a:tc>
                <a:tc>
                  <a:txBody>
                    <a:bodyPr/>
                    <a:lstStyle/>
                    <a:p>
                      <a:pPr algn="r" fontAlgn="b"/>
                      <a:r>
                        <a:rPr lang="sv-SE" sz="1100" b="0" i="0" u="none" strike="noStrike" dirty="0">
                          <a:solidFill>
                            <a:srgbClr val="000000"/>
                          </a:solidFill>
                          <a:effectLst/>
                          <a:latin typeface="Arial Narrow" panose="020B0606020202030204" pitchFamily="34" charset="0"/>
                        </a:rPr>
                        <a:t>4 500</a:t>
                      </a:r>
                    </a:p>
                  </a:txBody>
                  <a:tcPr marL="36000" marR="36000" marT="18000" marB="18000">
                    <a:lnL>
                      <a:noFill/>
                    </a:lnL>
                    <a:lnR>
                      <a:noFill/>
                    </a:lnR>
                    <a:lnT>
                      <a:noFill/>
                    </a:lnT>
                    <a:lnB>
                      <a:noFill/>
                    </a:lnB>
                    <a:solidFill>
                      <a:srgbClr val="D9D9D9"/>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D9D9D9"/>
                    </a:solidFill>
                  </a:tcPr>
                </a:tc>
                <a:extLst>
                  <a:ext uri="{0D108BD9-81ED-4DB2-BD59-A6C34878D82A}">
                    <a16:rowId xmlns:a16="http://schemas.microsoft.com/office/drawing/2014/main" val="1153804141"/>
                  </a:ext>
                </a:extLst>
              </a:tr>
              <a:tr h="159003">
                <a:tc>
                  <a:txBody>
                    <a:bodyPr/>
                    <a:lstStyle/>
                    <a:p>
                      <a:pPr algn="l" fontAlgn="b"/>
                      <a:r>
                        <a:rPr lang="sv-SE" sz="1100" b="0" i="0" u="none" strike="noStrike" dirty="0">
                          <a:solidFill>
                            <a:srgbClr val="000000"/>
                          </a:solidFill>
                          <a:effectLst/>
                          <a:latin typeface="Arial Narrow" panose="020B0606020202030204" pitchFamily="34" charset="0"/>
                        </a:rPr>
                        <a:t>Öppna data</a:t>
                      </a:r>
                    </a:p>
                  </a:txBody>
                  <a:tcPr marL="36000" marR="36000" marT="18000" marB="18000" anchor="b">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Stadsgemensam plattform för öppna data. </a:t>
                      </a:r>
                    </a:p>
                  </a:txBody>
                  <a:tcPr marL="36000" marR="36000" marT="18000" marB="18000">
                    <a:lnL>
                      <a:noFill/>
                    </a:lnL>
                    <a:lnR>
                      <a:noFill/>
                    </a:lnR>
                    <a:lnT>
                      <a:noFill/>
                    </a:lnT>
                    <a:lnB>
                      <a:noFill/>
                    </a:lnB>
                    <a:solidFill>
                      <a:srgbClr val="F5F3EE"/>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sv-SE" sz="1100" b="0" i="0" u="none" strike="noStrike" dirty="0">
                          <a:solidFill>
                            <a:srgbClr val="000000"/>
                          </a:solidFill>
                          <a:effectLst/>
                          <a:latin typeface="Arial Narrow" panose="020B0606020202030204" pitchFamily="34" charset="0"/>
                        </a:rPr>
                        <a:t>Antal anställda. </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l" fontAlgn="t"/>
                      <a:r>
                        <a:rPr lang="sv-SE" sz="1100" b="0" i="0" u="none" strike="noStrike" dirty="0">
                          <a:solidFill>
                            <a:srgbClr val="000000"/>
                          </a:solidFill>
                          <a:effectLst/>
                          <a:latin typeface="Arial Narrow" panose="020B0606020202030204" pitchFamily="34" charset="0"/>
                        </a:rPr>
                        <a:t>x</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dirty="0">
                          <a:solidFill>
                            <a:srgbClr val="000000"/>
                          </a:solidFill>
                          <a:effectLst/>
                          <a:latin typeface="Arial Narrow" panose="020B0606020202030204" pitchFamily="34" charset="0"/>
                        </a:rPr>
                        <a:t>850</a:t>
                      </a:r>
                    </a:p>
                  </a:txBody>
                  <a:tcPr marL="36000" marR="36000" marT="18000" marB="18000">
                    <a:lnL>
                      <a:noFill/>
                    </a:lnL>
                    <a:lnR>
                      <a:noFill/>
                    </a:lnR>
                    <a:lnT>
                      <a:noFill/>
                    </a:lnT>
                    <a:lnB>
                      <a:noFill/>
                    </a:lnB>
                    <a:solidFill>
                      <a:srgbClr val="F5F3EE"/>
                    </a:solidFill>
                  </a:tcPr>
                </a:tc>
                <a:tc>
                  <a:txBody>
                    <a:bodyPr/>
                    <a:lstStyle/>
                    <a:p>
                      <a:pPr algn="r" fontAlgn="b"/>
                      <a:r>
                        <a:rPr lang="sv-SE" sz="1100" b="0" i="0" u="none" strike="noStrike" dirty="0">
                          <a:solidFill>
                            <a:srgbClr val="000000"/>
                          </a:solidFill>
                          <a:effectLst/>
                          <a:latin typeface="Arial Narrow" panose="020B0606020202030204" pitchFamily="34" charset="0"/>
                        </a:rPr>
                        <a:t>1 150</a:t>
                      </a:r>
                    </a:p>
                  </a:txBody>
                  <a:tcPr marL="36000" marR="36000" marT="18000" marB="18000">
                    <a:lnL>
                      <a:noFill/>
                    </a:lnL>
                    <a:lnR>
                      <a:noFill/>
                    </a:lnR>
                    <a:lnT>
                      <a:noFill/>
                    </a:lnT>
                    <a:lnB>
                      <a:noFill/>
                    </a:lnB>
                    <a:solidFill>
                      <a:srgbClr val="F5F3EE"/>
                    </a:solidFill>
                  </a:tcPr>
                </a:tc>
                <a:tc>
                  <a:txBody>
                    <a:bodyPr/>
                    <a:lstStyle/>
                    <a:p>
                      <a:pPr algn="l" fontAlgn="b"/>
                      <a:endParaRPr lang="sv-SE" sz="1050" b="0" i="0" u="none" strike="noStrike" dirty="0">
                        <a:solidFill>
                          <a:srgbClr val="000000"/>
                        </a:solidFill>
                        <a:effectLst/>
                        <a:latin typeface="Arial Narrow" panose="020B0606020202030204" pitchFamily="34" charset="0"/>
                      </a:endParaRPr>
                    </a:p>
                  </a:txBody>
                  <a:tcPr marL="36000" marR="36000" marT="18000" marB="18000">
                    <a:lnL>
                      <a:noFill/>
                    </a:lnL>
                    <a:lnR>
                      <a:noFill/>
                    </a:lnR>
                    <a:lnT>
                      <a:noFill/>
                    </a:lnT>
                    <a:lnB>
                      <a:noFill/>
                    </a:lnB>
                    <a:solidFill>
                      <a:srgbClr val="F5F3EE"/>
                    </a:solidFill>
                  </a:tcPr>
                </a:tc>
                <a:extLst>
                  <a:ext uri="{0D108BD9-81ED-4DB2-BD59-A6C34878D82A}">
                    <a16:rowId xmlns:a16="http://schemas.microsoft.com/office/drawing/2014/main" val="1300479952"/>
                  </a:ext>
                </a:extLst>
              </a:tr>
            </a:tbl>
          </a:graphicData>
        </a:graphic>
      </p:graphicFrame>
    </p:spTree>
    <p:extLst>
      <p:ext uri="{BB962C8B-B14F-4D97-AF65-F5344CB8AC3E}">
        <p14:creationId xmlns:p14="http://schemas.microsoft.com/office/powerpoint/2010/main" val="22990089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7167aa371da62cb12a661987a1bf5f35ea9b41"/>
</p:tagLst>
</file>

<file path=ppt/theme/theme1.xml><?xml version="1.0" encoding="utf-8"?>
<a:theme xmlns:a="http://schemas.openxmlformats.org/drawingml/2006/main" name="Sthlm Presentation bred skärm">
  <a:themeElements>
    <a:clrScheme name="Stockholm stad NY">
      <a:dk1>
        <a:srgbClr val="000000"/>
      </a:dk1>
      <a:lt1>
        <a:srgbClr val="FFFFFF"/>
      </a:lt1>
      <a:dk2>
        <a:srgbClr val="888B8D"/>
      </a:dk2>
      <a:lt2>
        <a:srgbClr val="EDEAE4"/>
      </a:lt2>
      <a:accent1>
        <a:srgbClr val="E5006C"/>
      </a:accent1>
      <a:accent2>
        <a:srgbClr val="009991"/>
      </a:accent2>
      <a:accent3>
        <a:srgbClr val="E9500E"/>
      </a:accent3>
      <a:accent4>
        <a:srgbClr val="76368C"/>
      </a:accent4>
      <a:accent5>
        <a:srgbClr val="007FC8"/>
      </a:accent5>
      <a:accent6>
        <a:srgbClr val="FCBF0A"/>
      </a:accent6>
      <a:hlink>
        <a:srgbClr val="007FC8"/>
      </a:hlink>
      <a:folHlink>
        <a:srgbClr val="76368C"/>
      </a:folHlink>
    </a:clrScheme>
    <a:fontScheme name="Stockholms sta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Accent Mörkgul">
      <a:srgbClr val="E29900"/>
    </a:custClr>
    <a:custClr name="Accent Mörkblå">
      <a:srgbClr val="004976"/>
    </a:custClr>
    <a:custClr name="Accent mörkrosa">
      <a:srgbClr val="890C58"/>
    </a:custClr>
    <a:custClr name="Accent Mörkgrön">
      <a:srgbClr val="00594F"/>
    </a:custClr>
    <a:custClr name="Accent mörkorange">
      <a:srgbClr val="B92F00"/>
    </a:custClr>
    <a:custClr name="Accent mörklila">
      <a:srgbClr val="470A68"/>
    </a:custClr>
    <a:custClr name="Accent mörk Svart">
      <a:srgbClr val="000000"/>
    </a:custClr>
    <a:custClr>
      <a:srgbClr val="FFFFFF"/>
    </a:custClr>
    <a:custClr>
      <a:srgbClr val="FFFFFF"/>
    </a:custClr>
    <a:custClr>
      <a:srgbClr val="FFFFFF"/>
    </a:custClr>
    <a:custClr name="Primärgul">
      <a:srgbClr val="FCBF0A"/>
    </a:custClr>
    <a:custClr name="Primärblå">
      <a:srgbClr val="007FC8"/>
    </a:custClr>
    <a:custClr name="Primärrosa">
      <a:srgbClr val="E5006C"/>
    </a:custClr>
    <a:custClr name="Primärgrön">
      <a:srgbClr val="009991"/>
    </a:custClr>
    <a:custClr name="Primärorange">
      <a:srgbClr val="E9500E"/>
    </a:custClr>
    <a:custClr name="Primärlila">
      <a:srgbClr val="76368C"/>
    </a:custClr>
    <a:custClr name="Primär Grå">
      <a:srgbClr val="888B8D"/>
    </a:custClr>
    <a:custClr>
      <a:srgbClr val="FFFFFF"/>
    </a:custClr>
    <a:custClr>
      <a:srgbClr val="FFFFFF"/>
    </a:custClr>
    <a:custClr>
      <a:srgbClr val="FFFFFF"/>
    </a:custClr>
    <a:custClr name="Sekundär Gul">
      <a:srgbClr val="FFEAAD"/>
    </a:custClr>
    <a:custClr name="Sekundär blå">
      <a:srgbClr val="A3C9EC"/>
    </a:custClr>
    <a:custClr name="Sekundär Rosa">
      <a:srgbClr val="F3A0BA"/>
    </a:custClr>
    <a:custClr name="Sekundär grön">
      <a:srgbClr val="AAD9D6"/>
    </a:custClr>
    <a:custClr name="Sekundär Orange">
      <a:srgbClr val="F9BF9C"/>
    </a:custClr>
    <a:custClr name="Sekundär Lila">
      <a:srgbClr val="C5B4D9"/>
    </a:custClr>
    <a:custClr name="Sekundär grå">
      <a:srgbClr val="EDEAE4"/>
    </a:custClr>
    <a:custClr>
      <a:srgbClr val="FFFFFF"/>
    </a:custClr>
    <a:custClr>
      <a:srgbClr val="FFFFFF"/>
    </a:custClr>
    <a:custClr>
      <a:srgbClr val="FFFFFF"/>
    </a:custClr>
    <a:custClr name="Accent Ljusgul">
      <a:srgbClr val="FFF7E1"/>
    </a:custClr>
    <a:custClr name="Accent ljusblå">
      <a:srgbClr val="DDE9F8"/>
    </a:custClr>
    <a:custClr name="Accent ljusrosa">
      <a:srgbClr val="FCE3EB"/>
    </a:custClr>
    <a:custClr name="Accent ljusgrön">
      <a:srgbClr val="E1F1EF"/>
    </a:custClr>
    <a:custClr name="Accent ljusorange">
      <a:srgbClr val="FDE6D8"/>
    </a:custClr>
    <a:custClr name="Accent ljuslila">
      <a:srgbClr val="E8DFF0"/>
    </a:custClr>
    <a:custClr name="Accent Ljusgrå">
      <a:srgbClr val="F4F3EF"/>
    </a:custClr>
  </a:custClrLst>
  <a:extLst>
    <a:ext uri="{05A4C25C-085E-4340-85A3-A5531E510DB2}">
      <thm15:themeFamily xmlns:thm15="http://schemas.microsoft.com/office/thememl/2012/main" name="Sthlm Presentation bred skärm.potx" id="{19751043-DFFA-4F23-999B-0EBAB7B8E981}" vid="{0C650E62-02BA-4761-A4C7-E19C226E0AC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ockholms sta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ockholms sta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D9EB6260EB67F84B9E0C45D0BC2FFC69" ma:contentTypeVersion="2" ma:contentTypeDescription="Skapa ett nytt dokument." ma:contentTypeScope="" ma:versionID="bb490db91070a8988030335d6b3519b5">
  <xsd:schema xmlns:xsd="http://www.w3.org/2001/XMLSchema" xmlns:xs="http://www.w3.org/2001/XMLSchema" xmlns:p="http://schemas.microsoft.com/office/2006/metadata/properties" xmlns:ns2="7deb370b-695f-4f30-83a0-47707ca2248d" targetNamespace="http://schemas.microsoft.com/office/2006/metadata/properties" ma:root="true" ma:fieldsID="2cd2361ac91d1c3cc88fa31c6f3cbad2" ns2:_="">
    <xsd:import namespace="7deb370b-695f-4f30-83a0-47707ca2248d"/>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eb370b-695f-4f30-83a0-47707ca2248d" elementFormDefault="qualified">
    <xsd:import namespace="http://schemas.microsoft.com/office/2006/documentManagement/types"/>
    <xsd:import namespace="http://schemas.microsoft.com/office/infopath/2007/PartnerControls"/>
    <xsd:element name="SharedWithUsers" ma:index="8" nillable="true" ma:displayName="Dela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lat med information"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7864C1-A685-4B8D-82ED-F83EF76A4D0B}">
  <ds:schemaRefs>
    <ds:schemaRef ds:uri="http://www.w3.org/XML/1998/namespace"/>
    <ds:schemaRef ds:uri="http://schemas.microsoft.com/office/2006/documentManagement/types"/>
    <ds:schemaRef ds:uri="http://schemas.openxmlformats.org/package/2006/metadata/core-properties"/>
    <ds:schemaRef ds:uri="http://purl.org/dc/elements/1.1/"/>
    <ds:schemaRef ds:uri="10c3a147-0d64-46aa-a281-dc97358e8373"/>
    <ds:schemaRef ds:uri="http://purl.org/dc/terms/"/>
    <ds:schemaRef ds:uri="http://purl.org/dc/dcmitype/"/>
    <ds:schemaRef ds:uri="http://schemas.microsoft.com/office/infopath/2007/PartnerControls"/>
    <ds:schemaRef ds:uri="d7532cd0-e888-47d6-8f58-db0210f25002"/>
    <ds:schemaRef ds:uri="http://schemas.microsoft.com/office/2006/metadata/properties"/>
  </ds:schemaRefs>
</ds:datastoreItem>
</file>

<file path=customXml/itemProps2.xml><?xml version="1.0" encoding="utf-8"?>
<ds:datastoreItem xmlns:ds="http://schemas.openxmlformats.org/officeDocument/2006/customXml" ds:itemID="{EFD27A61-F50E-4C50-B315-20831F9BF0E3}">
  <ds:schemaRefs>
    <ds:schemaRef ds:uri="http://schemas.microsoft.com/sharepoint/v3/contenttype/forms"/>
  </ds:schemaRefs>
</ds:datastoreItem>
</file>

<file path=customXml/itemProps3.xml><?xml version="1.0" encoding="utf-8"?>
<ds:datastoreItem xmlns:ds="http://schemas.openxmlformats.org/officeDocument/2006/customXml" ds:itemID="{50005DFB-38E5-452C-AA27-57D0C4CDE9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deb370b-695f-4f30-83a0-47707ca224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1947</TotalTime>
  <Words>2279</Words>
  <Application>Microsoft Office PowerPoint</Application>
  <PresentationFormat>Bredbild</PresentationFormat>
  <Paragraphs>350</Paragraphs>
  <Slides>11</Slides>
  <Notes>0</Notes>
  <HiddenSlides>0</HiddenSlides>
  <MMClips>0</MMClips>
  <ScaleCrop>false</ScaleCrop>
  <HeadingPairs>
    <vt:vector size="6" baseType="variant">
      <vt:variant>
        <vt:lpstr>Använt teckensnitt</vt:lpstr>
      </vt:variant>
      <vt:variant>
        <vt:i4>2</vt:i4>
      </vt:variant>
      <vt:variant>
        <vt:lpstr>Tema</vt:lpstr>
      </vt:variant>
      <vt:variant>
        <vt:i4>1</vt:i4>
      </vt:variant>
      <vt:variant>
        <vt:lpstr>Bildrubriker</vt:lpstr>
      </vt:variant>
      <vt:variant>
        <vt:i4>11</vt:i4>
      </vt:variant>
    </vt:vector>
  </HeadingPairs>
  <TitlesOfParts>
    <vt:vector size="14" baseType="lpstr">
      <vt:lpstr>Arial</vt:lpstr>
      <vt:lpstr>Arial Narrow</vt:lpstr>
      <vt:lpstr>Sthlm Presentation bred skärm</vt:lpstr>
      <vt:lpstr>Information om IT-prislistan 2027</vt:lpstr>
      <vt:lpstr>Om dokumentet</vt:lpstr>
      <vt:lpstr>IT-prislistan 2027 i korthet</vt:lpstr>
      <vt:lpstr>Förändringar jämfört med 2026</vt:lpstr>
      <vt:lpstr>Så fördelas kostnaderna</vt:lpstr>
      <vt:lpstr>Så påverkar ni er kostnad</vt:lpstr>
      <vt:lpstr>Information om objekten i IT-prislistan Objekt från A* till C*</vt:lpstr>
      <vt:lpstr>Information om objekten i IT-prislistan Objekt från D* till H*</vt:lpstr>
      <vt:lpstr>Information om objekten i IT-prislistan Objekt från I* till L*</vt:lpstr>
      <vt:lpstr>Information om objekten i IT-prislistan Objekt från M* till S*</vt:lpstr>
      <vt:lpstr>Information om objekten i IT-prislistan Objekt från T* till 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Andreas Stockhem</dc:creator>
  <cp:lastModifiedBy>Andreas Stockhem</cp:lastModifiedBy>
  <cp:revision>71</cp:revision>
  <cp:lastPrinted>2025-09-25T10:51:57Z</cp:lastPrinted>
  <dcterms:created xsi:type="dcterms:W3CDTF">2025-09-24T12:29:52Z</dcterms:created>
  <dcterms:modified xsi:type="dcterms:W3CDTF">2026-10-22T13:38:42Z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0x010100D9EB6260EB67F84B9E0C45D0BC2FFC69</vt:lpwstr>
  </property>
  <property fmtid="{D5CDD505-2E9C-101B-9397-08002B2CF9AE}" pid="3" name="Order">
    <vt:r8>3107000</vt:r8>
  </property>
  <property fmtid="{D5CDD505-2E9C-101B-9397-08002B2CF9AE}" pid="4" name="MediaServiceImageTags">
    <vt:lpwstr/>
  </property>
</Properties>
</file>